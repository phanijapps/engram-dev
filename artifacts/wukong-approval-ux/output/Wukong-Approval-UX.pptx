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e86939f1a043e5" /><Relationship Type="http://schemas.openxmlformats.org/officeDocument/2006/relationships/extended-properties" Target="/docProps/app.xml" Id="R381e0d3416924b2c" /><Relationship Type="http://schemas.openxmlformats.org/officeDocument/2006/relationships/officeDocument" Target="/ppt/presentation.xml" Id="R2868d91c5f3d4fc2" /></Relationships>
</file>

<file path=ppt/presentation.xml><?xml version="1.0" encoding="utf-8"?>
<p:presentation xmlns:p="http://schemas.openxmlformats.org/presentationml/2006/main">
  <p:sldMasterIdLst>
    <p:sldMasterId xmlns:r="http://schemas.openxmlformats.org/officeDocument/2006/relationships" id="2147483648" r:id="R243df6f011e64b1f"/>
  </p:sldMasterIdLst>
  <p:notesMasterIdLst>
    <p:notesMasterId xmlns:r="http://schemas.openxmlformats.org/officeDocument/2006/relationships" r:id="Rb91722dc9a5149d8"/>
  </p:notesMasterIdLst>
  <p:sldIdLst>
    <p:sldId xmlns:r="http://schemas.openxmlformats.org/officeDocument/2006/relationships" id="256" r:id="Rf5455d11d8a24b79"/>
    <p:sldId xmlns:r="http://schemas.openxmlformats.org/officeDocument/2006/relationships" id="257" r:id="R8855e215f6154cd8"/>
    <p:sldId xmlns:r="http://schemas.openxmlformats.org/officeDocument/2006/relationships" id="258" r:id="Rc90df5d3607e4e8c"/>
    <p:sldId xmlns:r="http://schemas.openxmlformats.org/officeDocument/2006/relationships" id="259" r:id="R81574ed852e648f4"/>
    <p:sldId xmlns:r="http://schemas.openxmlformats.org/officeDocument/2006/relationships" id="260" r:id="R5ab1948bc526429a"/>
    <p:sldId xmlns:r="http://schemas.openxmlformats.org/officeDocument/2006/relationships" id="261" r:id="R92f97dc3401447d5"/>
    <p:sldId xmlns:r="http://schemas.openxmlformats.org/officeDocument/2006/relationships" id="262" r:id="R86a3d44efb1b4007"/>
    <p:sldId xmlns:r="http://schemas.openxmlformats.org/officeDocument/2006/relationships" id="263" r:id="R0a8e7dc8b8a24d37"/>
    <p:sldId xmlns:r="http://schemas.openxmlformats.org/officeDocument/2006/relationships" id="264" r:id="Rbf3ae424ab794fb6"/>
    <p:sldId xmlns:r="http://schemas.openxmlformats.org/officeDocument/2006/relationships" id="265" r:id="R050aae7bbcc843ba"/>
    <p:sldId xmlns:r="http://schemas.openxmlformats.org/officeDocument/2006/relationships" id="266" r:id="R400100e3a98a430d"/>
    <p:sldId xmlns:r="http://schemas.openxmlformats.org/officeDocument/2006/relationships" id="267" r:id="R5812c773e01e44cb"/>
    <p:sldId xmlns:r="http://schemas.openxmlformats.org/officeDocument/2006/relationships" id="268" r:id="R7f142c62383b4832"/>
    <p:sldId xmlns:r="http://schemas.openxmlformats.org/officeDocument/2006/relationships" id="269" r:id="R643d5fd8a1e74968"/>
    <p:sldId xmlns:r="http://schemas.openxmlformats.org/officeDocument/2006/relationships" id="270" r:id="R0509526c5e2447cf"/>
    <p:sldId xmlns:r="http://schemas.openxmlformats.org/officeDocument/2006/relationships" id="271" r:id="Rb8eefe38e9a646f5"/>
    <p:sldId xmlns:r="http://schemas.openxmlformats.org/officeDocument/2006/relationships" id="272" r:id="Ref418c77d0864687"/>
    <p:sldId xmlns:r="http://schemas.openxmlformats.org/officeDocument/2006/relationships" id="273" r:id="R41e3328dbcde49fd"/>
    <p:sldId xmlns:r="http://schemas.openxmlformats.org/officeDocument/2006/relationships" id="274" r:id="R0fa626865e064ee0"/>
    <p:sldId xmlns:r="http://schemas.openxmlformats.org/officeDocument/2006/relationships" id="275" r:id="R556baaf680d24447"/>
    <p:sldId xmlns:r="http://schemas.openxmlformats.org/officeDocument/2006/relationships" id="276" r:id="R887a1a36c69b461a"/>
    <p:sldId xmlns:r="http://schemas.openxmlformats.org/officeDocument/2006/relationships" id="277" r:id="R717b146d513749e7"/>
    <p:sldId xmlns:r="http://schemas.openxmlformats.org/officeDocument/2006/relationships" id="278" r:id="R4c221cdfc19f456a"/>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6401a99fb245dc" /><Relationship Type="http://schemas.openxmlformats.org/officeDocument/2006/relationships/slideMaster" Target="/ppt/slideMasters/slideMaster1.xml" Id="R243df6f011e64b1f" /><Relationship Type="http://schemas.openxmlformats.org/officeDocument/2006/relationships/notesMaster" Target="/ppt/notesMasters/notesMaster1.xml" Id="Rb91722dc9a5149d8" /><Relationship Type="http://schemas.openxmlformats.org/officeDocument/2006/relationships/presProps" Target="/ppt/presProps.xml" Id="Rf93e9286d72845e6" /><Relationship Type="http://schemas.openxmlformats.org/officeDocument/2006/relationships/tableStyles" Target="/ppt/tableStyles.xml" Id="R6e7054353a604d4b" /><Relationship Type="http://schemas.openxmlformats.org/officeDocument/2006/relationships/slide" Target="/ppt/slides/slide1.xml" Id="Rf5455d11d8a24b79" /><Relationship Type="http://schemas.openxmlformats.org/officeDocument/2006/relationships/slide" Target="/ppt/slides/slide2.xml" Id="R8855e215f6154cd8" /><Relationship Type="http://schemas.openxmlformats.org/officeDocument/2006/relationships/slide" Target="/ppt/slides/slide3.xml" Id="Rc90df5d3607e4e8c" /><Relationship Type="http://schemas.openxmlformats.org/officeDocument/2006/relationships/slide" Target="/ppt/slides/slide4.xml" Id="R81574ed852e648f4" /><Relationship Type="http://schemas.openxmlformats.org/officeDocument/2006/relationships/slide" Target="/ppt/slides/slide5.xml" Id="R5ab1948bc526429a" /><Relationship Type="http://schemas.openxmlformats.org/officeDocument/2006/relationships/slide" Target="/ppt/slides/slide6.xml" Id="R92f97dc3401447d5" /><Relationship Type="http://schemas.openxmlformats.org/officeDocument/2006/relationships/slide" Target="/ppt/slides/slide7.xml" Id="R86a3d44efb1b4007" /><Relationship Type="http://schemas.openxmlformats.org/officeDocument/2006/relationships/slide" Target="/ppt/slides/slide8.xml" Id="R0a8e7dc8b8a24d37" /><Relationship Type="http://schemas.openxmlformats.org/officeDocument/2006/relationships/slide" Target="/ppt/slides/slide9.xml" Id="Rbf3ae424ab794fb6" /><Relationship Type="http://schemas.openxmlformats.org/officeDocument/2006/relationships/slide" Target="/ppt/slides/slide10.xml" Id="R050aae7bbcc843ba" /><Relationship Type="http://schemas.openxmlformats.org/officeDocument/2006/relationships/slide" Target="/ppt/slides/slide11.xml" Id="R400100e3a98a430d" /><Relationship Type="http://schemas.openxmlformats.org/officeDocument/2006/relationships/slide" Target="/ppt/slides/slide12.xml" Id="R5812c773e01e44cb" /><Relationship Type="http://schemas.openxmlformats.org/officeDocument/2006/relationships/slide" Target="/ppt/slides/slide13.xml" Id="R7f142c62383b4832" /><Relationship Type="http://schemas.openxmlformats.org/officeDocument/2006/relationships/slide" Target="/ppt/slides/slide14.xml" Id="R643d5fd8a1e74968" /><Relationship Type="http://schemas.openxmlformats.org/officeDocument/2006/relationships/slide" Target="/ppt/slides/slide15.xml" Id="R0509526c5e2447cf" /><Relationship Type="http://schemas.openxmlformats.org/officeDocument/2006/relationships/slide" Target="/ppt/slides/slide16.xml" Id="Rb8eefe38e9a646f5" /><Relationship Type="http://schemas.openxmlformats.org/officeDocument/2006/relationships/slide" Target="/ppt/slides/slide17.xml" Id="Ref418c77d0864687" /><Relationship Type="http://schemas.openxmlformats.org/officeDocument/2006/relationships/slide" Target="/ppt/slides/slide18.xml" Id="R41e3328dbcde49fd" /><Relationship Type="http://schemas.openxmlformats.org/officeDocument/2006/relationships/slide" Target="/ppt/slides/slide19.xml" Id="R0fa626865e064ee0" /><Relationship Type="http://schemas.openxmlformats.org/officeDocument/2006/relationships/slide" Target="/ppt/slides/slide20.xml" Id="R556baaf680d24447" /><Relationship Type="http://schemas.openxmlformats.org/officeDocument/2006/relationships/slide" Target="/ppt/slides/slide21.xml" Id="R887a1a36c69b461a" /><Relationship Type="http://schemas.openxmlformats.org/officeDocument/2006/relationships/slide" Target="/ppt/slides/slide22.xml" Id="R717b146d513749e7" /><Relationship Type="http://schemas.openxmlformats.org/officeDocument/2006/relationships/slide" Target="/ppt/slides/slide23.xml" Id="R4c221cdfc19f45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026ad0f2ce4e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4bddb77bc94d5c" /><Relationship Type="http://schemas.openxmlformats.org/officeDocument/2006/relationships/notesMaster" Target="/ppt/notesMasters/notesMaster1.xml" Id="Rac09af9f9a8442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4394b2bd794ab0" /><Relationship Type="http://schemas.openxmlformats.org/officeDocument/2006/relationships/notesMaster" Target="/ppt/notesMasters/notesMaster1.xml" Id="R1cfb7732f6df45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d7e6f01ac04a4e" /><Relationship Type="http://schemas.openxmlformats.org/officeDocument/2006/relationships/notesMaster" Target="/ppt/notesMasters/notesMaster1.xml" Id="Ra80b75d8cf4846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d737878e1b4cc0" /><Relationship Type="http://schemas.openxmlformats.org/officeDocument/2006/relationships/notesMaster" Target="/ppt/notesMasters/notesMaster1.xml" Id="R8d421efadd8343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cb9dd36b824ec0" /><Relationship Type="http://schemas.openxmlformats.org/officeDocument/2006/relationships/notesMaster" Target="/ppt/notesMasters/notesMaster1.xml" Id="R8ea08a5a4e8640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54b912a68544df0" /><Relationship Type="http://schemas.openxmlformats.org/officeDocument/2006/relationships/notesMaster" Target="/ppt/notesMasters/notesMaster1.xml" Id="R60c93b0631cd4c2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f7ee82248294d64" /><Relationship Type="http://schemas.openxmlformats.org/officeDocument/2006/relationships/notesMaster" Target="/ppt/notesMasters/notesMaster1.xml" Id="Rd3027171ee004f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0d334b2b684ae8" /><Relationship Type="http://schemas.openxmlformats.org/officeDocument/2006/relationships/notesMaster" Target="/ppt/notesMasters/notesMaster1.xml" Id="R7e96ee70114247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ec4339040c4087" /><Relationship Type="http://schemas.openxmlformats.org/officeDocument/2006/relationships/notesMaster" Target="/ppt/notesMasters/notesMaster1.xml" Id="R7be0b25ab0ab4a1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b5d5b01ccd42a0" /><Relationship Type="http://schemas.openxmlformats.org/officeDocument/2006/relationships/notesMaster" Target="/ppt/notesMasters/notesMaster1.xml" Id="R6d3031bf05124e9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f9c31f4734b4e67" /><Relationship Type="http://schemas.openxmlformats.org/officeDocument/2006/relationships/notesMaster" Target="/ppt/notesMasters/notesMaster1.xml" Id="R2555df343f714a4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d1c4fb55f3e4d50" /><Relationship Type="http://schemas.openxmlformats.org/officeDocument/2006/relationships/notesMaster" Target="/ppt/notesMasters/notesMaster1.xml" Id="R93d96b71ce0041f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0c44f7ce2bf4879" /><Relationship Type="http://schemas.openxmlformats.org/officeDocument/2006/relationships/notesMaster" Target="/ppt/notesMasters/notesMaster1.xml" Id="R252fc7bfc2f145e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297280de3b54412" /><Relationship Type="http://schemas.openxmlformats.org/officeDocument/2006/relationships/notesMaster" Target="/ppt/notesMasters/notesMaster1.xml" Id="R5799de708db5440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33b7bed88274dd2" /><Relationship Type="http://schemas.openxmlformats.org/officeDocument/2006/relationships/notesMaster" Target="/ppt/notesMasters/notesMaster1.xml" Id="Rf4b805d57e3345d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60f9d9114394b27" /><Relationship Type="http://schemas.openxmlformats.org/officeDocument/2006/relationships/notesMaster" Target="/ppt/notesMasters/notesMaster1.xml" Id="R0cba6d90deab45c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c92308170824a1b" /><Relationship Type="http://schemas.openxmlformats.org/officeDocument/2006/relationships/notesMaster" Target="/ppt/notesMasters/notesMaster1.xml" Id="R7fc39b6a0d0c4c8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f038f3af5f24c32" /><Relationship Type="http://schemas.openxmlformats.org/officeDocument/2006/relationships/notesMaster" Target="/ppt/notesMasters/notesMaster1.xml" Id="Rfb7829bf8462486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2d9bcbd6bce4d39" /><Relationship Type="http://schemas.openxmlformats.org/officeDocument/2006/relationships/notesMaster" Target="/ppt/notesMasters/notesMaster1.xml" Id="R15ce858dbeb148e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0239144a7444b06" /><Relationship Type="http://schemas.openxmlformats.org/officeDocument/2006/relationships/notesMaster" Target="/ppt/notesMasters/notesMaster1.xml" Id="R0b52d9bc262d491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61dc9d04d66434a" /><Relationship Type="http://schemas.openxmlformats.org/officeDocument/2006/relationships/notesMaster" Target="/ppt/notesMasters/notesMaster1.xml" Id="R084b1445e73a4bd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266f08af76443f9" /><Relationship Type="http://schemas.openxmlformats.org/officeDocument/2006/relationships/notesMaster" Target="/ppt/notesMasters/notesMaster1.xml" Id="R60b1c995472447d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e955ba2626a4819" /><Relationship Type="http://schemas.openxmlformats.org/officeDocument/2006/relationships/notesMaster" Target="/ppt/notesMasters/notesMaster1.xml" Id="R1a6373f38ec547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approval queue</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Existing search and spec groups lead into the selected item. The selected workflow phase supplies the current gate and next action.</a:t>
            </a:r>
          </a:p>
          <a:p xmlns:a="http://schemas.openxmlformats.org/drawingml/2006/main">
            <a:r>
              <a:t/>
            </a:r>
          </a:p>
          <a:p xmlns:a="http://schemas.openxmlformats.org/drawingml/2006/main">
            <a:r>
              <a:t>Primary action: 2. Select an item, inspect its plan, then use its eligible owner action. Keep search and the existing group order.</a:t>
            </a:r>
          </a:p>
          <a:p xmlns:a="http://schemas.openxmlformats.org/drawingml/2006/main">
            <a:r>
              <a:t/>
            </a:r>
          </a:p>
          <a:p xmlns:a="http://schemas.openxmlformats.org/drawingml/2006/main">
            <a:r>
              <a:t>Why it reduces friction: 3. A quiet sidebar and one content heading replace repeated cards and competing stage badges. Revision metadata moves into existing details.</a:t>
            </a:r>
          </a:p>
          <a:p xmlns:a="http://schemas.openxmlformats.org/drawingml/2006/main">
            <a:r>
              <a:t/>
            </a:r>
          </a:p>
          <a:p xmlns:a="http://schemas.openxmlformats.org/drawingml/2006/main">
            <a:r>
              <a:t>Feedback and interaction: 4. Selection gains a subtle gray fill. Current-gate text outranks a stale deliverable label. Keyboard focus stays visible.</a:t>
            </a:r>
          </a:p>
          <a:p xmlns:a="http://schemas.openxmlformats.org/drawingml/2006/main">
            <a:r>
              <a:t/>
            </a:r>
          </a:p>
          <a:p xmlns:a="http://schemas.openxmlformats.org/drawingml/2006/main">
            <a:r>
              <a:t>Boundary: List labels use existing list workflow data. No bulk approval, added inbox or new status field.</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treadle/packages/web/src/library.js:53, treadle/packages/web/src/library.js:76, treadle/packages/web/src/library.js:631</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brief and incomplete plan</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owner panel explains the current wait. The brief is expanded and other document disclosures remain available.</a:t>
            </a:r>
          </a:p>
          <a:p xmlns:a="http://schemas.openxmlformats.org/drawingml/2006/main">
            <a:r>
              <a:t/>
            </a:r>
          </a:p>
          <a:p xmlns:a="http://schemas.openxmlformats.org/drawingml/2006/main">
            <a:r>
              <a:t>Primary action: 2. Read the brief or open the existing plan document. Show no approval action while the workflow is in the plan phase.</a:t>
            </a:r>
          </a:p>
          <a:p xmlns:a="http://schemas.openxmlformats.org/drawingml/2006/main">
            <a:r>
              <a:t/>
            </a:r>
          </a:p>
          <a:p xmlns:a="http://schemas.openxmlformats.org/drawingml/2006/main">
            <a:r>
              <a:t>Why it reduces friction: 3. Scope appears before technical detail. Quiet document disclosures avoid multiple tall cards and nested visual frames.</a:t>
            </a:r>
          </a:p>
          <a:p xmlns:a="http://schemas.openxmlformats.org/drawingml/2006/main">
            <a:r>
              <a:t/>
            </a:r>
          </a:p>
          <a:p xmlns:a="http://schemas.openxmlformats.org/drawingml/2006/main">
            <a:r>
              <a:t>Feedback and interaction: 4. Expanding a document retains its place and focus. Missing artifacts have explicit text rather than an empty rectangle.</a:t>
            </a:r>
          </a:p>
          <a:p xmlns:a="http://schemas.openxmlformats.org/drawingml/2006/main">
            <a:r>
              <a:t/>
            </a:r>
          </a:p>
          <a:p xmlns:a="http://schemas.openxmlformats.org/drawingml/2006/main">
            <a:r>
              <a:t>Boundary: Display the existing workflow reasons. Do not create a request-plan action or let the owner edit task definitions here.</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treadle/packages/web/src/library.js:240, treadle/packages/web/src/library.js:403, treadle/packages/web/src/library.js:550, treadle/packages/web/src/library.js:637</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Spec questions and an unknown answer</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first unresolved question sits above supporting requirements. The saved unknown state remains explicit beside the question.</a:t>
            </a:r>
          </a:p>
          <a:p xmlns:a="http://schemas.openxmlformats.org/drawingml/2006/main">
            <a:r>
              <a:t/>
            </a:r>
          </a:p>
          <a:p xmlns:a="http://schemas.openxmlformats.org/drawingml/2006/main">
            <a:r>
              <a:t>Primary action: 2. Type an answer and choose Answer. Keep I don’t know as a quieter existing secondary action.</a:t>
            </a:r>
          </a:p>
          <a:p xmlns:a="http://schemas.openxmlformats.org/drawingml/2006/main">
            <a:r>
              <a:t/>
            </a:r>
          </a:p>
          <a:p xmlns:a="http://schemas.openxmlformats.org/drawingml/2006/main">
            <a:r>
              <a:t>Why it reduces friction: 3. The user handles one visible question before reading supporting material. Completed answers remain in existing disclosures below.</a:t>
            </a:r>
          </a:p>
          <a:p xmlns:a="http://schemas.openxmlformats.org/drawingml/2006/main">
            <a:r>
              <a:t/>
            </a:r>
          </a:p>
          <a:p xmlns:a="http://schemas.openxmlformats.org/drawingml/2006/main">
            <a:r>
              <a:t>Feedback and interaction: 4. On a successful response, announce Answer recorded and focus the next unresolved question. On failure, retain the typed answer.</a:t>
            </a:r>
          </a:p>
          <a:p xmlns:a="http://schemas.openxmlformats.org/drawingml/2006/main">
            <a:r>
              <a:t/>
            </a:r>
          </a:p>
          <a:p xmlns:a="http://schemas.openxmlformats.org/drawingml/2006/main">
            <a:r>
              <a:t>Boundary: The count comes from loaded clarifications. Unknown does not count as resolved. No automatic approval or hidden answer submission.</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treadle/packages/web/src/library.js:280, treadle/packages/web/src/library.js:435, treadle/packages/web/src/library.js:532, treadle/packages/web/src/page.js:303</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Spec approval after answers</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current gate, answer summary and existing spec disclosure share one reading column.</a:t>
            </a:r>
          </a:p>
          <a:p xmlns:a="http://schemas.openxmlformats.org/drawingml/2006/main">
            <a:r>
              <a:t/>
            </a:r>
          </a:p>
          <a:p xmlns:a="http://schemas.openxmlformats.org/drawingml/2006/main">
            <a:r>
              <a:t>Primary action: 2. Approve this spec arms the existing confirmation. A second deliberate click records the approval with the current owner claim.</a:t>
            </a:r>
          </a:p>
          <a:p xmlns:a="http://schemas.openxmlformats.org/drawingml/2006/main">
            <a:r>
              <a:t/>
            </a:r>
          </a:p>
          <a:p xmlns:a="http://schemas.openxmlformats.org/drawingml/2006/main">
            <a:r>
              <a:t>Why it reduces friction: 3. Answers stay visible near the approval action. The design removes unrelated instructions instead of asking users to infer readiness.</a:t>
            </a:r>
          </a:p>
          <a:p xmlns:a="http://schemas.openxmlformats.org/drawingml/2006/main">
            <a:r>
              <a:t/>
            </a:r>
          </a:p>
          <a:p xmlns:a="http://schemas.openxmlformats.org/drawingml/2006/main">
            <a:r>
              <a:t>Feedback and interaction: 4. First click changes the same button to Confirm spec approval and explains the recorded act inline. Busy state prevents duplicate submissions.</a:t>
            </a:r>
          </a:p>
          <a:p xmlns:a="http://schemas.openxmlformats.org/drawingml/2006/main">
            <a:r>
              <a:t/>
            </a:r>
          </a:p>
          <a:p xmlns:a="http://schemas.openxmlformats.org/drawingml/2006/main">
            <a:r>
              <a:t>Boundary: Keep the current two-click library approval. Empty phase-question lists skip this ceremony. Approval still grants no Start permission.</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treadle/packages/web/src/library.js:503, treadle/packages/web/src/library.js:517, treadle/packages/web/src/library.js:582</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decision acceptance</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current proposed decision and its because text appear before supporting design parts. Accepted decisions stay available below.</a:t>
            </a:r>
          </a:p>
          <a:p xmlns:a="http://schemas.openxmlformats.org/drawingml/2006/main">
            <a:r>
              <a:t/>
            </a:r>
          </a:p>
          <a:p xmlns:a="http://schemas.openxmlformats.org/drawingml/2006/main">
            <a:r>
              <a:t>Primary action: 2. Accept D-2 records only this decision. Each remaining proposal still needs its own existing acceptance action.</a:t>
            </a:r>
          </a:p>
          <a:p xmlns:a="http://schemas.openxmlformats.org/drawingml/2006/main">
            <a:r>
              <a:t/>
            </a:r>
          </a:p>
          <a:p xmlns:a="http://schemas.openxmlformats.org/drawingml/2006/main">
            <a:r>
              <a:t>Why it reduces friction: 3. One expanded proposal has the strongest action. Secondary proposals and design diagrams use existing content disclosures.</a:t>
            </a:r>
          </a:p>
          <a:p xmlns:a="http://schemas.openxmlformats.org/drawingml/2006/main">
            <a:r>
              <a:t/>
            </a:r>
          </a:p>
          <a:p xmlns:a="http://schemas.openxmlformats.org/drawingml/2006/main">
            <a:r>
              <a:t>Feedback and interaction: 4. A saved acceptance changes the written status and moves focus to the next proposal. Success depends on the returned workflow state.</a:t>
            </a:r>
          </a:p>
          <a:p xmlns:a="http://schemas.openxmlformats.org/drawingml/2006/main">
            <a:r>
              <a:t/>
            </a:r>
          </a:p>
          <a:p xmlns:a="http://schemas.openxmlformats.org/drawingml/2006/main">
            <a:r>
              <a:t>Boundary: No Accept all, decision editing or automatic Start. Preserve individual decision IDs, rejection reasons and authority.</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treadle/packages/web/src/library.js:302, treadle/packages/web/src/library.js:313, treadle/packages/web/src/library.js:664</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decision rejection</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Reject disclosure is open beneath the same decision. The rationale remains visible above the reason field.</a:t>
            </a:r>
          </a:p>
          <a:p xmlns:a="http://schemas.openxmlformats.org/drawingml/2006/main">
            <a:r>
              <a:t/>
            </a:r>
          </a:p>
          <a:p xmlns:a="http://schemas.openxmlformats.org/drawingml/2006/main">
            <a:r>
              <a:t>Primary action: 2. Enter the reason and choose Reject D-2. Acceptance stays secondary while this disclosure has focus.</a:t>
            </a:r>
          </a:p>
          <a:p xmlns:a="http://schemas.openxmlformats.org/drawingml/2006/main">
            <a:r>
              <a:t/>
            </a:r>
          </a:p>
          <a:p xmlns:a="http://schemas.openxmlformats.org/drawingml/2006/main">
            <a:r>
              <a:t>Why it reduces friction: 3. The less common action reveals its required field only when needed. The user keeps the original decision in view.</a:t>
            </a:r>
          </a:p>
          <a:p xmlns:a="http://schemas.openxmlformats.org/drawingml/2006/main">
            <a:r>
              <a:t/>
            </a:r>
          </a:p>
          <a:p xmlns:a="http://schemas.openxmlformats.org/drawingml/2006/main">
            <a:r>
              <a:t>Feedback and interaction: 4. An empty reason produces an inline field error and focused guidance. A saved rejection displays Declined and the returned blocking reason.</a:t>
            </a:r>
          </a:p>
          <a:p xmlns:a="http://schemas.openxmlformats.org/drawingml/2006/main">
            <a:r>
              <a:t/>
            </a:r>
          </a:p>
          <a:p xmlns:a="http://schemas.openxmlformats.org/drawingml/2006/main">
            <a:r>
              <a:t>Boundary: Rejection uses the existing owner action. Declined required choices still block dependent work. No undo or reopen control is invented.</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treadle/packages/web/src/library.js:317, treadle/packages/web/src/library.js:667</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task plan and permission to start</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Task titles, dependencies and declared checks remain accessible. The existing Start button stays beside a short permission explanation.</a:t>
            </a:r>
          </a:p>
          <a:p xmlns:a="http://schemas.openxmlformats.org/drawingml/2006/main">
            <a:r>
              <a:t/>
            </a:r>
          </a:p>
          <a:p xmlns:a="http://schemas.openxmlformats.org/drawingml/2006/main">
            <a:r>
              <a:t>Primary action: 2. Start implementation grants permission for this exact plan. Keep the action in the existing owner panel, sticky within its content column.</a:t>
            </a:r>
          </a:p>
          <a:p xmlns:a="http://schemas.openxmlformats.org/drawingml/2006/main">
            <a:r>
              <a:t/>
            </a:r>
          </a:p>
          <a:p xmlns:a="http://schemas.openxmlformats.org/drawingml/2006/main">
            <a:r>
              <a:t>Why it reduces friction: 3. A stable action position avoids a long trip back to the top after reading tasks. Technical trace links expand only on demand.</a:t>
            </a:r>
          </a:p>
          <a:p xmlns:a="http://schemas.openxmlformats.org/drawingml/2006/main">
            <a:r>
              <a:t/>
            </a:r>
          </a:p>
          <a:p xmlns:a="http://schemas.openxmlformats.org/drawingml/2006/main">
            <a:r>
              <a:t>Feedback and interaction: 4. Show Saving permission while the existing request is pending. After success, display Permission recorded and the returned phase.</a:t>
            </a:r>
          </a:p>
          <a:p xmlns:a="http://schemas.openxmlformats.org/drawingml/2006/main">
            <a:r>
              <a:t/>
            </a:r>
          </a:p>
          <a:p xmlns:a="http://schemas.openxmlformats.org/drawingml/2006/main">
            <a:r>
              <a:t>Boundary: Use can_start and the existing revision guard. The browser records permission and does not wake an idle agent. No instant-running claim.</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treadle/packages/web/src/library.js:331, treadle/packages/web/src/library.js:643, treadle/packages/web/src/library.js:677, wiki/systems/owner-workflow.md</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in progress</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Existing task statuses lead each row. The current task stays expanded with its declared check. Completed evidence sits in a disclosure.</a:t>
            </a:r>
          </a:p>
          <a:p xmlns:a="http://schemas.openxmlformats.org/drawingml/2006/main">
            <a:r>
              <a:t/>
            </a:r>
          </a:p>
          <a:p xmlns:a="http://schemas.openxmlformats.org/drawingml/2006/main">
            <a:r>
              <a:t>Primary action: 2. Inspect the current task or use the existing refresh trigger when state may have changed. There is no owner approval to repeat here.</a:t>
            </a:r>
          </a:p>
          <a:p xmlns:a="http://schemas.openxmlformats.org/drawingml/2006/main">
            <a:r>
              <a:t/>
            </a:r>
          </a:p>
          <a:p xmlns:a="http://schemas.openxmlformats.org/drawingml/2006/main">
            <a:r>
              <a:t>Why it reduces friction: 3. Removing prior approval instructions makes progress immediately legible. Task counts come directly from the loaded tasks.</a:t>
            </a:r>
          </a:p>
          <a:p xmlns:a="http://schemas.openxmlformats.org/drawingml/2006/main">
            <a:r>
              <a:t/>
            </a:r>
          </a:p>
          <a:p xmlns:a="http://schemas.openxmlformats.org/drawingml/2006/main">
            <a:r>
              <a:t>Feedback and interaction: 4. Completed tasks show a checkmark and the word Done. State refreshes through existing interaction and focus behavior, without invented live telemetry.</a:t>
            </a:r>
          </a:p>
          <a:p xmlns:a="http://schemas.openxmlformats.org/drawingml/2006/main">
            <a:r>
              <a:t/>
            </a:r>
          </a:p>
          <a:p xmlns:a="http://schemas.openxmlformats.org/drawingml/2006/main">
            <a:r>
              <a:t>Boundary: Display approved execution state, not agent presence. No Run, pause, retry or new polling service. Keep independent review as the next gate.</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treadle/packages/web/src/library.js:331, treadle/packages/web/src/library.js:607, treadle/packages/web/src/library.js:645, treadle/packages/web/src/library.js:985</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blocked task</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blocked task moves above completed evidence. Existing reasons and any failed command result appear next to its status.</a:t>
            </a:r>
          </a:p>
          <a:p xmlns:a="http://schemas.openxmlformats.org/drawingml/2006/main">
            <a:r>
              <a:t/>
            </a:r>
          </a:p>
          <a:p xmlns:a="http://schemas.openxmlformats.org/drawingml/2006/main">
            <a:r>
              <a:t>Primary action: 2. Read the blocker, inspect its evidence and refresh when the agent has repaired the issue. Do not offer a browser bypass.</a:t>
            </a:r>
          </a:p>
          <a:p xmlns:a="http://schemas.openxmlformats.org/drawingml/2006/main">
            <a:r>
              <a:t/>
            </a:r>
          </a:p>
          <a:p xmlns:a="http://schemas.openxmlformats.org/drawingml/2006/main">
            <a:r>
              <a:t>Why it reduces friction: 3. The specific blocking reason replaces a generic warning panel. Only the affected task expands by default.</a:t>
            </a:r>
          </a:p>
          <a:p xmlns:a="http://schemas.openxmlformats.org/drawingml/2006/main">
            <a:r>
              <a:t/>
            </a:r>
          </a:p>
          <a:p xmlns:a="http://schemas.openxmlformats.org/drawingml/2006/main">
            <a:r>
              <a:t>Feedback and interaction: 4. Amber pairs with the word Blocked. A failed command retains its actual exit code. Refresh changes the display only after a new response.</a:t>
            </a:r>
          </a:p>
          <a:p xmlns:a="http://schemas.openxmlformats.org/drawingml/2006/main">
            <a:r>
              <a:t/>
            </a:r>
          </a:p>
          <a:p xmlns:a="http://schemas.openxmlformats.org/drawingml/2006/main">
            <a:r>
              <a:t>Boundary: Source drift and a changed plan remain distinct. A changed plan uses the existing Start gate again. No repin, retry-task or force-approve UI.</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treadle/packages/web/src/library.js:331, treadle/packages/web/src/library.js:637, wiki/systems/owner-workflow.md</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review pending</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review empty state sits below the current gate. The phase inspector shows Finish as a later step.</a:t>
            </a:r>
          </a:p>
          <a:p xmlns:a="http://schemas.openxmlformats.org/drawingml/2006/main">
            <a:r>
              <a:t/>
            </a:r>
          </a:p>
          <a:p xmlns:a="http://schemas.openxmlformats.org/drawingml/2006/main">
            <a:r>
              <a:t>Primary action: 2. Inspect available evidence. No Finish control appears until the existing workflow declares the pack eligible.</a:t>
            </a:r>
          </a:p>
          <a:p xmlns:a="http://schemas.openxmlformats.org/drawingml/2006/main">
            <a:r>
              <a:t/>
            </a:r>
          </a:p>
          <a:p xmlns:a="http://schemas.openxmlformats.org/drawingml/2006/main">
            <a:r>
              <a:t>Why it reduces friction: 3. The screen explains exactly who must act next. Completion and owner attention no longer compete with review waiting.</a:t>
            </a:r>
          </a:p>
          <a:p xmlns:a="http://schemas.openxmlformats.org/drawingml/2006/main">
            <a:r>
              <a:t/>
            </a:r>
          </a:p>
          <a:p xmlns:a="http://schemas.openxmlformats.org/drawingml/2006/main">
            <a:r>
              <a:t>Feedback and interaction: 4. Existing refresh behavior reveals the returned review result. A passing task check never animates into a passing PACK review.</a:t>
            </a:r>
          </a:p>
          <a:p xmlns:a="http://schemas.openxmlformats.org/drawingml/2006/main">
            <a:r>
              <a:t/>
            </a:r>
          </a:p>
          <a:p xmlns:a="http://schemas.openxmlformats.org/drawingml/2006/main">
            <a:r>
              <a:t>Boundary: No Request review button, reviewer assignment or live activity indicator. Keep can_close authoritative.</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treadle/packages/web/src/library.js:347, treadle/packages/web/src/library.js:617, treadle/packages/web/src/library.js:646</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reviewed pack is ready to finish</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current PACK verdict leads the review list. Reviewer identity and recorded evidence remain available beneath it.</a:t>
            </a:r>
          </a:p>
          <a:p xmlns:a="http://schemas.openxmlformats.org/drawingml/2006/main">
            <a:r>
              <a:t/>
            </a:r>
          </a:p>
          <a:p xmlns:a="http://schemas.openxmlformats.org/drawingml/2006/main">
            <a:r>
              <a:t>Primary action: 2. Inspect the verdict, then choose Finish spec. This reveals the existing confirmation in place.</a:t>
            </a:r>
          </a:p>
          <a:p xmlns:a="http://schemas.openxmlformats.org/drawingml/2006/main">
            <a:r>
              <a:t/>
            </a:r>
          </a:p>
          <a:p xmlns:a="http://schemas.openxmlformats.org/drawingml/2006/main">
            <a:r>
              <a:t>Why it reduces friction: 3. A short readiness statement and one primary action replace scattered success badges. The review remains adjacent to the final decision.</a:t>
            </a:r>
          </a:p>
          <a:p xmlns:a="http://schemas.openxmlformats.org/drawingml/2006/main">
            <a:r>
              <a:t/>
            </a:r>
          </a:p>
          <a:p xmlns:a="http://schemas.openxmlformats.org/drawingml/2006/main">
            <a:r>
              <a:t>Feedback and interaction: 4. Show the Finish action only when can_close is true. Review filters retain access to earlier findings without obscuring the current verdict.</a:t>
            </a:r>
          </a:p>
          <a:p xmlns:a="http://schemas.openxmlformats.org/drawingml/2006/main">
            <a:r>
              <a:t/>
            </a:r>
          </a:p>
          <a:p xmlns:a="http://schemas.openxmlformats.org/drawingml/2006/main">
            <a:r>
              <a:t>Boundary: Earlier PASS records are not current eligibility. The workflow response remains authoritative. Unresolved feedback does not become a new finish gate.</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treadle/packages/web/src/library.js:347, treadle/packages/web/src/library.js:644, treadle/packages/web/src/library.js:808</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Finish confirmation</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confirmation replaces the Finish button inside the owner panel. The pack title and current review remain visible.</a:t>
            </a:r>
          </a:p>
          <a:p xmlns:a="http://schemas.openxmlformats.org/drawingml/2006/main">
            <a:r>
              <a:t/>
            </a:r>
          </a:p>
          <a:p xmlns:a="http://schemas.openxmlformats.org/drawingml/2006/main">
            <a:r>
              <a:t>Primary action: 2. Yes, finish spec records completion. Keep open cancels the confirmation and restores the original action.</a:t>
            </a:r>
          </a:p>
          <a:p xmlns:a="http://schemas.openxmlformats.org/drawingml/2006/main">
            <a:r>
              <a:t/>
            </a:r>
          </a:p>
          <a:p xmlns:a="http://schemas.openxmlformats.org/drawingml/2006/main">
            <a:r>
              <a:t>Why it reduces friction: 3. The consequence is plain and close to the control. No extra dialog, screen, typing challenge or approval ceremony is added.</a:t>
            </a:r>
          </a:p>
          <a:p xmlns:a="http://schemas.openxmlformats.org/drawingml/2006/main">
            <a:r>
              <a:t/>
            </a:r>
          </a:p>
          <a:p xmlns:a="http://schemas.openxmlformats.org/drawingml/2006/main">
            <a:r>
              <a:t>Feedback and interaction: 4. Focus enters the existing confirmation. Cancellation returns focus to Finish spec. While saving, disable duplicate controls and announce progress.</a:t>
            </a:r>
          </a:p>
          <a:p xmlns:a="http://schemas.openxmlformats.org/drawingml/2006/main">
            <a:r>
              <a:t/>
            </a:r>
          </a:p>
          <a:p xmlns:a="http://schemas.openxmlformats.org/drawingml/2006/main">
            <a:r>
              <a:t>Boundary: Keep both existing confirmation choices and the distinct close action. Never auto-finish after a PASS or a Resolve event.</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treadle/packages/web/src/library.js:644, treadle/packages/web/src/library.js:650</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spec</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Completion replaces the action area with a concise recorded state. The same tabs and phase inspector remain available for inspection.</a:t>
            </a:r>
          </a:p>
          <a:p xmlns:a="http://schemas.openxmlformats.org/drawingml/2006/main">
            <a:r>
              <a:t/>
            </a:r>
          </a:p>
          <a:p xmlns:a="http://schemas.openxmlformats.org/drawingml/2006/main">
            <a:r>
              <a:t>Primary action: 2. Read the review, task evidence or feedback history. Existing navigation provides the route back to other library items.</a:t>
            </a:r>
          </a:p>
          <a:p xmlns:a="http://schemas.openxmlformats.org/drawingml/2006/main">
            <a:r>
              <a:t/>
            </a:r>
          </a:p>
          <a:p xmlns:a="http://schemas.openxmlformats.org/drawingml/2006/main">
            <a:r>
              <a:t>Why it reduces friction: 3. One completion heading communicates the outcome. Repeated green badges and inactive approval buttons add no useful information.</a:t>
            </a:r>
          </a:p>
          <a:p xmlns:a="http://schemas.openxmlformats.org/drawingml/2006/main">
            <a:r>
              <a:t/>
            </a:r>
          </a:p>
          <a:p xmlns:a="http://schemas.openxmlformats.org/drawingml/2006/main">
            <a:r>
              <a:t>Feedback and interaction: 4. Focus lands on the completion heading after a successful response. Read-only history retains text selection and document navigation.</a:t>
            </a:r>
          </a:p>
          <a:p xmlns:a="http://schemas.openxmlformats.org/drawingml/2006/main">
            <a:r>
              <a:t/>
            </a:r>
          </a:p>
          <a:p xmlns:a="http://schemas.openxmlformats.org/drawingml/2006/main">
            <a:r>
              <a:t>Boundary: No Reopen, duplicate item or new summary screen. Closed feedback controls stay disabled under existing rules.</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treadle/packages/web/src/library.js:647, treadle/packages/web/src/feedback.js:225, treadle/packages/web/src/feedback.js:505</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 feedback as a draft</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Existing session, round and file controls form a compact toolbar. The selected source line appears beside the comment field.</a:t>
            </a:r>
          </a:p>
          <a:p xmlns:a="http://schemas.openxmlformats.org/drawingml/2006/main">
            <a:r>
              <a:t/>
            </a:r>
          </a:p>
          <a:p xmlns:a="http://schemas.openxmlformats.org/drawingml/2006/main">
            <a:r>
              <a:t>Primary action: 2. Select the existing anchor, write the comment and Save draft comment. Submit feedback stays a separate action after the comment is saved.</a:t>
            </a:r>
          </a:p>
          <a:p xmlns:a="http://schemas.openxmlformats.org/drawingml/2006/main">
            <a:r>
              <a:t/>
            </a:r>
          </a:p>
          <a:p xmlns:a="http://schemas.openxmlformats.org/drawingml/2006/main">
            <a:r>
              <a:t>Why it reduces friction: 3. A two-column source and discussion arrangement shortens eye movement. Scope and draft state stay visible near the action.</a:t>
            </a:r>
          </a:p>
          <a:p xmlns:a="http://schemas.openxmlformats.org/drawingml/2006/main">
            <a:r>
              <a:t/>
            </a:r>
          </a:p>
          <a:p xmlns:a="http://schemas.openxmlformats.org/drawingml/2006/main">
            <a:r>
              <a:t>Feedback and interaction: 4. Selection gains a blue line highlight. The save response says Draft saved, then the same Submit feedback control gains visual priority.</a:t>
            </a:r>
          </a:p>
          <a:p xmlns:a="http://schemas.openxmlformats.org/drawingml/2006/main">
            <a:r>
              <a:t/>
            </a:r>
          </a:p>
          <a:p xmlns:a="http://schemas.openxmlformats.org/drawingml/2006/main">
            <a:r>
              <a:t>Boundary: Keep comment and submit as separate existing requests. Local input is not a submitted batch. No combined Save and send action.</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treadle/packages/web/src/feedback.js:239, treadle/packages/web/src/feedback.js:386, treadle/packages/web/src/feedback.js:465, treadle/packages/web/src/feedback.js:486</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revised code diff and thread resolution</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round selector points to the newest round. Before and After remain available. The thread and agent response sit beside the source.</a:t>
            </a:r>
          </a:p>
          <a:p xmlns:a="http://schemas.openxmlformats.org/drawingml/2006/main">
            <a:r>
              <a:t/>
            </a:r>
          </a:p>
          <a:p xmlns:a="http://schemas.openxmlformats.org/drawingml/2006/main">
            <a:r>
              <a:t>Primary action: 2. Inspect the revised lines, then use that thread’s Resolve button. Resolve each remaining thread independently.</a:t>
            </a:r>
          </a:p>
          <a:p xmlns:a="http://schemas.openxmlformats.org/drawingml/2006/main">
            <a:r>
              <a:t/>
            </a:r>
          </a:p>
          <a:p xmlns:a="http://schemas.openxmlformats.org/drawingml/2006/main">
            <a:r>
              <a:t>Why it reduces friction: 3. The source and discussion share a visual baseline. The user sees what changed and why without moving across several stacked panels.</a:t>
            </a:r>
          </a:p>
          <a:p xmlns:a="http://schemas.openxmlformats.org/drawingml/2006/main">
            <a:r>
              <a:t/>
            </a:r>
          </a:p>
          <a:p xmlns:a="http://schemas.openxmlformats.org/drawingml/2006/main">
            <a:r>
              <a:t>Feedback and interaction: 4. A successful response changes Unresolved to Resolved and disables its action. Original anchors and submitted batches remain accessible.</a:t>
            </a:r>
          </a:p>
          <a:p xmlns:a="http://schemas.openxmlformats.org/drawingml/2006/main">
            <a:r>
              <a:t/>
            </a:r>
          </a:p>
          <a:p xmlns:a="http://schemas.openxmlformats.org/drawingml/2006/main">
            <a:r>
              <a:t>Boundary: Do not claim auto-delivery or agent presence. An idle agent needs a prompt. Resolve grants no approval, Start or Finish permission.</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treadle/packages/web/src/feedback.js:267, treadle/packages/web/src/feedback.js:547, treadle/packages/web/src/feedback.js:560, treadle/packages/web/src/feedback.js:493</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stale feedback anchor</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stale status labels the thread. The latest open round and new selected source line remain visible beside it.</a:t>
            </a:r>
          </a:p>
          <a:p xmlns:a="http://schemas.openxmlformats.org/drawingml/2006/main">
            <a:r>
              <a:t/>
            </a:r>
          </a:p>
          <a:p xmlns:a="http://schemas.openxmlformats.org/drawingml/2006/main">
            <a:r>
              <a:t>Primary action: 2. Select the new anchor, choose Reattach to selected anchor, then Submit feedback. These remain two separate recorded actions.</a:t>
            </a:r>
          </a:p>
          <a:p xmlns:a="http://schemas.openxmlformats.org/drawingml/2006/main">
            <a:r>
              <a:t/>
            </a:r>
          </a:p>
          <a:p xmlns:a="http://schemas.openxmlformats.org/drawingml/2006/main">
            <a:r>
              <a:t>Why it reduces friction: 3. Context, selection and the recovery action stay together. A stale comment does not disappear into a generic error message.</a:t>
            </a:r>
          </a:p>
          <a:p xmlns:a="http://schemas.openxmlformats.org/drawingml/2006/main">
            <a:r>
              <a:t/>
            </a:r>
          </a:p>
          <a:p xmlns:a="http://schemas.openxmlformats.org/drawingml/2006/main">
            <a:r>
              <a:t>Feedback and interaction: 4. Announce Reattachment saved as a draft. Visual priority then moves to the existing Submit feedback control, after a successful response.</a:t>
            </a:r>
          </a:p>
          <a:p xmlns:a="http://schemas.openxmlformats.org/drawingml/2006/main">
            <a:r>
              <a:t/>
            </a:r>
          </a:p>
          <a:p xmlns:a="http://schemas.openxmlformats.org/drawingml/2006/main">
            <a:r>
              <a:t>Boundary: Never infer or silently move an anchor. A sealed round requires an agent-published new round. Preserve View original anchor.</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treadle/packages/web/src/feedback.js:567, treadle/packages/web/src/feedback.js:578</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feedback revision conflict</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feedback error sits next to the comment field. The selected source and retained text stay visible.</a:t>
            </a:r>
          </a:p>
          <a:p xmlns:a="http://schemas.openxmlformats.org/drawingml/2006/main">
            <a:r>
              <a:t/>
            </a:r>
          </a:p>
          <a:p xmlns:a="http://schemas.openxmlformats.org/drawingml/2006/main">
            <a:r>
              <a:t>Primary action: 2. Refresh feedback, inspect the current round and retry the intended existing action. Keep the draft and the spec owner controls separate.</a:t>
            </a:r>
          </a:p>
          <a:p xmlns:a="http://schemas.openxmlformats.org/drawingml/2006/main">
            <a:r>
              <a:t/>
            </a:r>
          </a:p>
          <a:p xmlns:a="http://schemas.openxmlformats.org/drawingml/2006/main">
            <a:r>
              <a:t>Why it reduces friction: 3. A specific recovery instruction replaces a broad red banner. Draft retention avoids retyping and makes the interrupted work recoverable.</a:t>
            </a:r>
          </a:p>
          <a:p xmlns:a="http://schemas.openxmlformats.org/drawingml/2006/main">
            <a:r>
              <a:t/>
            </a:r>
          </a:p>
          <a:p xmlns:a="http://schemas.openxmlformats.org/drawingml/2006/main">
            <a:r>
              <a:t>Feedback and interaction: 4. Focus the error announcement without erasing the draft. Show a busy refresh state and update source selection deliberately.</a:t>
            </a:r>
          </a:p>
          <a:p xmlns:a="http://schemas.openxmlformats.org/drawingml/2006/main">
            <a:r>
              <a:t/>
            </a:r>
          </a:p>
          <a:p xmlns:a="http://schemas.openxmlformats.org/drawingml/2006/main">
            <a:r>
              <a:t>Boundary: Retain the existing operation identity and revision checks. Do not automatically resend, submit a new batch or reattach after conflict.</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treadle/packages/web/src/feedback.js:124, treadle/packages/web/src/feedback.js:135, treadle/packages/web/src/feedback.js:164</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owner action revision conflict</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owner error and Refresh control sit directly beside the owner action area. The attempted action remains understandable.</a:t>
            </a:r>
          </a:p>
          <a:p xmlns:a="http://schemas.openxmlformats.org/drawingml/2006/main">
            <a:r>
              <a:t/>
            </a:r>
          </a:p>
          <a:p xmlns:a="http://schemas.openxmlformats.org/drawingml/2006/main">
            <a:r>
              <a:t>Primary action: 2. Refresh the spec, reread changed content, then deliberately repeat the eligible action if it is still appropriate.</a:t>
            </a:r>
          </a:p>
          <a:p xmlns:a="http://schemas.openxmlformats.org/drawingml/2006/main">
            <a:r>
              <a:t/>
            </a:r>
          </a:p>
          <a:p xmlns:a="http://schemas.openxmlformats.org/drawingml/2006/main">
            <a:r>
              <a:t>Why it reduces friction: 3. Recovery lives at the point of interruption. The UI makes no claim that permission exists when the server refused the write.</a:t>
            </a:r>
          </a:p>
          <a:p xmlns:a="http://schemas.openxmlformats.org/drawingml/2006/main">
            <a:r>
              <a:t/>
            </a:r>
          </a:p>
          <a:p xmlns:a="http://schemas.openxmlformats.org/drawingml/2006/main">
            <a:r>
              <a:t>Feedback and interaction: 4. Focus the error. Disable duplicate requests while refreshing. Restore an action only from the new workflow response.</a:t>
            </a:r>
          </a:p>
          <a:p xmlns:a="http://schemas.openxmlformats.org/drawingml/2006/main">
            <a:r>
              <a:t/>
            </a:r>
          </a:p>
          <a:p xmlns:a="http://schemas.openxmlformats.org/drawingml/2006/main">
            <a:r>
              <a:t>Boundary: Never advance optimistically or auto-retry approval. Keep expected_revision, plan identity and all server eligibility rules unchanged.</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treadle/packages/web/src/library.js:572, treadle/packages/web/src/library.js:677, treadle/packages/web/src/library.js:689, treadle/packages/web/src/library.js:986</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recorded action with pending audit recovery</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audit_pending message appears beneath the recorded permission state. Task content remains available.</a:t>
            </a:r>
          </a:p>
          <a:p xmlns:a="http://schemas.openxmlformats.org/drawingml/2006/main">
            <a:r>
              <a:t/>
            </a:r>
          </a:p>
          <a:p xmlns:a="http://schemas.openxmlformats.org/drawingml/2006/main">
            <a:r>
              <a:t>Primary action: 2. Read the state and refresh after recovery. The owner does not repeat an action that already landed.</a:t>
            </a:r>
          </a:p>
          <a:p xmlns:a="http://schemas.openxmlformats.org/drawingml/2006/main">
            <a:r>
              <a:t/>
            </a:r>
          </a:p>
          <a:p xmlns:a="http://schemas.openxmlformats.org/drawingml/2006/main">
            <a:r>
              <a:t>Why it reduces friction: 3. The UI distinguishes a durable receipt from a journal problem. A quiet amber message prevents a second approval prompted by uncertainty.</a:t>
            </a:r>
          </a:p>
          <a:p xmlns:a="http://schemas.openxmlformats.org/drawingml/2006/main">
            <a:r>
              <a:t/>
            </a:r>
          </a:p>
          <a:p xmlns:a="http://schemas.openxmlformats.org/drawingml/2006/main">
            <a:r>
              <a:t>Feedback and interaction: 4. Present the actual pending-entry count only when returned. Announce the recorded action, then the outstanding recovery status.</a:t>
            </a:r>
          </a:p>
          <a:p xmlns:a="http://schemas.openxmlformats.org/drawingml/2006/main">
            <a:r>
              <a:t/>
            </a:r>
          </a:p>
          <a:p xmlns:a="http://schemas.openxmlformats.org/drawingml/2006/main">
            <a:r>
              <a:t>Boundary: No Recover audit button or backend repair. No invented journal completion. Avoid showing Start again because an append failed.</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treadle/packages/web/src/library.js:642, treadle/packages/web/src/library.js:697, wiki/systems/owner-workflow.md</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Approval state unavailable</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unavailable state occupies the owner panel. Already available document content stays readable.</a:t>
            </a:r>
          </a:p>
          <a:p xmlns:a="http://schemas.openxmlformats.org/drawingml/2006/main">
            <a:r>
              <a:t/>
            </a:r>
          </a:p>
          <a:p xmlns:a="http://schemas.openxmlformats.org/drawingml/2006/main">
            <a:r>
              <a:t>Primary action: 2. Use the existing Refresh control. Approval actions stay hidden until the workflow response has loaded consistently.</a:t>
            </a:r>
          </a:p>
          <a:p xmlns:a="http://schemas.openxmlformats.org/drawingml/2006/main">
            <a:r>
              <a:t/>
            </a:r>
          </a:p>
          <a:p xmlns:a="http://schemas.openxmlformats.org/drawingml/2006/main">
            <a:r>
              <a:t>Why it reduces friction: 3. The message explains the interruption and offers the supported recovery path. The screen does not collapse into an empty error page.</a:t>
            </a:r>
          </a:p>
          <a:p xmlns:a="http://schemas.openxmlformats.org/drawingml/2006/main">
            <a:r>
              <a:t/>
            </a:r>
          </a:p>
          <a:p xmlns:a="http://schemas.openxmlformats.org/drawingml/2006/main">
            <a:r>
              <a:t>Feedback and interaction: 4. Announce unavailable and refreshing states. Restore focus to the current-gate heading after a successful refresh.</a:t>
            </a:r>
          </a:p>
          <a:p xmlns:a="http://schemas.openxmlformats.org/drawingml/2006/main">
            <a:r>
              <a:t/>
            </a:r>
          </a:p>
          <a:p xmlns:a="http://schemas.openxmlformats.org/drawingml/2006/main">
            <a:r>
              <a:t>Boundary: Do not infer can_start or can_close from cached content, task counts or an old PASS. No new error screen or endpoint.</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treadle/packages/web/src/library.js:631, treadle/packages/web/src/library.js:916, treadle/packages/web/src/library.js:986</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Feedback before a session exists</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feedback empty state explains why no source or thread is available. Spec navigation remains visible.</a:t>
            </a:r>
          </a:p>
          <a:p xmlns:a="http://schemas.openxmlformats.org/drawingml/2006/main">
            <a:r>
              <a:t/>
            </a:r>
          </a:p>
          <a:p xmlns:a="http://schemas.openxmlformats.org/drawingml/2006/main">
            <a:r>
              <a:t>Primary action: 2. The next step is the existing agent workflow outside this browser. Refresh feedback after the agent opens the session.</a:t>
            </a:r>
          </a:p>
          <a:p xmlns:a="http://schemas.openxmlformats.org/drawingml/2006/main">
            <a:r>
              <a:t/>
            </a:r>
          </a:p>
          <a:p xmlns:a="http://schemas.openxmlformats.org/drawingml/2006/main">
            <a:r>
              <a:t>Why it reduces friction: 3. Clear scope avoids offering a dead comment box. The user knows that a review session must exist before leaving feedback.</a:t>
            </a:r>
          </a:p>
          <a:p xmlns:a="http://schemas.openxmlformats.org/drawingml/2006/main">
            <a:r>
              <a:t/>
            </a:r>
          </a:p>
          <a:p xmlns:a="http://schemas.openxmlformats.org/drawingml/2006/main">
            <a:r>
              <a:t>Feedback and interaction: 4. Keep the empty message stable while a refresh is pending. Show a session only when the existing state response supplies one.</a:t>
            </a:r>
          </a:p>
          <a:p xmlns:a="http://schemas.openxmlformats.org/drawingml/2006/main">
            <a:r>
              <a:t/>
            </a:r>
          </a:p>
          <a:p xmlns:a="http://schemas.openxmlformats.org/drawingml/2006/main">
            <a:r>
              <a:t>Boundary: No Create session, agent chat composer or wake-agent action. The browser’s current feedback endpoints retain their existing scope.</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treadle/packages/web/src/feedback.js:51, treadle/packages/web/src/feedback.js:218</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existing interview room</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dossier, focused interview and question count retain their layout roles. Choice labels use full rows with visible selection.</a:t>
            </a:r>
          </a:p>
          <a:p xmlns:a="http://schemas.openxmlformats.org/drawingml/2006/main">
            <a:r>
              <a:t/>
            </a:r>
          </a:p>
          <a:p xmlns:a="http://schemas.openxmlformats.org/drawingml/2006/main">
            <a:r>
              <a:t>Primary action: 2. Choose an existing option and Submit. Back and I don’t know remain secondary. Preserve the current keyboard behavior.</a:t>
            </a:r>
          </a:p>
          <a:p xmlns:a="http://schemas.openxmlformats.org/drawingml/2006/main">
            <a:r>
              <a:t/>
            </a:r>
          </a:p>
          <a:p xmlns:a="http://schemas.openxmlformats.org/drawingml/2006/main">
            <a:r>
              <a:t>Why it reduces friction: 3. One question fills the center rather than competing with the entire spec. The selected option and submit action form one clear reading path.</a:t>
            </a:r>
          </a:p>
          <a:p xmlns:a="http://schemas.openxmlformats.org/drawingml/2006/main">
            <a:r>
              <a:t/>
            </a:r>
          </a:p>
          <a:p xmlns:a="http://schemas.openxmlformats.org/drawingml/2006/main">
            <a:r>
              <a:t>Feedback and interaction: 4. Keep 1–9 choice hints and j/k navigation. Enter submits, Shift+Enter adds a line in free text. Successful answers advance through the existing room.</a:t>
            </a:r>
          </a:p>
          <a:p xmlns:a="http://schemas.openxmlformats.org/drawingml/2006/main">
            <a:r>
              <a:t/>
            </a:r>
          </a:p>
          <a:p xmlns:a="http://schemas.openxmlformats.org/drawingml/2006/main">
            <a:r>
              <a:t>Boundary: This is the existing page.html room, not a new wizard. Room approval remains separate from library Start and Finish actions.</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treadle/packages/web/src/page.js:268, treadle/packages/web/src/page.js:294, treadle/packages/web/src/page.js:321, treadle/packages/web/src/page.js:379</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Legacy history remains read-only</a:t>
            </a:r>
          </a:p>
          <a:p xmlns:a="http://schemas.openxmlformats.org/drawingml/2006/main">
            <a:r>
              <a:t/>
            </a:r>
          </a:p>
          <a:p xmlns:a="http://schemas.openxmlformats.org/drawingml/2006/main">
            <a:r>
              <a:t>Quiet Workspace: system sans serif, white content, soft gray navigation, near-black text, one blue primary action, 44 px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History group opens the preserved dossier. Historical labels and documents remain available without owner controls.</a:t>
            </a:r>
          </a:p>
          <a:p xmlns:a="http://schemas.openxmlformats.org/drawingml/2006/main">
            <a:r>
              <a:t/>
            </a:r>
          </a:p>
          <a:p xmlns:a="http://schemas.openxmlformats.org/drawingml/2006/main">
            <a:r>
              <a:t>Primary action: 2. Inspect the record or choose another existing item in the library. Do not show gated actions for a historical entry.</a:t>
            </a:r>
          </a:p>
          <a:p xmlns:a="http://schemas.openxmlformats.org/drawingml/2006/main">
            <a:r>
              <a:t/>
            </a:r>
          </a:p>
          <a:p xmlns:a="http://schemas.openxmlformats.org/drawingml/2006/main">
            <a:r>
              <a:t>Why it reduces friction: 3. A persistent read-only heading avoids disabled-button clutter and separates current workflow readiness from historical evidence.</a:t>
            </a:r>
          </a:p>
          <a:p xmlns:a="http://schemas.openxmlformats.org/drawingml/2006/main">
            <a:r>
              <a:t/>
            </a:r>
          </a:p>
          <a:p xmlns:a="http://schemas.openxmlformats.org/drawingml/2006/main">
            <a:r>
              <a:t>Feedback and interaction: 4. Preserve search, focus and disclosure behavior. Show the source’s actual historic state without converting it into a current gate.</a:t>
            </a:r>
          </a:p>
          <a:p xmlns:a="http://schemas.openxmlformats.org/drawingml/2006/main">
            <a:r>
              <a:t/>
            </a:r>
          </a:p>
          <a:p xmlns:a="http://schemas.openxmlformats.org/drawingml/2006/main">
            <a:r>
              <a:t>Boundary: No browser migration, adoption, editing or reopen action. Legacy active records retain their own rules and are distinct from archived history.</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treadle/packages/web/src/library.js:98, treadle/packages/web/src/library.js:239, treadle/packages/web/src/library.js:779</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1ea279562d43d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a642a36475493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fab6f1f2d0244b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b30d5b9ca704b4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c6961bba8224b3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bb196d79edc4a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18E978-A462-453E-8BDE-2EE485B59FE0}"/>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A4F01C5-D1AA-41E0-BB04-83A4808ECD6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9845FED-4A62-4F82-AB64-F61EA44E4982}"/>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5B420B-1BC6-44E1-8FC4-E821700215D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A15627-EE1E-4DA0-A143-3BEA728FC86B}"/>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161CDF8-ECA7-49CA-81BD-5C0B2A55661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D1F35B-1FA6-437F-9D82-490603DE0DF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BA3012-030F-411F-8F52-C70FBC0DFE0C}"/>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B038D6-962D-40DE-AA5A-A4893258358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BA1667-F73C-4438-AAF2-23E025D9231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957a96db8b4815" /><Relationship Type="http://schemas.openxmlformats.org/officeDocument/2006/relationships/slideLayout" Target="/ppt/slideLayouts/slideLayout1.xml" Id="R5148ab3a5f35461a" /><Relationship Type="http://schemas.openxmlformats.org/officeDocument/2006/relationships/slideLayout" Target="/ppt/slideLayouts/slideLayout2.xml" Id="R3b10922ad3d84a8e" /><Relationship Type="http://schemas.openxmlformats.org/officeDocument/2006/relationships/slideLayout" Target="/ppt/slideLayouts/slideLayout3.xml" Id="R19c0f9d2efce4e32" /><Relationship Type="http://schemas.openxmlformats.org/officeDocument/2006/relationships/slideLayout" Target="/ppt/slideLayouts/slideLayout4.xml" Id="R4def47d3de364e83" /><Relationship Type="http://schemas.openxmlformats.org/officeDocument/2006/relationships/slideLayout" Target="/ppt/slideLayouts/slideLayout5.xml" Id="Re77fd03f2425413b" /><Relationship Type="http://schemas.openxmlformats.org/officeDocument/2006/relationships/slideLayout" Target="/ppt/slideLayouts/slideLayout6.xml" Id="Re56ba1b8e28d42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48ab3a5f35461a"/>
    <p:sldLayoutId xmlns:r="http://schemas.openxmlformats.org/officeDocument/2006/relationships" id="2147483650" r:id="R3b10922ad3d84a8e"/>
    <p:sldLayoutId xmlns:r="http://schemas.openxmlformats.org/officeDocument/2006/relationships" id="2147483651" r:id="R19c0f9d2efce4e32"/>
    <p:sldLayoutId xmlns:r="http://schemas.openxmlformats.org/officeDocument/2006/relationships" id="2147483652" r:id="R4def47d3de364e83"/>
    <p:sldLayoutId xmlns:r="http://schemas.openxmlformats.org/officeDocument/2006/relationships" id="2147483653" r:id="Re77fd03f2425413b"/>
    <p:sldLayoutId xmlns:r="http://schemas.openxmlformats.org/officeDocument/2006/relationships" id="2147483654" r:id="Re56ba1b8e28d42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55d06dc06be4b20" /><Relationship Type="http://schemas.openxmlformats.org/officeDocument/2006/relationships/image" Target="/ppt/media/image.jpeg" Id="Rcc94f45030aa4850" /><Relationship Type="http://schemas.openxmlformats.org/officeDocument/2006/relationships/notesSlide" Target="/ppt/notesSlides/notesSlide1.xml" Id="Rfc66794b362c48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1e6291263a246b6" /><Relationship Type="http://schemas.openxmlformats.org/officeDocument/2006/relationships/image" Target="/ppt/media/image2.jpeg" Id="R2aa860fedc6f4ca4" /><Relationship Type="http://schemas.openxmlformats.org/officeDocument/2006/relationships/notesSlide" Target="/ppt/notesSlides/notesSlide2.xml" Id="R2da0c23c328c45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99944cc66474d4d" /><Relationship Type="http://schemas.openxmlformats.org/officeDocument/2006/relationships/image" Target="/ppt/media/image3.jpeg" Id="Ra725e355e7b04c75" /><Relationship Type="http://schemas.openxmlformats.org/officeDocument/2006/relationships/notesSlide" Target="/ppt/notesSlides/notesSlide3.xml" Id="Ra2fd4535bddd4d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11ee4fcc77f4629" /><Relationship Type="http://schemas.openxmlformats.org/officeDocument/2006/relationships/image" Target="/ppt/media/image4.jpeg" Id="R4c5913d6c6c341ad" /><Relationship Type="http://schemas.openxmlformats.org/officeDocument/2006/relationships/notesSlide" Target="/ppt/notesSlides/notesSlide4.xml" Id="Rb57c21af28754c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65d9cdfa22f4781" /><Relationship Type="http://schemas.openxmlformats.org/officeDocument/2006/relationships/image" Target="/ppt/media/image5.jpeg" Id="Rb46ccf0670124899" /><Relationship Type="http://schemas.openxmlformats.org/officeDocument/2006/relationships/notesSlide" Target="/ppt/notesSlides/notesSlide5.xml" Id="R0a4cc65639434c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3dcaff114fb4e98" /><Relationship Type="http://schemas.openxmlformats.org/officeDocument/2006/relationships/image" Target="/ppt/media/image6.jpeg" Id="R760f1666a1df4cd0" /><Relationship Type="http://schemas.openxmlformats.org/officeDocument/2006/relationships/notesSlide" Target="/ppt/notesSlides/notesSlide6.xml" Id="R79da7c7f6eb641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3dcfa1d81d94213" /><Relationship Type="http://schemas.openxmlformats.org/officeDocument/2006/relationships/image" Target="/ppt/media/image7.jpeg" Id="Rf984828e9af746e1" /><Relationship Type="http://schemas.openxmlformats.org/officeDocument/2006/relationships/notesSlide" Target="/ppt/notesSlides/notesSlide7.xml" Id="Rb7c9d3bb26aa48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819f87573744896" /><Relationship Type="http://schemas.openxmlformats.org/officeDocument/2006/relationships/image" Target="/ppt/media/image8.jpeg" Id="R812096f7d643413f" /><Relationship Type="http://schemas.openxmlformats.org/officeDocument/2006/relationships/notesSlide" Target="/ppt/notesSlides/notesSlide8.xml" Id="R1987a10bcb49410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8fe445390a84732" /><Relationship Type="http://schemas.openxmlformats.org/officeDocument/2006/relationships/image" Target="/ppt/media/image9.jpeg" Id="R1b48745ea1764154" /><Relationship Type="http://schemas.openxmlformats.org/officeDocument/2006/relationships/notesSlide" Target="/ppt/notesSlides/notesSlide9.xml" Id="R9407b141c7f94a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971487373bd4f5f" /><Relationship Type="http://schemas.openxmlformats.org/officeDocument/2006/relationships/image" Target="/ppt/media/image10.jpeg" Id="R7957c1506adb43be" /><Relationship Type="http://schemas.openxmlformats.org/officeDocument/2006/relationships/notesSlide" Target="/ppt/notesSlides/notesSlide10.xml" Id="R41a1e1813659464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69b86530d6149dd" /><Relationship Type="http://schemas.openxmlformats.org/officeDocument/2006/relationships/image" Target="/ppt/media/image11.jpeg" Id="R478f6e680d8443c4" /><Relationship Type="http://schemas.openxmlformats.org/officeDocument/2006/relationships/notesSlide" Target="/ppt/notesSlides/notesSlide11.xml" Id="R74802ebcdba0455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2e2c437b34f4227" /><Relationship Type="http://schemas.openxmlformats.org/officeDocument/2006/relationships/image" Target="/ppt/media/image12.jpeg" Id="R4bd9d50ef2fc49bc" /><Relationship Type="http://schemas.openxmlformats.org/officeDocument/2006/relationships/notesSlide" Target="/ppt/notesSlides/notesSlide12.xml" Id="Rc421a3164c22485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22f647a075b4434" /><Relationship Type="http://schemas.openxmlformats.org/officeDocument/2006/relationships/image" Target="/ppt/media/image13.jpeg" Id="R03d88e99f46d4bbd" /><Relationship Type="http://schemas.openxmlformats.org/officeDocument/2006/relationships/notesSlide" Target="/ppt/notesSlides/notesSlide13.xml" Id="R16b90b4a632e4ce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de86f3b76e64425" /><Relationship Type="http://schemas.openxmlformats.org/officeDocument/2006/relationships/image" Target="/ppt/media/image14.jpeg" Id="R86aa55381f94451f" /><Relationship Type="http://schemas.openxmlformats.org/officeDocument/2006/relationships/notesSlide" Target="/ppt/notesSlides/notesSlide14.xml" Id="R628ece673dd643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1f15f6290f04325" /><Relationship Type="http://schemas.openxmlformats.org/officeDocument/2006/relationships/image" Target="/ppt/media/image15.jpeg" Id="R6dc3543cab8f4c3b" /><Relationship Type="http://schemas.openxmlformats.org/officeDocument/2006/relationships/notesSlide" Target="/ppt/notesSlides/notesSlide15.xml" Id="R3bbb78fecb8f430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a03adc61660429a" /><Relationship Type="http://schemas.openxmlformats.org/officeDocument/2006/relationships/image" Target="/ppt/media/image16.jpeg" Id="Raa29ef7e14f94a27" /><Relationship Type="http://schemas.openxmlformats.org/officeDocument/2006/relationships/notesSlide" Target="/ppt/notesSlides/notesSlide16.xml" Id="Raaa38100ac7b4cd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fe66812563f46e9" /><Relationship Type="http://schemas.openxmlformats.org/officeDocument/2006/relationships/image" Target="/ppt/media/image17.jpeg" Id="R5ecb4c70805142db" /><Relationship Type="http://schemas.openxmlformats.org/officeDocument/2006/relationships/notesSlide" Target="/ppt/notesSlides/notesSlide17.xml" Id="Rf0d515bbac5d44f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0c2ee9d3677426b" /><Relationship Type="http://schemas.openxmlformats.org/officeDocument/2006/relationships/image" Target="/ppt/media/image18.jpeg" Id="R19690b5cbda74765" /><Relationship Type="http://schemas.openxmlformats.org/officeDocument/2006/relationships/notesSlide" Target="/ppt/notesSlides/notesSlide18.xml" Id="R8718bca0500642f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32c28183df544f7" /><Relationship Type="http://schemas.openxmlformats.org/officeDocument/2006/relationships/image" Target="/ppt/media/image19.jpeg" Id="Re23956fb4aea49c8" /><Relationship Type="http://schemas.openxmlformats.org/officeDocument/2006/relationships/notesSlide" Target="/ppt/notesSlides/notesSlide19.xml" Id="R124b507ce52c4d5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44b1858f924415a" /><Relationship Type="http://schemas.openxmlformats.org/officeDocument/2006/relationships/image" Target="/ppt/media/image20.jpeg" Id="Rb6f0580be016495d" /><Relationship Type="http://schemas.openxmlformats.org/officeDocument/2006/relationships/notesSlide" Target="/ppt/notesSlides/notesSlide20.xml" Id="R6981fcd4e9ba4b3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9ea915b9c104107" /><Relationship Type="http://schemas.openxmlformats.org/officeDocument/2006/relationships/image" Target="/ppt/media/image21.jpeg" Id="R3296de5f0a854cd4" /><Relationship Type="http://schemas.openxmlformats.org/officeDocument/2006/relationships/notesSlide" Target="/ppt/notesSlides/notesSlide21.xml" Id="R64f35fbc17724b6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891194b69e54af3" /><Relationship Type="http://schemas.openxmlformats.org/officeDocument/2006/relationships/image" Target="/ppt/media/image22.jpeg" Id="Rcb9b665294a845f8" /><Relationship Type="http://schemas.openxmlformats.org/officeDocument/2006/relationships/notesSlide" Target="/ppt/notesSlides/notesSlide22.xml" Id="Ra2c2e5665019418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f6874bfbd83494d" /><Relationship Type="http://schemas.openxmlformats.org/officeDocument/2006/relationships/image" Target="/ppt/media/image23.jpeg" Id="R380f58c627004c03" /><Relationship Type="http://schemas.openxmlformats.org/officeDocument/2006/relationships/notesSlide" Target="/ppt/notesSlides/notesSlide23.xml" Id="Rea06054dd8524a64" /></Relationships>
</file>

<file path=ppt/slides/slide1.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6E762FD-7568-4AD9-BF5A-2F6FA76F480B}"/>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01  The approval queue</a:t>
            </a:r>
          </a:p>
        </p:txBody>
      </p:sp>
      <p:sp>
        <p:nvSpPr>
          <p:cNvPr id="2" name="">
            <a:extLst xmlns:a="http://schemas.openxmlformats.org/drawingml/2006/main">
              <a:ext uri="{FF2B5EF4-FFF2-40B4-BE49-F238E27FC236}">
                <a16:creationId xmlns:a16="http://schemas.microsoft.com/office/drawing/2014/main" id="{68FB48FC-15BC-4376-A56C-48E7E69CC590}"/>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EDA907D9-12F2-489F-A455-B74E7B0F6E76}"/>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AA4FAC1D-CBA3-4BDD-90E6-98A18160A108}"/>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Existing search and spec groups lead into the selected item. The selected workflow phase supplies the current gate and next action.</a:t>
            </a:r>
          </a:p>
        </p:txBody>
      </p:sp>
      <p:sp>
        <p:nvSpPr>
          <p:cNvPr id="5" name="">
            <a:extLst xmlns:a="http://schemas.openxmlformats.org/drawingml/2006/main">
              <a:ext uri="{FF2B5EF4-FFF2-40B4-BE49-F238E27FC236}">
                <a16:creationId xmlns:a16="http://schemas.microsoft.com/office/drawing/2014/main" id="{F29A998B-9AEB-4B02-A8CC-B9CB422349F0}"/>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F7F59B2C-EBF5-4407-8DAB-9834D1B9B69A}"/>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Select an item, inspect its plan, then use its eligible owner action. Keep search and the existing group order.</a:t>
            </a:r>
          </a:p>
        </p:txBody>
      </p:sp>
      <p:sp>
        <p:nvSpPr>
          <p:cNvPr id="7" name="">
            <a:extLst xmlns:a="http://schemas.openxmlformats.org/drawingml/2006/main">
              <a:ext uri="{FF2B5EF4-FFF2-40B4-BE49-F238E27FC236}">
                <a16:creationId xmlns:a16="http://schemas.microsoft.com/office/drawing/2014/main" id="{A449977F-7B57-4631-B00F-EA15BEE727FF}"/>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D3239D23-4B24-4EB5-852E-505CA091D7AC}"/>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 quiet sidebar and one content heading replace repeated cards and competing stage badges. Revision metadata moves into existing details.</a:t>
            </a:r>
          </a:p>
        </p:txBody>
      </p:sp>
      <p:sp>
        <p:nvSpPr>
          <p:cNvPr id="9" name="">
            <a:extLst xmlns:a="http://schemas.openxmlformats.org/drawingml/2006/main">
              <a:ext uri="{FF2B5EF4-FFF2-40B4-BE49-F238E27FC236}">
                <a16:creationId xmlns:a16="http://schemas.microsoft.com/office/drawing/2014/main" id="{3B5C79A0-7B65-4B1C-9BD9-3E8F8B37ED76}"/>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615A0BC6-DD44-42E3-A63E-481795CF6973}"/>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Selection gains a subtle gray fill. Current-gate text outranks a stale deliverable label. Keyboard focus stays visible.</a:t>
            </a:r>
          </a:p>
        </p:txBody>
      </p:sp>
      <p:pic>
        <p:nvPicPr>
          <p:cNvPr id="11" name="">
            <a:extLst xmlns:a="http://schemas.openxmlformats.org/drawingml/2006/main">
              <a:ext uri="{FF2B5EF4-FFF2-40B4-BE49-F238E27FC236}">
                <a16:creationId xmlns:a16="http://schemas.microsoft.com/office/drawing/2014/main" id="{4E383F08-9EDF-4553-A14F-A0343BFE09B3}"/>
              </a:ext>
            </a:extLst>
          </p:cNvPr>
          <p:cNvPicPr>
            <a:picLocks xmlns:a="http://schemas.openxmlformats.org/drawingml/2006/main" noChangeAspect="1"/>
          </p:cNvPicPr>
          <p:nvPr/>
        </p:nvPicPr>
        <p:blipFill>
          <a:blip xmlns:r="http://schemas.openxmlformats.org/officeDocument/2006/relationships" xmlns:a="http://schemas.openxmlformats.org/drawingml/2006/main" r:embed="Rcc94f45030aa4850"/>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955D835-BFEB-432F-AAE4-CF84B69669DA}"/>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EBD8F9FE-4633-4DE0-9C37-5555DE958C69}"/>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List labels use existing list workflow data. No bulk approval, added inbox or new status field.</a:t>
            </a:r>
          </a:p>
        </p:txBody>
      </p:sp>
      <p:sp>
        <p:nvSpPr>
          <p:cNvPr id="14" name="">
            <a:extLst xmlns:a="http://schemas.openxmlformats.org/drawingml/2006/main">
              <a:ext uri="{FF2B5EF4-FFF2-40B4-BE49-F238E27FC236}">
                <a16:creationId xmlns:a16="http://schemas.microsoft.com/office/drawing/2014/main" id="{13AE5370-C3A7-4B83-8180-636254C9FC1B}"/>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44DE50BD-820D-44DD-928B-FD6B0F5EA0A6}"/>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1 / 23</a:t>
            </a:r>
          </a:p>
        </p:txBody>
      </p:sp>
    </p:spTree>
    <p:extLst>
      <p:ext uri="{BB962C8B-B14F-4D97-AF65-F5344CB8AC3E}">
        <p14:creationId xmlns:p14="http://schemas.microsoft.com/office/powerpoint/2010/main" val="1182884820"/>
      </p:ext>
    </p:extLst>
  </p:cSld>
</p:sld>
</file>

<file path=ppt/slides/slide2.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E05C1BE-A6A6-4103-B479-392644042E17}"/>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02  The brief and incomplete plan</a:t>
            </a:r>
          </a:p>
        </p:txBody>
      </p:sp>
      <p:sp>
        <p:nvSpPr>
          <p:cNvPr id="2" name="">
            <a:extLst xmlns:a="http://schemas.openxmlformats.org/drawingml/2006/main">
              <a:ext uri="{FF2B5EF4-FFF2-40B4-BE49-F238E27FC236}">
                <a16:creationId xmlns:a16="http://schemas.microsoft.com/office/drawing/2014/main" id="{4788122C-994E-46BD-AA13-A19143A59F8A}"/>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755E21FF-DBFB-4E5F-9BC0-E51098C33995}"/>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D20C6D68-389D-42E5-B2B4-66E0C3BC1F68}"/>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owner panel explains the current wait. The brief is expanded and other document disclosures remain available.</a:t>
            </a:r>
          </a:p>
        </p:txBody>
      </p:sp>
      <p:sp>
        <p:nvSpPr>
          <p:cNvPr id="5" name="">
            <a:extLst xmlns:a="http://schemas.openxmlformats.org/drawingml/2006/main">
              <a:ext uri="{FF2B5EF4-FFF2-40B4-BE49-F238E27FC236}">
                <a16:creationId xmlns:a16="http://schemas.microsoft.com/office/drawing/2014/main" id="{85423522-1DF4-4336-813B-44A8F778E09C}"/>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9EA04ABC-A012-4011-B832-9BF293B7E9A3}"/>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Read the brief or open the existing plan document. Show no approval action while the workflow is in the plan phase.</a:t>
            </a:r>
          </a:p>
        </p:txBody>
      </p:sp>
      <p:sp>
        <p:nvSpPr>
          <p:cNvPr id="7" name="">
            <a:extLst xmlns:a="http://schemas.openxmlformats.org/drawingml/2006/main">
              <a:ext uri="{FF2B5EF4-FFF2-40B4-BE49-F238E27FC236}">
                <a16:creationId xmlns:a16="http://schemas.microsoft.com/office/drawing/2014/main" id="{D029FFC6-96A6-4187-9E70-8AFBE808A9EE}"/>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D26E8A83-571C-44B2-8A11-6D71539F1237}"/>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Scope appears before technical detail. Quiet document disclosures avoid multiple tall cards and nested visual frames.</a:t>
            </a:r>
          </a:p>
        </p:txBody>
      </p:sp>
      <p:sp>
        <p:nvSpPr>
          <p:cNvPr id="9" name="">
            <a:extLst xmlns:a="http://schemas.openxmlformats.org/drawingml/2006/main">
              <a:ext uri="{FF2B5EF4-FFF2-40B4-BE49-F238E27FC236}">
                <a16:creationId xmlns:a16="http://schemas.microsoft.com/office/drawing/2014/main" id="{6F5CF8DC-E152-43D6-A1F3-B5B5E611ABD4}"/>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29F23434-CF57-405F-9B55-6E9D98DE0088}"/>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Expanding a document retains its place and focus. Missing artifacts have explicit text rather than an empty rectangle.</a:t>
            </a:r>
          </a:p>
        </p:txBody>
      </p:sp>
      <p:pic>
        <p:nvPicPr>
          <p:cNvPr id="11" name="">
            <a:extLst xmlns:a="http://schemas.openxmlformats.org/drawingml/2006/main">
              <a:ext uri="{FF2B5EF4-FFF2-40B4-BE49-F238E27FC236}">
                <a16:creationId xmlns:a16="http://schemas.microsoft.com/office/drawing/2014/main" id="{357AD743-651D-4EC4-8E85-D90631BDC974}"/>
              </a:ext>
            </a:extLst>
          </p:cNvPr>
          <p:cNvPicPr>
            <a:picLocks xmlns:a="http://schemas.openxmlformats.org/drawingml/2006/main" noChangeAspect="1"/>
          </p:cNvPicPr>
          <p:nvPr/>
        </p:nvPicPr>
        <p:blipFill>
          <a:blip xmlns:r="http://schemas.openxmlformats.org/officeDocument/2006/relationships" xmlns:a="http://schemas.openxmlformats.org/drawingml/2006/main" r:embed="R2aa860fedc6f4ca4"/>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1E872EA-4F45-44D3-985C-826FC496290E}"/>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8F0BBFB1-2706-4B55-9C37-AD8C4102FF56}"/>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Display the existing workflow reasons. Do not create a request-plan action or let the owner edit task definitions here.</a:t>
            </a:r>
          </a:p>
        </p:txBody>
      </p:sp>
      <p:sp>
        <p:nvSpPr>
          <p:cNvPr id="14" name="">
            <a:extLst xmlns:a="http://schemas.openxmlformats.org/drawingml/2006/main">
              <a:ext uri="{FF2B5EF4-FFF2-40B4-BE49-F238E27FC236}">
                <a16:creationId xmlns:a16="http://schemas.microsoft.com/office/drawing/2014/main" id="{7A6FE08F-299D-437F-99A9-CCAC8A2A84EE}"/>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6AE3030D-3204-43C3-AA64-FDA822CAAC8C}"/>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2 / 23</a:t>
            </a:r>
          </a:p>
        </p:txBody>
      </p:sp>
    </p:spTree>
    <p:extLst>
      <p:ext uri="{BB962C8B-B14F-4D97-AF65-F5344CB8AC3E}">
        <p14:creationId xmlns:p14="http://schemas.microsoft.com/office/powerpoint/2010/main" val="2046734975"/>
      </p:ext>
    </p:extLst>
  </p:cSld>
</p:sld>
</file>

<file path=ppt/slides/slide3.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12B8D80-E2F2-4F82-9D48-AADE60AAC494}"/>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03  Spec questions and an unknown answer</a:t>
            </a:r>
          </a:p>
        </p:txBody>
      </p:sp>
      <p:sp>
        <p:nvSpPr>
          <p:cNvPr id="2" name="">
            <a:extLst xmlns:a="http://schemas.openxmlformats.org/drawingml/2006/main">
              <a:ext uri="{FF2B5EF4-FFF2-40B4-BE49-F238E27FC236}">
                <a16:creationId xmlns:a16="http://schemas.microsoft.com/office/drawing/2014/main" id="{9F89EE18-5505-4B1E-85BA-7CABD7A1628B}"/>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994F1FA5-1799-4E95-BEEC-371F65FD6C67}"/>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40CAAD01-775A-496B-B48B-6EA48C98CBB2}"/>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first unresolved question sits above supporting requirements. The saved unknown state remains explicit beside the question.</a:t>
            </a:r>
          </a:p>
        </p:txBody>
      </p:sp>
      <p:sp>
        <p:nvSpPr>
          <p:cNvPr id="5" name="">
            <a:extLst xmlns:a="http://schemas.openxmlformats.org/drawingml/2006/main">
              <a:ext uri="{FF2B5EF4-FFF2-40B4-BE49-F238E27FC236}">
                <a16:creationId xmlns:a16="http://schemas.microsoft.com/office/drawing/2014/main" id="{34DD3660-D605-4B4A-9E72-6F4E3D0929BD}"/>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E7AC42AB-EDBB-4C79-8283-4FD8D340610D}"/>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Type an answer and choose Answer. Keep I don’t know as a quieter existing secondary action.</a:t>
            </a:r>
          </a:p>
        </p:txBody>
      </p:sp>
      <p:sp>
        <p:nvSpPr>
          <p:cNvPr id="7" name="">
            <a:extLst xmlns:a="http://schemas.openxmlformats.org/drawingml/2006/main">
              <a:ext uri="{FF2B5EF4-FFF2-40B4-BE49-F238E27FC236}">
                <a16:creationId xmlns:a16="http://schemas.microsoft.com/office/drawing/2014/main" id="{2A1722D6-7AAD-47A9-9ADD-6A1A1DB05E43}"/>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AA10F70D-0609-4F0C-B035-9CA510CB92FB}"/>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user handles one visible question before reading supporting material. Completed answers remain in existing disclosures below.</a:t>
            </a:r>
          </a:p>
        </p:txBody>
      </p:sp>
      <p:sp>
        <p:nvSpPr>
          <p:cNvPr id="9" name="">
            <a:extLst xmlns:a="http://schemas.openxmlformats.org/drawingml/2006/main">
              <a:ext uri="{FF2B5EF4-FFF2-40B4-BE49-F238E27FC236}">
                <a16:creationId xmlns:a16="http://schemas.microsoft.com/office/drawing/2014/main" id="{48E62D59-4C0E-49F8-9271-DB919028A076}"/>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19B01C62-A63A-4C21-8216-B8AD06BD8FDF}"/>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On a successful response, announce Answer recorded and focus the next unresolved question. On failure, retain the typed answer.</a:t>
            </a:r>
          </a:p>
        </p:txBody>
      </p:sp>
      <p:pic>
        <p:nvPicPr>
          <p:cNvPr id="11" name="">
            <a:extLst xmlns:a="http://schemas.openxmlformats.org/drawingml/2006/main">
              <a:ext uri="{FF2B5EF4-FFF2-40B4-BE49-F238E27FC236}">
                <a16:creationId xmlns:a16="http://schemas.microsoft.com/office/drawing/2014/main" id="{8DA3CF00-2153-4392-A50B-2C0C211D4BA7}"/>
              </a:ext>
            </a:extLst>
          </p:cNvPr>
          <p:cNvPicPr>
            <a:picLocks xmlns:a="http://schemas.openxmlformats.org/drawingml/2006/main" noChangeAspect="1"/>
          </p:cNvPicPr>
          <p:nvPr/>
        </p:nvPicPr>
        <p:blipFill>
          <a:blip xmlns:r="http://schemas.openxmlformats.org/officeDocument/2006/relationships" xmlns:a="http://schemas.openxmlformats.org/drawingml/2006/main" r:embed="Ra725e355e7b04c75"/>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EB8C5BB-9DAB-46DD-9BF9-4DB212614D5F}"/>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FED43E78-EEA6-4E93-8466-E485CCC3BDBB}"/>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The count comes from loaded clarifications. Unknown does not count as resolved. No automatic approval or hidden answer submission.</a:t>
            </a:r>
          </a:p>
        </p:txBody>
      </p:sp>
      <p:sp>
        <p:nvSpPr>
          <p:cNvPr id="14" name="">
            <a:extLst xmlns:a="http://schemas.openxmlformats.org/drawingml/2006/main">
              <a:ext uri="{FF2B5EF4-FFF2-40B4-BE49-F238E27FC236}">
                <a16:creationId xmlns:a16="http://schemas.microsoft.com/office/drawing/2014/main" id="{BCD33C50-770F-434E-9154-462C4695BD94}"/>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FE33B02F-2A1C-4AE4-963C-FC3CB5C1E3F5}"/>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3 / 23</a:t>
            </a:r>
          </a:p>
        </p:txBody>
      </p:sp>
    </p:spTree>
    <p:extLst>
      <p:ext uri="{BB962C8B-B14F-4D97-AF65-F5344CB8AC3E}">
        <p14:creationId xmlns:p14="http://schemas.microsoft.com/office/powerpoint/2010/main" val="958062860"/>
      </p:ext>
    </p:extLst>
  </p:cSld>
</p:sld>
</file>

<file path=ppt/slides/slide4.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F976339-4760-43BA-BD2E-D50EFE7435DE}"/>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04  Spec approval after answers</a:t>
            </a:r>
          </a:p>
        </p:txBody>
      </p:sp>
      <p:sp>
        <p:nvSpPr>
          <p:cNvPr id="2" name="">
            <a:extLst xmlns:a="http://schemas.openxmlformats.org/drawingml/2006/main">
              <a:ext uri="{FF2B5EF4-FFF2-40B4-BE49-F238E27FC236}">
                <a16:creationId xmlns:a16="http://schemas.microsoft.com/office/drawing/2014/main" id="{1A984CF3-65FC-4141-8ADC-4F179BA37BDC}"/>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704435E1-34DE-4ACD-87B5-98DCFFE2E966}"/>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D7D04606-7A77-4301-963A-AD356792FA56}"/>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current gate, answer summary and existing spec disclosure share one reading column.</a:t>
            </a:r>
          </a:p>
        </p:txBody>
      </p:sp>
      <p:sp>
        <p:nvSpPr>
          <p:cNvPr id="5" name="">
            <a:extLst xmlns:a="http://schemas.openxmlformats.org/drawingml/2006/main">
              <a:ext uri="{FF2B5EF4-FFF2-40B4-BE49-F238E27FC236}">
                <a16:creationId xmlns:a16="http://schemas.microsoft.com/office/drawing/2014/main" id="{C3F6B932-D8EB-4991-A41F-7588D13D1954}"/>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782609CF-94E0-4668-9BA9-8C01AC6020FC}"/>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Approve this spec arms the existing confirmation. A second deliberate click records the approval with the current owner claim.</a:t>
            </a:r>
          </a:p>
        </p:txBody>
      </p:sp>
      <p:sp>
        <p:nvSpPr>
          <p:cNvPr id="7" name="">
            <a:extLst xmlns:a="http://schemas.openxmlformats.org/drawingml/2006/main">
              <a:ext uri="{FF2B5EF4-FFF2-40B4-BE49-F238E27FC236}">
                <a16:creationId xmlns:a16="http://schemas.microsoft.com/office/drawing/2014/main" id="{AD990438-FB15-4506-8DC1-30E8C46A1CEE}"/>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C082D376-97EB-4410-B77E-7B70CB69EC74}"/>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Answers stay visible near the approval action. The design removes unrelated instructions instead of asking users to infer readiness.</a:t>
            </a:r>
          </a:p>
        </p:txBody>
      </p:sp>
      <p:sp>
        <p:nvSpPr>
          <p:cNvPr id="9" name="">
            <a:extLst xmlns:a="http://schemas.openxmlformats.org/drawingml/2006/main">
              <a:ext uri="{FF2B5EF4-FFF2-40B4-BE49-F238E27FC236}">
                <a16:creationId xmlns:a16="http://schemas.microsoft.com/office/drawing/2014/main" id="{EA654F53-C201-4BC4-8F25-F89B986EE200}"/>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216C22BA-F2A2-45D6-9BC1-785475ECF1F6}"/>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First click changes the same button to Confirm spec approval and explains the recorded act inline. Busy state prevents duplicate submissions.</a:t>
            </a:r>
          </a:p>
        </p:txBody>
      </p:sp>
      <p:pic>
        <p:nvPicPr>
          <p:cNvPr id="11" name="">
            <a:extLst xmlns:a="http://schemas.openxmlformats.org/drawingml/2006/main">
              <a:ext uri="{FF2B5EF4-FFF2-40B4-BE49-F238E27FC236}">
                <a16:creationId xmlns:a16="http://schemas.microsoft.com/office/drawing/2014/main" id="{71A462C4-93E4-4BF0-B641-9F6F4722E418}"/>
              </a:ext>
            </a:extLst>
          </p:cNvPr>
          <p:cNvPicPr>
            <a:picLocks xmlns:a="http://schemas.openxmlformats.org/drawingml/2006/main" noChangeAspect="1"/>
          </p:cNvPicPr>
          <p:nvPr/>
        </p:nvPicPr>
        <p:blipFill>
          <a:blip xmlns:r="http://schemas.openxmlformats.org/officeDocument/2006/relationships" xmlns:a="http://schemas.openxmlformats.org/drawingml/2006/main" r:embed="R4c5913d6c6c341ad"/>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49DEDE5-3B42-48C5-9E7E-E63AAEC1F0EF}"/>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D1D57062-F4DB-42DF-82ED-B5D48DF1B8BC}"/>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Keep the current two-click library approval. Empty phase-question lists skip this ceremony. Approval still grants no Start permission.</a:t>
            </a:r>
          </a:p>
        </p:txBody>
      </p:sp>
      <p:sp>
        <p:nvSpPr>
          <p:cNvPr id="14" name="">
            <a:extLst xmlns:a="http://schemas.openxmlformats.org/drawingml/2006/main">
              <a:ext uri="{FF2B5EF4-FFF2-40B4-BE49-F238E27FC236}">
                <a16:creationId xmlns:a16="http://schemas.microsoft.com/office/drawing/2014/main" id="{AD5BC92F-A943-4342-8961-306512DB7F81}"/>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17AE1FB3-994E-439F-9231-5642E29423D2}"/>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4 / 23</a:t>
            </a:r>
          </a:p>
        </p:txBody>
      </p:sp>
    </p:spTree>
    <p:extLst>
      <p:ext uri="{BB962C8B-B14F-4D97-AF65-F5344CB8AC3E}">
        <p14:creationId xmlns:p14="http://schemas.microsoft.com/office/powerpoint/2010/main" val="562984386"/>
      </p:ext>
    </p:extLst>
  </p:cSld>
</p:sld>
</file>

<file path=ppt/slides/slide5.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1CAFB34-5915-46E3-A638-579EE0F00F96}"/>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05  Design decision acceptance</a:t>
            </a:r>
          </a:p>
        </p:txBody>
      </p:sp>
      <p:sp>
        <p:nvSpPr>
          <p:cNvPr id="2" name="">
            <a:extLst xmlns:a="http://schemas.openxmlformats.org/drawingml/2006/main">
              <a:ext uri="{FF2B5EF4-FFF2-40B4-BE49-F238E27FC236}">
                <a16:creationId xmlns:a16="http://schemas.microsoft.com/office/drawing/2014/main" id="{963E3F20-8CC6-4002-B815-6293BC6348C9}"/>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5F8FDADE-C67F-4BA3-87CC-203AB2E3E77A}"/>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1CA44594-D755-48F5-8884-EE8B2632A832}"/>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current proposed decision and its because text appear before supporting design parts. Accepted decisions stay available below.</a:t>
            </a:r>
          </a:p>
        </p:txBody>
      </p:sp>
      <p:sp>
        <p:nvSpPr>
          <p:cNvPr id="5" name="">
            <a:extLst xmlns:a="http://schemas.openxmlformats.org/drawingml/2006/main">
              <a:ext uri="{FF2B5EF4-FFF2-40B4-BE49-F238E27FC236}">
                <a16:creationId xmlns:a16="http://schemas.microsoft.com/office/drawing/2014/main" id="{12DAB56E-1867-440A-A83F-D064C5F83A9F}"/>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C341C7F7-E310-4B49-B57D-BEB09FC83E3F}"/>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Accept D-2 records only this decision. Each remaining proposal still needs its own existing acceptance action.</a:t>
            </a:r>
          </a:p>
        </p:txBody>
      </p:sp>
      <p:sp>
        <p:nvSpPr>
          <p:cNvPr id="7" name="">
            <a:extLst xmlns:a="http://schemas.openxmlformats.org/drawingml/2006/main">
              <a:ext uri="{FF2B5EF4-FFF2-40B4-BE49-F238E27FC236}">
                <a16:creationId xmlns:a16="http://schemas.microsoft.com/office/drawing/2014/main" id="{A1C09D2B-0B6B-437F-B848-9867D963F58C}"/>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02A957CB-914F-4C00-8EFB-BB344A2ABFA5}"/>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One expanded proposal has the strongest action. Secondary proposals and design diagrams use existing content disclosures.</a:t>
            </a:r>
          </a:p>
        </p:txBody>
      </p:sp>
      <p:sp>
        <p:nvSpPr>
          <p:cNvPr id="9" name="">
            <a:extLst xmlns:a="http://schemas.openxmlformats.org/drawingml/2006/main">
              <a:ext uri="{FF2B5EF4-FFF2-40B4-BE49-F238E27FC236}">
                <a16:creationId xmlns:a16="http://schemas.microsoft.com/office/drawing/2014/main" id="{0573731B-52E2-4F09-96B7-C7C428FC2F17}"/>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7EA2FFCD-9831-4736-B4A5-169B8C605CA4}"/>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 saved acceptance changes the written status and moves focus to the next proposal. Success depends on the returned workflow state.</a:t>
            </a:r>
          </a:p>
        </p:txBody>
      </p:sp>
      <p:pic>
        <p:nvPicPr>
          <p:cNvPr id="11" name="">
            <a:extLst xmlns:a="http://schemas.openxmlformats.org/drawingml/2006/main">
              <a:ext uri="{FF2B5EF4-FFF2-40B4-BE49-F238E27FC236}">
                <a16:creationId xmlns:a16="http://schemas.microsoft.com/office/drawing/2014/main" id="{F2D24EAF-F660-43E4-9523-D05475579970}"/>
              </a:ext>
            </a:extLst>
          </p:cNvPr>
          <p:cNvPicPr>
            <a:picLocks xmlns:a="http://schemas.openxmlformats.org/drawingml/2006/main" noChangeAspect="1"/>
          </p:cNvPicPr>
          <p:nvPr/>
        </p:nvPicPr>
        <p:blipFill>
          <a:blip xmlns:r="http://schemas.openxmlformats.org/officeDocument/2006/relationships" xmlns:a="http://schemas.openxmlformats.org/drawingml/2006/main" r:embed="Rb46ccf0670124899"/>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DBC2F7D-2200-47DE-BEA1-A57184C6FAD4}"/>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E1AC1028-29B4-4991-96C0-4E28CB4E8AA4}"/>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No Accept all, decision editing or automatic Start. Preserve individual decision IDs, rejection reasons and authority.</a:t>
            </a:r>
          </a:p>
        </p:txBody>
      </p:sp>
      <p:sp>
        <p:nvSpPr>
          <p:cNvPr id="14" name="">
            <a:extLst xmlns:a="http://schemas.openxmlformats.org/drawingml/2006/main">
              <a:ext uri="{FF2B5EF4-FFF2-40B4-BE49-F238E27FC236}">
                <a16:creationId xmlns:a16="http://schemas.microsoft.com/office/drawing/2014/main" id="{7264F80D-11AD-4FB5-8FDD-04F5E98BA918}"/>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659115E4-568D-488C-8659-2EEBEB426A45}"/>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5 / 23</a:t>
            </a:r>
          </a:p>
        </p:txBody>
      </p:sp>
    </p:spTree>
    <p:extLst>
      <p:ext uri="{BB962C8B-B14F-4D97-AF65-F5344CB8AC3E}">
        <p14:creationId xmlns:p14="http://schemas.microsoft.com/office/powerpoint/2010/main" val="1638554865"/>
      </p:ext>
    </p:extLst>
  </p:cSld>
</p:sld>
</file>

<file path=ppt/slides/slide6.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7CE18B1-6D5C-4384-9B86-A596D1809FFF}"/>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06  A decision rejection</a:t>
            </a:r>
          </a:p>
        </p:txBody>
      </p:sp>
      <p:sp>
        <p:nvSpPr>
          <p:cNvPr id="2" name="">
            <a:extLst xmlns:a="http://schemas.openxmlformats.org/drawingml/2006/main">
              <a:ext uri="{FF2B5EF4-FFF2-40B4-BE49-F238E27FC236}">
                <a16:creationId xmlns:a16="http://schemas.microsoft.com/office/drawing/2014/main" id="{76FF9D62-9BB5-47F9-8A82-C248867104C9}"/>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F0F431A4-04A8-40D5-9C96-80BFFDF76384}"/>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166FAED2-EDC4-4C6D-8D69-80E45EF8C4C2}"/>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Reject disclosure is open beneath the same decision. The rationale remains visible above the reason field.</a:t>
            </a:r>
          </a:p>
        </p:txBody>
      </p:sp>
      <p:sp>
        <p:nvSpPr>
          <p:cNvPr id="5" name="">
            <a:extLst xmlns:a="http://schemas.openxmlformats.org/drawingml/2006/main">
              <a:ext uri="{FF2B5EF4-FFF2-40B4-BE49-F238E27FC236}">
                <a16:creationId xmlns:a16="http://schemas.microsoft.com/office/drawing/2014/main" id="{D9321207-549D-449A-9717-ABFDB4AD0B4D}"/>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3B0A0DAC-B7DE-42AF-AD7D-450736F8F012}"/>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Enter the reason and choose Reject D-2. Acceptance stays secondary while this disclosure has focus.</a:t>
            </a:r>
          </a:p>
        </p:txBody>
      </p:sp>
      <p:sp>
        <p:nvSpPr>
          <p:cNvPr id="7" name="">
            <a:extLst xmlns:a="http://schemas.openxmlformats.org/drawingml/2006/main">
              <a:ext uri="{FF2B5EF4-FFF2-40B4-BE49-F238E27FC236}">
                <a16:creationId xmlns:a16="http://schemas.microsoft.com/office/drawing/2014/main" id="{0C81A089-0596-427D-8A5D-58365D037BE6}"/>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2C1121EF-CA88-4531-A747-629F74606FBB}"/>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less common action reveals its required field only when needed. The user keeps the original decision in view.</a:t>
            </a:r>
          </a:p>
        </p:txBody>
      </p:sp>
      <p:sp>
        <p:nvSpPr>
          <p:cNvPr id="9" name="">
            <a:extLst xmlns:a="http://schemas.openxmlformats.org/drawingml/2006/main">
              <a:ext uri="{FF2B5EF4-FFF2-40B4-BE49-F238E27FC236}">
                <a16:creationId xmlns:a16="http://schemas.microsoft.com/office/drawing/2014/main" id="{00DA8EBC-C38B-4997-B5F3-F4A6E254E63E}"/>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364E4D2A-E165-4459-875C-C1D9FEBC2188}"/>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An empty reason produces an inline field error and focused guidance. A saved rejection displays Declined and the returned blocking reason.</a:t>
            </a:r>
          </a:p>
        </p:txBody>
      </p:sp>
      <p:pic>
        <p:nvPicPr>
          <p:cNvPr id="11" name="">
            <a:extLst xmlns:a="http://schemas.openxmlformats.org/drawingml/2006/main">
              <a:ext uri="{FF2B5EF4-FFF2-40B4-BE49-F238E27FC236}">
                <a16:creationId xmlns:a16="http://schemas.microsoft.com/office/drawing/2014/main" id="{F6314CAA-5AFA-491E-9122-2303ABBD2E66}"/>
              </a:ext>
            </a:extLst>
          </p:cNvPr>
          <p:cNvPicPr>
            <a:picLocks xmlns:a="http://schemas.openxmlformats.org/drawingml/2006/main" noChangeAspect="1"/>
          </p:cNvPicPr>
          <p:nvPr/>
        </p:nvPicPr>
        <p:blipFill>
          <a:blip xmlns:r="http://schemas.openxmlformats.org/officeDocument/2006/relationships" xmlns:a="http://schemas.openxmlformats.org/drawingml/2006/main" r:embed="R760f1666a1df4cd0"/>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ED9413B-6C3C-4EC5-A3F1-D6F5746A2746}"/>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0EE158BB-91F6-44CB-BCA5-A4BB90ACC9D5}"/>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Rejection uses the existing owner action. Declined required choices still block dependent work. No undo or reopen control is invented.</a:t>
            </a:r>
          </a:p>
        </p:txBody>
      </p:sp>
      <p:sp>
        <p:nvSpPr>
          <p:cNvPr id="14" name="">
            <a:extLst xmlns:a="http://schemas.openxmlformats.org/drawingml/2006/main">
              <a:ext uri="{FF2B5EF4-FFF2-40B4-BE49-F238E27FC236}">
                <a16:creationId xmlns:a16="http://schemas.microsoft.com/office/drawing/2014/main" id="{27D3055A-016A-48A7-8C86-AE90C3FC5480}"/>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DAE9DCD2-10C5-44FD-B8E8-719EF080AFCA}"/>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6 / 23</a:t>
            </a:r>
          </a:p>
        </p:txBody>
      </p:sp>
    </p:spTree>
    <p:extLst>
      <p:ext uri="{BB962C8B-B14F-4D97-AF65-F5344CB8AC3E}">
        <p14:creationId xmlns:p14="http://schemas.microsoft.com/office/powerpoint/2010/main" val="327003814"/>
      </p:ext>
    </p:extLst>
  </p:cSld>
</p:sld>
</file>

<file path=ppt/slides/slide7.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4579A4B-F0D5-432B-8AA2-0703C749F59B}"/>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07  The task plan and permission to start</a:t>
            </a:r>
          </a:p>
        </p:txBody>
      </p:sp>
      <p:sp>
        <p:nvSpPr>
          <p:cNvPr id="2" name="">
            <a:extLst xmlns:a="http://schemas.openxmlformats.org/drawingml/2006/main">
              <a:ext uri="{FF2B5EF4-FFF2-40B4-BE49-F238E27FC236}">
                <a16:creationId xmlns:a16="http://schemas.microsoft.com/office/drawing/2014/main" id="{1F415E82-27DE-47E5-B294-34C23D50A429}"/>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A41CA05B-72AB-4C28-8002-15F12B0FD39E}"/>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D7C8B039-51CA-4DB1-9B03-3F7F08AD91ED}"/>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Task titles, dependencies and declared checks remain accessible. The existing Start button stays beside a short permission explanation.</a:t>
            </a:r>
          </a:p>
        </p:txBody>
      </p:sp>
      <p:sp>
        <p:nvSpPr>
          <p:cNvPr id="5" name="">
            <a:extLst xmlns:a="http://schemas.openxmlformats.org/drawingml/2006/main">
              <a:ext uri="{FF2B5EF4-FFF2-40B4-BE49-F238E27FC236}">
                <a16:creationId xmlns:a16="http://schemas.microsoft.com/office/drawing/2014/main" id="{BA24F459-A577-4C0F-B0FF-C2F61B747BD8}"/>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2FC4E671-31E7-4788-8530-5DC1B0C90370}"/>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Start implementation grants permission for this exact plan. Keep the action in the existing owner panel, sticky within its content column.</a:t>
            </a:r>
          </a:p>
        </p:txBody>
      </p:sp>
      <p:sp>
        <p:nvSpPr>
          <p:cNvPr id="7" name="">
            <a:extLst xmlns:a="http://schemas.openxmlformats.org/drawingml/2006/main">
              <a:ext uri="{FF2B5EF4-FFF2-40B4-BE49-F238E27FC236}">
                <a16:creationId xmlns:a16="http://schemas.microsoft.com/office/drawing/2014/main" id="{B8BCC418-1B87-4F20-A4B3-94B0BDE142C0}"/>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27EAE934-9BA7-47F6-9BBD-9D091A897760}"/>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 stable action position avoids a long trip back to the top after reading tasks. Technical trace links expand only on demand.</a:t>
            </a:r>
          </a:p>
        </p:txBody>
      </p:sp>
      <p:sp>
        <p:nvSpPr>
          <p:cNvPr id="9" name="">
            <a:extLst xmlns:a="http://schemas.openxmlformats.org/drawingml/2006/main">
              <a:ext uri="{FF2B5EF4-FFF2-40B4-BE49-F238E27FC236}">
                <a16:creationId xmlns:a16="http://schemas.microsoft.com/office/drawing/2014/main" id="{62FF1B8B-2D36-441B-9608-EBF48BDF0ACF}"/>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0EB9CBE7-3903-43DB-AC12-3469C7388F98}"/>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Show Saving permission while the existing request is pending. After success, display Permission recorded and the returned phase.</a:t>
            </a:r>
          </a:p>
        </p:txBody>
      </p:sp>
      <p:pic>
        <p:nvPicPr>
          <p:cNvPr id="11" name="">
            <a:extLst xmlns:a="http://schemas.openxmlformats.org/drawingml/2006/main">
              <a:ext uri="{FF2B5EF4-FFF2-40B4-BE49-F238E27FC236}">
                <a16:creationId xmlns:a16="http://schemas.microsoft.com/office/drawing/2014/main" id="{8491193D-99E0-4264-8A75-B37B0FAB9208}"/>
              </a:ext>
            </a:extLst>
          </p:cNvPr>
          <p:cNvPicPr>
            <a:picLocks xmlns:a="http://schemas.openxmlformats.org/drawingml/2006/main" noChangeAspect="1"/>
          </p:cNvPicPr>
          <p:nvPr/>
        </p:nvPicPr>
        <p:blipFill>
          <a:blip xmlns:r="http://schemas.openxmlformats.org/officeDocument/2006/relationships" xmlns:a="http://schemas.openxmlformats.org/drawingml/2006/main" r:embed="Rf984828e9af746e1"/>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392D9792-060D-4987-A68A-46F59BC5D739}"/>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45BF4891-B612-4E26-B511-4918AB4E0A2E}"/>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Use can_start and the existing revision guard. The browser records permission and does not wake an idle agent. No instant-running claim.</a:t>
            </a:r>
          </a:p>
        </p:txBody>
      </p:sp>
      <p:sp>
        <p:nvSpPr>
          <p:cNvPr id="14" name="">
            <a:extLst xmlns:a="http://schemas.openxmlformats.org/drawingml/2006/main">
              <a:ext uri="{FF2B5EF4-FFF2-40B4-BE49-F238E27FC236}">
                <a16:creationId xmlns:a16="http://schemas.microsoft.com/office/drawing/2014/main" id="{7382AEF7-1585-4BAD-B3F1-EA8A0A50779F}"/>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D9B9736E-DAE2-4160-8FB0-900477636F9B}"/>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7 / 23</a:t>
            </a:r>
          </a:p>
        </p:txBody>
      </p:sp>
    </p:spTree>
    <p:extLst>
      <p:ext uri="{BB962C8B-B14F-4D97-AF65-F5344CB8AC3E}">
        <p14:creationId xmlns:p14="http://schemas.microsoft.com/office/powerpoint/2010/main" val="182236144"/>
      </p:ext>
    </p:extLst>
  </p:cSld>
</p:sld>
</file>

<file path=ppt/slides/slide8.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71C8637-C3B0-4DAD-8708-C025B69A7AF8}"/>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08  Implementation in progress</a:t>
            </a:r>
          </a:p>
        </p:txBody>
      </p:sp>
      <p:sp>
        <p:nvSpPr>
          <p:cNvPr id="2" name="">
            <a:extLst xmlns:a="http://schemas.openxmlformats.org/drawingml/2006/main">
              <a:ext uri="{FF2B5EF4-FFF2-40B4-BE49-F238E27FC236}">
                <a16:creationId xmlns:a16="http://schemas.microsoft.com/office/drawing/2014/main" id="{5578D0AA-5230-4239-A852-918303C29538}"/>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DFF1C9A3-DC63-44F9-B366-ACF27D351767}"/>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59333B8A-03E6-4AFD-914A-F6283C21F624}"/>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Existing task statuses lead each row. The current task stays expanded with its declared check. Completed evidence sits in a disclosure.</a:t>
            </a:r>
          </a:p>
        </p:txBody>
      </p:sp>
      <p:sp>
        <p:nvSpPr>
          <p:cNvPr id="5" name="">
            <a:extLst xmlns:a="http://schemas.openxmlformats.org/drawingml/2006/main">
              <a:ext uri="{FF2B5EF4-FFF2-40B4-BE49-F238E27FC236}">
                <a16:creationId xmlns:a16="http://schemas.microsoft.com/office/drawing/2014/main" id="{00618CD6-6CBD-44C3-AE0D-007B2B0E3201}"/>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D6DDB8F7-0E72-4013-A644-51DB971E2754}"/>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Inspect the current task or use the existing refresh trigger when state may have changed. There is no owner approval to repeat here.</a:t>
            </a:r>
          </a:p>
        </p:txBody>
      </p:sp>
      <p:sp>
        <p:nvSpPr>
          <p:cNvPr id="7" name="">
            <a:extLst xmlns:a="http://schemas.openxmlformats.org/drawingml/2006/main">
              <a:ext uri="{FF2B5EF4-FFF2-40B4-BE49-F238E27FC236}">
                <a16:creationId xmlns:a16="http://schemas.microsoft.com/office/drawing/2014/main" id="{3F92C072-99DB-407D-8883-996BA64977E2}"/>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1D3F152E-CB80-4B7A-AC4B-A99F0620BEC2}"/>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Removing prior approval instructions makes progress immediately legible. Task counts come directly from the loaded tasks.</a:t>
            </a:r>
          </a:p>
        </p:txBody>
      </p:sp>
      <p:sp>
        <p:nvSpPr>
          <p:cNvPr id="9" name="">
            <a:extLst xmlns:a="http://schemas.openxmlformats.org/drawingml/2006/main">
              <a:ext uri="{FF2B5EF4-FFF2-40B4-BE49-F238E27FC236}">
                <a16:creationId xmlns:a16="http://schemas.microsoft.com/office/drawing/2014/main" id="{BED152E4-1781-4850-96D4-CBC73001E225}"/>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74F566C2-D0F5-49BA-BFC4-BAC198E62201}"/>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Completed tasks show a checkmark and the word Done. State refreshes through existing interaction and focus behavior, without invented live telemetry.</a:t>
            </a:r>
          </a:p>
        </p:txBody>
      </p:sp>
      <p:pic>
        <p:nvPicPr>
          <p:cNvPr id="11" name="">
            <a:extLst xmlns:a="http://schemas.openxmlformats.org/drawingml/2006/main">
              <a:ext uri="{FF2B5EF4-FFF2-40B4-BE49-F238E27FC236}">
                <a16:creationId xmlns:a16="http://schemas.microsoft.com/office/drawing/2014/main" id="{28E7FA08-7B43-4132-9CC7-0D0E5FF06842}"/>
              </a:ext>
            </a:extLst>
          </p:cNvPr>
          <p:cNvPicPr>
            <a:picLocks xmlns:a="http://schemas.openxmlformats.org/drawingml/2006/main" noChangeAspect="1"/>
          </p:cNvPicPr>
          <p:nvPr/>
        </p:nvPicPr>
        <p:blipFill>
          <a:blip xmlns:r="http://schemas.openxmlformats.org/officeDocument/2006/relationships" xmlns:a="http://schemas.openxmlformats.org/drawingml/2006/main" r:embed="R812096f7d643413f"/>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EB48558-250A-49D8-8E9E-498BCEC144E8}"/>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0A767F69-63F5-42DB-AAB6-9EEE32AA710C}"/>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Display approved execution state, not agent presence. No Run, pause, retry or new polling service. Keep independent review as the next gate.</a:t>
            </a:r>
          </a:p>
        </p:txBody>
      </p:sp>
      <p:sp>
        <p:nvSpPr>
          <p:cNvPr id="14" name="">
            <a:extLst xmlns:a="http://schemas.openxmlformats.org/drawingml/2006/main">
              <a:ext uri="{FF2B5EF4-FFF2-40B4-BE49-F238E27FC236}">
                <a16:creationId xmlns:a16="http://schemas.microsoft.com/office/drawing/2014/main" id="{A6B3A17B-ABD3-418D-B5FE-25D5CE808079}"/>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C9DE6F85-653D-413D-8B1C-2A09B4475DC4}"/>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8 / 23</a:t>
            </a:r>
          </a:p>
        </p:txBody>
      </p:sp>
    </p:spTree>
    <p:extLst>
      <p:ext uri="{BB962C8B-B14F-4D97-AF65-F5344CB8AC3E}">
        <p14:creationId xmlns:p14="http://schemas.microsoft.com/office/powerpoint/2010/main" val="1550604682"/>
      </p:ext>
    </p:extLst>
  </p:cSld>
</p:sld>
</file>

<file path=ppt/slides/slide9.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C02A346-FCE8-4B26-B8FF-DA57F0115766}"/>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09  A blocked task</a:t>
            </a:r>
          </a:p>
        </p:txBody>
      </p:sp>
      <p:sp>
        <p:nvSpPr>
          <p:cNvPr id="2" name="">
            <a:extLst xmlns:a="http://schemas.openxmlformats.org/drawingml/2006/main">
              <a:ext uri="{FF2B5EF4-FFF2-40B4-BE49-F238E27FC236}">
                <a16:creationId xmlns:a16="http://schemas.microsoft.com/office/drawing/2014/main" id="{CFCEB366-838A-46AC-9ACA-C0264A9424E5}"/>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AAC292DD-3BDE-4243-AD36-F16A58893014}"/>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55172B1A-490B-4100-9480-E1B11F6D68E1}"/>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blocked task moves above completed evidence. Existing reasons and any failed command result appear next to its status.</a:t>
            </a:r>
          </a:p>
        </p:txBody>
      </p:sp>
      <p:sp>
        <p:nvSpPr>
          <p:cNvPr id="5" name="">
            <a:extLst xmlns:a="http://schemas.openxmlformats.org/drawingml/2006/main">
              <a:ext uri="{FF2B5EF4-FFF2-40B4-BE49-F238E27FC236}">
                <a16:creationId xmlns:a16="http://schemas.microsoft.com/office/drawing/2014/main" id="{ECBC9FB1-C0BB-444F-8BC2-677CA9837A60}"/>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D50DD13E-09C9-483D-843B-F3081DB614E0}"/>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Read the blocker, inspect its evidence and refresh when the agent has repaired the issue. Do not offer a browser bypass.</a:t>
            </a:r>
          </a:p>
        </p:txBody>
      </p:sp>
      <p:sp>
        <p:nvSpPr>
          <p:cNvPr id="7" name="">
            <a:extLst xmlns:a="http://schemas.openxmlformats.org/drawingml/2006/main">
              <a:ext uri="{FF2B5EF4-FFF2-40B4-BE49-F238E27FC236}">
                <a16:creationId xmlns:a16="http://schemas.microsoft.com/office/drawing/2014/main" id="{CEC8AD2A-0C2F-4979-A165-B21C5C4D82B8}"/>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3201E9D3-FD9F-460A-95EB-34443D328506}"/>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specific blocking reason replaces a generic warning panel. Only the affected task expands by default.</a:t>
            </a:r>
          </a:p>
        </p:txBody>
      </p:sp>
      <p:sp>
        <p:nvSpPr>
          <p:cNvPr id="9" name="">
            <a:extLst xmlns:a="http://schemas.openxmlformats.org/drawingml/2006/main">
              <a:ext uri="{FF2B5EF4-FFF2-40B4-BE49-F238E27FC236}">
                <a16:creationId xmlns:a16="http://schemas.microsoft.com/office/drawing/2014/main" id="{109FE4C4-C52F-4F53-A330-1F34DBCB370B}"/>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EC4DE622-980B-4C7C-94EB-FC1249BC65C3}"/>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Amber pairs with the word Blocked. A failed command retains its actual exit code. Refresh changes the display only after a new response.</a:t>
            </a:r>
          </a:p>
        </p:txBody>
      </p:sp>
      <p:pic>
        <p:nvPicPr>
          <p:cNvPr id="11" name="">
            <a:extLst xmlns:a="http://schemas.openxmlformats.org/drawingml/2006/main">
              <a:ext uri="{FF2B5EF4-FFF2-40B4-BE49-F238E27FC236}">
                <a16:creationId xmlns:a16="http://schemas.microsoft.com/office/drawing/2014/main" id="{76439348-B363-4688-BB94-B897B26D26C3}"/>
              </a:ext>
            </a:extLst>
          </p:cNvPr>
          <p:cNvPicPr>
            <a:picLocks xmlns:a="http://schemas.openxmlformats.org/drawingml/2006/main" noChangeAspect="1"/>
          </p:cNvPicPr>
          <p:nvPr/>
        </p:nvPicPr>
        <p:blipFill>
          <a:blip xmlns:r="http://schemas.openxmlformats.org/officeDocument/2006/relationships" xmlns:a="http://schemas.openxmlformats.org/drawingml/2006/main" r:embed="R1b48745ea1764154"/>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B54EE47-A6E5-4994-83FD-77CC44AE5DD2}"/>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084D73A8-F336-46A0-8B69-7643C944994A}"/>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Source drift and a changed plan remain distinct. A changed plan uses the existing Start gate again. No repin, retry-task or force-approve UI.</a:t>
            </a:r>
          </a:p>
        </p:txBody>
      </p:sp>
      <p:sp>
        <p:nvSpPr>
          <p:cNvPr id="14" name="">
            <a:extLst xmlns:a="http://schemas.openxmlformats.org/drawingml/2006/main">
              <a:ext uri="{FF2B5EF4-FFF2-40B4-BE49-F238E27FC236}">
                <a16:creationId xmlns:a16="http://schemas.microsoft.com/office/drawing/2014/main" id="{D171FCEC-96AC-49E5-A30D-515F71FB9D02}"/>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1120F5FF-4D2B-4522-8575-E95DB34188DF}"/>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9 / 23</a:t>
            </a:r>
          </a:p>
        </p:txBody>
      </p:sp>
    </p:spTree>
    <p:extLst>
      <p:ext uri="{BB962C8B-B14F-4D97-AF65-F5344CB8AC3E}">
        <p14:creationId xmlns:p14="http://schemas.microsoft.com/office/powerpoint/2010/main" val="687749116"/>
      </p:ext>
    </p:extLst>
  </p:cSld>
</p:sld>
</file>

<file path=ppt/slides/slide10.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BC71EE0-08DC-4200-995A-E7D3D39B92E9}"/>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10  Independent review pending</a:t>
            </a:r>
          </a:p>
        </p:txBody>
      </p:sp>
      <p:sp>
        <p:nvSpPr>
          <p:cNvPr id="2" name="">
            <a:extLst xmlns:a="http://schemas.openxmlformats.org/drawingml/2006/main">
              <a:ext uri="{FF2B5EF4-FFF2-40B4-BE49-F238E27FC236}">
                <a16:creationId xmlns:a16="http://schemas.microsoft.com/office/drawing/2014/main" id="{50866FF6-41FE-4B72-A482-651A2BA63D49}"/>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2079903A-0142-430B-A94D-81603A62FABA}"/>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47D90F86-2F99-4FF2-B3AC-3AABC8CBD7CF}"/>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review empty state sits below the current gate. The phase inspector shows Finish as a later step.</a:t>
            </a:r>
          </a:p>
        </p:txBody>
      </p:sp>
      <p:sp>
        <p:nvSpPr>
          <p:cNvPr id="5" name="">
            <a:extLst xmlns:a="http://schemas.openxmlformats.org/drawingml/2006/main">
              <a:ext uri="{FF2B5EF4-FFF2-40B4-BE49-F238E27FC236}">
                <a16:creationId xmlns:a16="http://schemas.microsoft.com/office/drawing/2014/main" id="{43EE6AE9-5C30-4A7D-AD01-AF85445B4A75}"/>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31BAFAD7-1959-4E35-A2DD-FCCB2BB7D899}"/>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Inspect available evidence. No Finish control appears until the existing workflow declares the pack eligible.</a:t>
            </a:r>
          </a:p>
        </p:txBody>
      </p:sp>
      <p:sp>
        <p:nvSpPr>
          <p:cNvPr id="7" name="">
            <a:extLst xmlns:a="http://schemas.openxmlformats.org/drawingml/2006/main">
              <a:ext uri="{FF2B5EF4-FFF2-40B4-BE49-F238E27FC236}">
                <a16:creationId xmlns:a16="http://schemas.microsoft.com/office/drawing/2014/main" id="{4EAB358D-374F-4F7C-A288-E97EAFA17D40}"/>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DA696BBA-4101-477A-8A8A-C294D2DB3358}"/>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screen explains exactly who must act next. Completion and owner attention no longer compete with review waiting.</a:t>
            </a:r>
          </a:p>
        </p:txBody>
      </p:sp>
      <p:sp>
        <p:nvSpPr>
          <p:cNvPr id="9" name="">
            <a:extLst xmlns:a="http://schemas.openxmlformats.org/drawingml/2006/main">
              <a:ext uri="{FF2B5EF4-FFF2-40B4-BE49-F238E27FC236}">
                <a16:creationId xmlns:a16="http://schemas.microsoft.com/office/drawing/2014/main" id="{0E733EEA-99C3-4267-82EB-5AF1FBE90D36}"/>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F4D0BB64-E843-4005-8741-53D56E4D5507}"/>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Existing refresh behavior reveals the returned review result. A passing task check never animates into a passing PACK review.</a:t>
            </a:r>
          </a:p>
        </p:txBody>
      </p:sp>
      <p:pic>
        <p:nvPicPr>
          <p:cNvPr id="11" name="">
            <a:extLst xmlns:a="http://schemas.openxmlformats.org/drawingml/2006/main">
              <a:ext uri="{FF2B5EF4-FFF2-40B4-BE49-F238E27FC236}">
                <a16:creationId xmlns:a16="http://schemas.microsoft.com/office/drawing/2014/main" id="{B25D2479-A38C-4B21-A3B6-5B07F6BB20E7}"/>
              </a:ext>
            </a:extLst>
          </p:cNvPr>
          <p:cNvPicPr>
            <a:picLocks xmlns:a="http://schemas.openxmlformats.org/drawingml/2006/main" noChangeAspect="1"/>
          </p:cNvPicPr>
          <p:nvPr/>
        </p:nvPicPr>
        <p:blipFill>
          <a:blip xmlns:r="http://schemas.openxmlformats.org/officeDocument/2006/relationships" xmlns:a="http://schemas.openxmlformats.org/drawingml/2006/main" r:embed="R7957c1506adb43be"/>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1D785FF-C01B-466B-9B06-356CC1DC27C2}"/>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8931B614-D01A-4B09-8F3F-49E686AB154F}"/>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No Request review button, reviewer assignment or live activity indicator. Keep can_close authoritative.</a:t>
            </a:r>
          </a:p>
        </p:txBody>
      </p:sp>
      <p:sp>
        <p:nvSpPr>
          <p:cNvPr id="14" name="">
            <a:extLst xmlns:a="http://schemas.openxmlformats.org/drawingml/2006/main">
              <a:ext uri="{FF2B5EF4-FFF2-40B4-BE49-F238E27FC236}">
                <a16:creationId xmlns:a16="http://schemas.microsoft.com/office/drawing/2014/main" id="{FE568898-FFA9-4366-8CD6-A78D37B63375}"/>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F7701843-882E-4912-AFC2-C8ED2E0E4B13}"/>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10 / 23</a:t>
            </a:r>
          </a:p>
        </p:txBody>
      </p:sp>
    </p:spTree>
    <p:extLst>
      <p:ext uri="{BB962C8B-B14F-4D97-AF65-F5344CB8AC3E}">
        <p14:creationId xmlns:p14="http://schemas.microsoft.com/office/powerpoint/2010/main" val="1891287303"/>
      </p:ext>
    </p:extLst>
  </p:cSld>
</p:sld>
</file>

<file path=ppt/slides/slide11.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B19651D-2842-44B3-B6C1-D2A625EE0E9D}"/>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11  The reviewed pack is ready to finish</a:t>
            </a:r>
          </a:p>
        </p:txBody>
      </p:sp>
      <p:sp>
        <p:nvSpPr>
          <p:cNvPr id="2" name="">
            <a:extLst xmlns:a="http://schemas.openxmlformats.org/drawingml/2006/main">
              <a:ext uri="{FF2B5EF4-FFF2-40B4-BE49-F238E27FC236}">
                <a16:creationId xmlns:a16="http://schemas.microsoft.com/office/drawing/2014/main" id="{7F993620-A144-465F-9F17-28740D3B0235}"/>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6C135813-532B-4ACD-91F3-64394889BB13}"/>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B198D5E3-A454-412F-A75A-E72DE8734651}"/>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current PACK verdict leads the review list. Reviewer identity and recorded evidence remain available beneath it.</a:t>
            </a:r>
          </a:p>
        </p:txBody>
      </p:sp>
      <p:sp>
        <p:nvSpPr>
          <p:cNvPr id="5" name="">
            <a:extLst xmlns:a="http://schemas.openxmlformats.org/drawingml/2006/main">
              <a:ext uri="{FF2B5EF4-FFF2-40B4-BE49-F238E27FC236}">
                <a16:creationId xmlns:a16="http://schemas.microsoft.com/office/drawing/2014/main" id="{ADF6D0F6-BDF0-434D-9DD2-F8815D1E3D7F}"/>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62BB703F-6C07-4F66-A33B-28F1E86BE4B5}"/>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Inspect the verdict, then choose Finish spec. This reveals the existing confirmation in place.</a:t>
            </a:r>
          </a:p>
        </p:txBody>
      </p:sp>
      <p:sp>
        <p:nvSpPr>
          <p:cNvPr id="7" name="">
            <a:extLst xmlns:a="http://schemas.openxmlformats.org/drawingml/2006/main">
              <a:ext uri="{FF2B5EF4-FFF2-40B4-BE49-F238E27FC236}">
                <a16:creationId xmlns:a16="http://schemas.microsoft.com/office/drawing/2014/main" id="{B93C53DB-89AC-439E-9115-D67B76A328D5}"/>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FA526811-7A5A-462E-960A-C18AE78C9DC8}"/>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 short readiness statement and one primary action replace scattered success badges. The review remains adjacent to the final decision.</a:t>
            </a:r>
          </a:p>
        </p:txBody>
      </p:sp>
      <p:sp>
        <p:nvSpPr>
          <p:cNvPr id="9" name="">
            <a:extLst xmlns:a="http://schemas.openxmlformats.org/drawingml/2006/main">
              <a:ext uri="{FF2B5EF4-FFF2-40B4-BE49-F238E27FC236}">
                <a16:creationId xmlns:a16="http://schemas.microsoft.com/office/drawing/2014/main" id="{AE854543-4C5B-46DD-B418-78A9C3F55121}"/>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86989966-235F-4394-A930-9E6476F167CD}"/>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Show the Finish action only when can_close is true. Review filters retain access to earlier findings without obscuring the current verdict.</a:t>
            </a:r>
          </a:p>
        </p:txBody>
      </p:sp>
      <p:pic>
        <p:nvPicPr>
          <p:cNvPr id="11" name="">
            <a:extLst xmlns:a="http://schemas.openxmlformats.org/drawingml/2006/main">
              <a:ext uri="{FF2B5EF4-FFF2-40B4-BE49-F238E27FC236}">
                <a16:creationId xmlns:a16="http://schemas.microsoft.com/office/drawing/2014/main" id="{97F2C25B-5B53-40E8-9A3A-002207AF5267}"/>
              </a:ext>
            </a:extLst>
          </p:cNvPr>
          <p:cNvPicPr>
            <a:picLocks xmlns:a="http://schemas.openxmlformats.org/drawingml/2006/main" noChangeAspect="1"/>
          </p:cNvPicPr>
          <p:nvPr/>
        </p:nvPicPr>
        <p:blipFill>
          <a:blip xmlns:r="http://schemas.openxmlformats.org/officeDocument/2006/relationships" xmlns:a="http://schemas.openxmlformats.org/drawingml/2006/main" r:embed="R478f6e680d8443c4"/>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7BB47DB-2A51-4B7A-B775-A9372E33A959}"/>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B07CCEE6-D55B-4BE5-89F2-07817CFBAB96}"/>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Earlier PASS records are not current eligibility. The workflow response remains authoritative. Unresolved feedback does not become a new finish gate.</a:t>
            </a:r>
          </a:p>
        </p:txBody>
      </p:sp>
      <p:sp>
        <p:nvSpPr>
          <p:cNvPr id="14" name="">
            <a:extLst xmlns:a="http://schemas.openxmlformats.org/drawingml/2006/main">
              <a:ext uri="{FF2B5EF4-FFF2-40B4-BE49-F238E27FC236}">
                <a16:creationId xmlns:a16="http://schemas.microsoft.com/office/drawing/2014/main" id="{45F4FD74-A240-4331-8A05-6EB034877EFA}"/>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46DF24CE-7EAC-4D03-8497-0F2C39AF150C}"/>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11 / 23</a:t>
            </a:r>
          </a:p>
        </p:txBody>
      </p:sp>
    </p:spTree>
    <p:extLst>
      <p:ext uri="{BB962C8B-B14F-4D97-AF65-F5344CB8AC3E}">
        <p14:creationId xmlns:p14="http://schemas.microsoft.com/office/powerpoint/2010/main" val="108065724"/>
      </p:ext>
    </p:extLst>
  </p:cSld>
</p:sld>
</file>

<file path=ppt/slides/slide12.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8881FEE-5A8E-4A0D-AF18-C55B8669C753}"/>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12  Finish confirmation</a:t>
            </a:r>
          </a:p>
        </p:txBody>
      </p:sp>
      <p:sp>
        <p:nvSpPr>
          <p:cNvPr id="2" name="">
            <a:extLst xmlns:a="http://schemas.openxmlformats.org/drawingml/2006/main">
              <a:ext uri="{FF2B5EF4-FFF2-40B4-BE49-F238E27FC236}">
                <a16:creationId xmlns:a16="http://schemas.microsoft.com/office/drawing/2014/main" id="{DE3FFFE3-7194-49FE-8909-DE9A43217060}"/>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78F988F1-04EA-4574-8264-2765BB9C3F2F}"/>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B80085A4-64DC-460C-A2C9-5527790FF490}"/>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confirmation replaces the Finish button inside the owner panel. The pack title and current review remain visible.</a:t>
            </a:r>
          </a:p>
        </p:txBody>
      </p:sp>
      <p:sp>
        <p:nvSpPr>
          <p:cNvPr id="5" name="">
            <a:extLst xmlns:a="http://schemas.openxmlformats.org/drawingml/2006/main">
              <a:ext uri="{FF2B5EF4-FFF2-40B4-BE49-F238E27FC236}">
                <a16:creationId xmlns:a16="http://schemas.microsoft.com/office/drawing/2014/main" id="{AD040EB8-24F7-4362-ACC1-86A10786251A}"/>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5064A7C8-88BB-4A65-BF99-9C0FD3AF3094}"/>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Yes, finish spec records completion. Keep open cancels the confirmation and restores the original action.</a:t>
            </a:r>
          </a:p>
        </p:txBody>
      </p:sp>
      <p:sp>
        <p:nvSpPr>
          <p:cNvPr id="7" name="">
            <a:extLst xmlns:a="http://schemas.openxmlformats.org/drawingml/2006/main">
              <a:ext uri="{FF2B5EF4-FFF2-40B4-BE49-F238E27FC236}">
                <a16:creationId xmlns:a16="http://schemas.microsoft.com/office/drawing/2014/main" id="{F7A805ED-0224-4DA0-8F4E-5E4274F6F20F}"/>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07D26A0F-B4BE-41D3-8F81-0BBA1BBAD656}"/>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consequence is plain and close to the control. No extra dialog, screen, typing challenge or approval ceremony is added.</a:t>
            </a:r>
          </a:p>
        </p:txBody>
      </p:sp>
      <p:sp>
        <p:nvSpPr>
          <p:cNvPr id="9" name="">
            <a:extLst xmlns:a="http://schemas.openxmlformats.org/drawingml/2006/main">
              <a:ext uri="{FF2B5EF4-FFF2-40B4-BE49-F238E27FC236}">
                <a16:creationId xmlns:a16="http://schemas.microsoft.com/office/drawing/2014/main" id="{F1F674BA-9769-4874-AA41-BEFE579CA3A5}"/>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B305C541-323E-4D13-99C4-3800007AD68D}"/>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Focus enters the existing confirmation. Cancellation returns focus to Finish spec. While saving, disable duplicate controls and announce progress.</a:t>
            </a:r>
          </a:p>
        </p:txBody>
      </p:sp>
      <p:pic>
        <p:nvPicPr>
          <p:cNvPr id="11" name="">
            <a:extLst xmlns:a="http://schemas.openxmlformats.org/drawingml/2006/main">
              <a:ext uri="{FF2B5EF4-FFF2-40B4-BE49-F238E27FC236}">
                <a16:creationId xmlns:a16="http://schemas.microsoft.com/office/drawing/2014/main" id="{1007B721-538F-46F6-A81E-3906F86FDEEA}"/>
              </a:ext>
            </a:extLst>
          </p:cNvPr>
          <p:cNvPicPr>
            <a:picLocks xmlns:a="http://schemas.openxmlformats.org/drawingml/2006/main" noChangeAspect="1"/>
          </p:cNvPicPr>
          <p:nvPr/>
        </p:nvPicPr>
        <p:blipFill>
          <a:blip xmlns:r="http://schemas.openxmlformats.org/officeDocument/2006/relationships" xmlns:a="http://schemas.openxmlformats.org/drawingml/2006/main" r:embed="R4bd9d50ef2fc49bc"/>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BB87B85-017F-4864-9C5B-E00EE01E427B}"/>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D01984E7-73D1-47B3-86D5-73288D1881C6}"/>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Keep both existing confirmation choices and the distinct close action. Never auto-finish after a PASS or a Resolve event.</a:t>
            </a:r>
          </a:p>
        </p:txBody>
      </p:sp>
      <p:sp>
        <p:nvSpPr>
          <p:cNvPr id="14" name="">
            <a:extLst xmlns:a="http://schemas.openxmlformats.org/drawingml/2006/main">
              <a:ext uri="{FF2B5EF4-FFF2-40B4-BE49-F238E27FC236}">
                <a16:creationId xmlns:a16="http://schemas.microsoft.com/office/drawing/2014/main" id="{7C5B73B7-AF82-4509-AAD4-4235B1FBC7C6}"/>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A07089E3-6EF7-471F-84C3-964F819ABB38}"/>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12 / 23</a:t>
            </a:r>
          </a:p>
        </p:txBody>
      </p:sp>
    </p:spTree>
    <p:extLst>
      <p:ext uri="{BB962C8B-B14F-4D97-AF65-F5344CB8AC3E}">
        <p14:creationId xmlns:p14="http://schemas.microsoft.com/office/powerpoint/2010/main" val="339451845"/>
      </p:ext>
    </p:extLst>
  </p:cSld>
</p:sld>
</file>

<file path=ppt/slides/slide13.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8FEB796-2E4F-417A-AE94-53533018692A}"/>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13  The completed spec</a:t>
            </a:r>
          </a:p>
        </p:txBody>
      </p:sp>
      <p:sp>
        <p:nvSpPr>
          <p:cNvPr id="2" name="">
            <a:extLst xmlns:a="http://schemas.openxmlformats.org/drawingml/2006/main">
              <a:ext uri="{FF2B5EF4-FFF2-40B4-BE49-F238E27FC236}">
                <a16:creationId xmlns:a16="http://schemas.microsoft.com/office/drawing/2014/main" id="{B4738685-1D46-4573-A29F-67FFE90849E9}"/>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D50E3D74-8847-4094-A2CD-72990523C4DD}"/>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CAD5842C-595D-496D-BFE2-63FCC0BB83F8}"/>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Completion replaces the action area with a concise recorded state. The same tabs and phase inspector remain available for inspection.</a:t>
            </a:r>
          </a:p>
        </p:txBody>
      </p:sp>
      <p:sp>
        <p:nvSpPr>
          <p:cNvPr id="5" name="">
            <a:extLst xmlns:a="http://schemas.openxmlformats.org/drawingml/2006/main">
              <a:ext uri="{FF2B5EF4-FFF2-40B4-BE49-F238E27FC236}">
                <a16:creationId xmlns:a16="http://schemas.microsoft.com/office/drawing/2014/main" id="{7812613D-53E9-4230-B288-A90E8ED02911}"/>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CBA3B27F-3DE7-464F-8647-AA40C869D1A5}"/>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Read the review, task evidence or feedback history. Existing navigation provides the route back to other library items.</a:t>
            </a:r>
          </a:p>
        </p:txBody>
      </p:sp>
      <p:sp>
        <p:nvSpPr>
          <p:cNvPr id="7" name="">
            <a:extLst xmlns:a="http://schemas.openxmlformats.org/drawingml/2006/main">
              <a:ext uri="{FF2B5EF4-FFF2-40B4-BE49-F238E27FC236}">
                <a16:creationId xmlns:a16="http://schemas.microsoft.com/office/drawing/2014/main" id="{C1E16446-8042-4901-AB35-D660FF847D9C}"/>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45F03479-9268-40BD-84D7-9C15F9D94F32}"/>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One completion heading communicates the outcome. Repeated green badges and inactive approval buttons add no useful information.</a:t>
            </a:r>
          </a:p>
        </p:txBody>
      </p:sp>
      <p:sp>
        <p:nvSpPr>
          <p:cNvPr id="9" name="">
            <a:extLst xmlns:a="http://schemas.openxmlformats.org/drawingml/2006/main">
              <a:ext uri="{FF2B5EF4-FFF2-40B4-BE49-F238E27FC236}">
                <a16:creationId xmlns:a16="http://schemas.microsoft.com/office/drawing/2014/main" id="{78727233-7568-477B-A2C0-620EA98435A1}"/>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EA682777-11A3-4A55-B908-320C23CA1755}"/>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Focus lands on the completion heading after a successful response. Read-only history retains text selection and document navigation.</a:t>
            </a:r>
          </a:p>
        </p:txBody>
      </p:sp>
      <p:pic>
        <p:nvPicPr>
          <p:cNvPr id="11" name="">
            <a:extLst xmlns:a="http://schemas.openxmlformats.org/drawingml/2006/main">
              <a:ext uri="{FF2B5EF4-FFF2-40B4-BE49-F238E27FC236}">
                <a16:creationId xmlns:a16="http://schemas.microsoft.com/office/drawing/2014/main" id="{552F8B50-5531-4351-93B1-AE808474D46E}"/>
              </a:ext>
            </a:extLst>
          </p:cNvPr>
          <p:cNvPicPr>
            <a:picLocks xmlns:a="http://schemas.openxmlformats.org/drawingml/2006/main" noChangeAspect="1"/>
          </p:cNvPicPr>
          <p:nvPr/>
        </p:nvPicPr>
        <p:blipFill>
          <a:blip xmlns:r="http://schemas.openxmlformats.org/officeDocument/2006/relationships" xmlns:a="http://schemas.openxmlformats.org/drawingml/2006/main" r:embed="R03d88e99f46d4bbd"/>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77D811F-F28B-4A95-83FC-3B12B7261A7E}"/>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73539FF3-6392-4FFF-823E-A4BDA0F960CE}"/>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No Reopen, duplicate item or new summary screen. Closed feedback controls stay disabled under existing rules.</a:t>
            </a:r>
          </a:p>
        </p:txBody>
      </p:sp>
      <p:sp>
        <p:nvSpPr>
          <p:cNvPr id="14" name="">
            <a:extLst xmlns:a="http://schemas.openxmlformats.org/drawingml/2006/main">
              <a:ext uri="{FF2B5EF4-FFF2-40B4-BE49-F238E27FC236}">
                <a16:creationId xmlns:a16="http://schemas.microsoft.com/office/drawing/2014/main" id="{4435C723-2C2E-49FC-AB70-E22F74CBD461}"/>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36D69CB6-99BB-46AF-A326-90FEBA0935E0}"/>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13 / 23</a:t>
            </a:r>
          </a:p>
        </p:txBody>
      </p:sp>
    </p:spTree>
    <p:extLst>
      <p:ext uri="{BB962C8B-B14F-4D97-AF65-F5344CB8AC3E}">
        <p14:creationId xmlns:p14="http://schemas.microsoft.com/office/powerpoint/2010/main" val="1438293903"/>
      </p:ext>
    </p:extLst>
  </p:cSld>
</p:sld>
</file>

<file path=ppt/slides/slide14.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1EAC3CD-355A-4580-BF18-694E84DC7F7A}"/>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14  Document feedback as a draft</a:t>
            </a:r>
          </a:p>
        </p:txBody>
      </p:sp>
      <p:sp>
        <p:nvSpPr>
          <p:cNvPr id="2" name="">
            <a:extLst xmlns:a="http://schemas.openxmlformats.org/drawingml/2006/main">
              <a:ext uri="{FF2B5EF4-FFF2-40B4-BE49-F238E27FC236}">
                <a16:creationId xmlns:a16="http://schemas.microsoft.com/office/drawing/2014/main" id="{192CEF11-A1D8-4C3D-8FBC-248E3AADEB45}"/>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F497DC4C-C258-468E-B08F-5FBA71A15D5A}"/>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8C0DD60A-DD3E-43CD-A071-C014D4DE7495}"/>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Existing session, round and file controls form a compact toolbar. The selected source line appears beside the comment field.</a:t>
            </a:r>
          </a:p>
        </p:txBody>
      </p:sp>
      <p:sp>
        <p:nvSpPr>
          <p:cNvPr id="5" name="">
            <a:extLst xmlns:a="http://schemas.openxmlformats.org/drawingml/2006/main">
              <a:ext uri="{FF2B5EF4-FFF2-40B4-BE49-F238E27FC236}">
                <a16:creationId xmlns:a16="http://schemas.microsoft.com/office/drawing/2014/main" id="{031DC5DD-BC40-47A2-804A-939F1AA28993}"/>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2BAF8233-A764-4BDE-B4E2-8002219DB874}"/>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Select the existing anchor, write the comment and Save draft comment. Submit feedback stays a separate action after the comment is saved.</a:t>
            </a:r>
          </a:p>
        </p:txBody>
      </p:sp>
      <p:sp>
        <p:nvSpPr>
          <p:cNvPr id="7" name="">
            <a:extLst xmlns:a="http://schemas.openxmlformats.org/drawingml/2006/main">
              <a:ext uri="{FF2B5EF4-FFF2-40B4-BE49-F238E27FC236}">
                <a16:creationId xmlns:a16="http://schemas.microsoft.com/office/drawing/2014/main" id="{45B0F691-3EFB-400E-B52C-A8382462BC20}"/>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964B16E0-8193-401F-A923-28EB3EEFC17B}"/>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 two-column source and discussion arrangement shortens eye movement. Scope and draft state stay visible near the action.</a:t>
            </a:r>
          </a:p>
        </p:txBody>
      </p:sp>
      <p:sp>
        <p:nvSpPr>
          <p:cNvPr id="9" name="">
            <a:extLst xmlns:a="http://schemas.openxmlformats.org/drawingml/2006/main">
              <a:ext uri="{FF2B5EF4-FFF2-40B4-BE49-F238E27FC236}">
                <a16:creationId xmlns:a16="http://schemas.microsoft.com/office/drawing/2014/main" id="{A948B9A0-A705-41B3-BF20-BDD766EABD17}"/>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9D033555-83C2-46E2-86D4-2D429AC16808}"/>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Selection gains a blue line highlight. The save response says Draft saved, then the same Submit feedback control gains visual priority.</a:t>
            </a:r>
          </a:p>
        </p:txBody>
      </p:sp>
      <p:pic>
        <p:nvPicPr>
          <p:cNvPr id="11" name="">
            <a:extLst xmlns:a="http://schemas.openxmlformats.org/drawingml/2006/main">
              <a:ext uri="{FF2B5EF4-FFF2-40B4-BE49-F238E27FC236}">
                <a16:creationId xmlns:a16="http://schemas.microsoft.com/office/drawing/2014/main" id="{99DB5630-557F-4F18-8A43-69D2AA3E1D4B}"/>
              </a:ext>
            </a:extLst>
          </p:cNvPr>
          <p:cNvPicPr>
            <a:picLocks xmlns:a="http://schemas.openxmlformats.org/drawingml/2006/main" noChangeAspect="1"/>
          </p:cNvPicPr>
          <p:nvPr/>
        </p:nvPicPr>
        <p:blipFill>
          <a:blip xmlns:r="http://schemas.openxmlformats.org/officeDocument/2006/relationships" xmlns:a="http://schemas.openxmlformats.org/drawingml/2006/main" r:embed="R86aa55381f94451f"/>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ECDCBEA9-B911-4B56-B9CD-FE9556D2B5A8}"/>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C04667AB-FABF-4DF8-8125-C75059C07604}"/>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Keep comment and submit as separate existing requests. Local input is not a submitted batch. No combined Save and send action.</a:t>
            </a:r>
          </a:p>
        </p:txBody>
      </p:sp>
      <p:sp>
        <p:nvSpPr>
          <p:cNvPr id="14" name="">
            <a:extLst xmlns:a="http://schemas.openxmlformats.org/drawingml/2006/main">
              <a:ext uri="{FF2B5EF4-FFF2-40B4-BE49-F238E27FC236}">
                <a16:creationId xmlns:a16="http://schemas.microsoft.com/office/drawing/2014/main" id="{B73E4248-A5B0-4504-BEA5-8B78E7559854}"/>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4E6302A3-2628-4BC4-AA1A-F8330A7C6313}"/>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14 / 23</a:t>
            </a:r>
          </a:p>
        </p:txBody>
      </p:sp>
    </p:spTree>
    <p:extLst>
      <p:ext uri="{BB962C8B-B14F-4D97-AF65-F5344CB8AC3E}">
        <p14:creationId xmlns:p14="http://schemas.microsoft.com/office/powerpoint/2010/main" val="1754077265"/>
      </p:ext>
    </p:extLst>
  </p:cSld>
</p:sld>
</file>

<file path=ppt/slides/slide15.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3C200F8-701B-4CD1-8E4A-378748CA9486}"/>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15  A revised code diff and thread resolution</a:t>
            </a:r>
          </a:p>
        </p:txBody>
      </p:sp>
      <p:sp>
        <p:nvSpPr>
          <p:cNvPr id="2" name="">
            <a:extLst xmlns:a="http://schemas.openxmlformats.org/drawingml/2006/main">
              <a:ext uri="{FF2B5EF4-FFF2-40B4-BE49-F238E27FC236}">
                <a16:creationId xmlns:a16="http://schemas.microsoft.com/office/drawing/2014/main" id="{685C5896-E372-4A95-9C29-3ED6BA1612B1}"/>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678299AF-49DC-492E-AFC6-4B5718BD226A}"/>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EFD9F855-3AFD-4B32-9A6D-33A16B022A3F}"/>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round selector points to the newest round. Before and After remain available. The thread and agent response sit beside the source.</a:t>
            </a:r>
          </a:p>
        </p:txBody>
      </p:sp>
      <p:sp>
        <p:nvSpPr>
          <p:cNvPr id="5" name="">
            <a:extLst xmlns:a="http://schemas.openxmlformats.org/drawingml/2006/main">
              <a:ext uri="{FF2B5EF4-FFF2-40B4-BE49-F238E27FC236}">
                <a16:creationId xmlns:a16="http://schemas.microsoft.com/office/drawing/2014/main" id="{BCA37CB1-C7E3-420E-9419-85CF7886270E}"/>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78BBE261-4C3F-48F1-B8FC-57D7D71920B9}"/>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Inspect the revised lines, then use that thread’s Resolve button. Resolve each remaining thread independently.</a:t>
            </a:r>
          </a:p>
        </p:txBody>
      </p:sp>
      <p:sp>
        <p:nvSpPr>
          <p:cNvPr id="7" name="">
            <a:extLst xmlns:a="http://schemas.openxmlformats.org/drawingml/2006/main">
              <a:ext uri="{FF2B5EF4-FFF2-40B4-BE49-F238E27FC236}">
                <a16:creationId xmlns:a16="http://schemas.microsoft.com/office/drawing/2014/main" id="{D4012D69-30C5-4309-BCBC-CE0B5A73D4AF}"/>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C02666B3-91A5-4020-A18A-1878C43070E7}"/>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source and discussion share a visual baseline. The user sees what changed and why without moving across several stacked panels.</a:t>
            </a:r>
          </a:p>
        </p:txBody>
      </p:sp>
      <p:sp>
        <p:nvSpPr>
          <p:cNvPr id="9" name="">
            <a:extLst xmlns:a="http://schemas.openxmlformats.org/drawingml/2006/main">
              <a:ext uri="{FF2B5EF4-FFF2-40B4-BE49-F238E27FC236}">
                <a16:creationId xmlns:a16="http://schemas.microsoft.com/office/drawing/2014/main" id="{BFB5F917-DFF6-4B3F-91EC-592A24066B67}"/>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6EA7E27D-3B85-4C19-A0E3-53915F6D6083}"/>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 successful response changes Unresolved to Resolved and disables its action. Original anchors and submitted batches remain accessible.</a:t>
            </a:r>
          </a:p>
        </p:txBody>
      </p:sp>
      <p:pic>
        <p:nvPicPr>
          <p:cNvPr id="11" name="">
            <a:extLst xmlns:a="http://schemas.openxmlformats.org/drawingml/2006/main">
              <a:ext uri="{FF2B5EF4-FFF2-40B4-BE49-F238E27FC236}">
                <a16:creationId xmlns:a16="http://schemas.microsoft.com/office/drawing/2014/main" id="{9F0BA8A5-3B86-41C9-85FE-9545943B880A}"/>
              </a:ext>
            </a:extLst>
          </p:cNvPr>
          <p:cNvPicPr>
            <a:picLocks xmlns:a="http://schemas.openxmlformats.org/drawingml/2006/main" noChangeAspect="1"/>
          </p:cNvPicPr>
          <p:nvPr/>
        </p:nvPicPr>
        <p:blipFill>
          <a:blip xmlns:r="http://schemas.openxmlformats.org/officeDocument/2006/relationships" xmlns:a="http://schemas.openxmlformats.org/drawingml/2006/main" r:embed="R6dc3543cab8f4c3b"/>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2130200-7B33-48D8-A3DB-88D65DA1E9E9}"/>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CD50F738-D2D0-4F57-917D-0FBF69FEEDAE}"/>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Do not claim auto-delivery or agent presence. An idle agent needs a prompt. Resolve grants no approval, Start or Finish permission.</a:t>
            </a:r>
          </a:p>
        </p:txBody>
      </p:sp>
      <p:sp>
        <p:nvSpPr>
          <p:cNvPr id="14" name="">
            <a:extLst xmlns:a="http://schemas.openxmlformats.org/drawingml/2006/main">
              <a:ext uri="{FF2B5EF4-FFF2-40B4-BE49-F238E27FC236}">
                <a16:creationId xmlns:a16="http://schemas.microsoft.com/office/drawing/2014/main" id="{C1648556-7A84-4D8B-9040-A90803976845}"/>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5C43FAE1-F318-4F32-9314-4DDD3A34F21D}"/>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15 / 23</a:t>
            </a:r>
          </a:p>
        </p:txBody>
      </p:sp>
    </p:spTree>
    <p:extLst>
      <p:ext uri="{BB962C8B-B14F-4D97-AF65-F5344CB8AC3E}">
        <p14:creationId xmlns:p14="http://schemas.microsoft.com/office/powerpoint/2010/main" val="420015944"/>
      </p:ext>
    </p:extLst>
  </p:cSld>
</p:sld>
</file>

<file path=ppt/slides/slide16.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AC31863-D636-4088-BF19-E9121B3CE411}"/>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16  A stale feedback anchor</a:t>
            </a:r>
          </a:p>
        </p:txBody>
      </p:sp>
      <p:sp>
        <p:nvSpPr>
          <p:cNvPr id="2" name="">
            <a:extLst xmlns:a="http://schemas.openxmlformats.org/drawingml/2006/main">
              <a:ext uri="{FF2B5EF4-FFF2-40B4-BE49-F238E27FC236}">
                <a16:creationId xmlns:a16="http://schemas.microsoft.com/office/drawing/2014/main" id="{E6774771-4182-4E34-80C2-28F0A683EE25}"/>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E10659F4-B4AF-41DF-BDDD-70635D609008}"/>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D12849E4-58C7-4FCF-9681-18C005A9C685}"/>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stale status labels the thread. The latest open round and new selected source line remain visible beside it.</a:t>
            </a:r>
          </a:p>
        </p:txBody>
      </p:sp>
      <p:sp>
        <p:nvSpPr>
          <p:cNvPr id="5" name="">
            <a:extLst xmlns:a="http://schemas.openxmlformats.org/drawingml/2006/main">
              <a:ext uri="{FF2B5EF4-FFF2-40B4-BE49-F238E27FC236}">
                <a16:creationId xmlns:a16="http://schemas.microsoft.com/office/drawing/2014/main" id="{35E4E92E-F4FD-46B3-8EA8-3BA81AB0D42D}"/>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0C268F55-B934-4595-8922-A807784F91A9}"/>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Select the new anchor, choose Reattach to selected anchor, then Submit feedback. These remain two separate recorded actions.</a:t>
            </a:r>
          </a:p>
        </p:txBody>
      </p:sp>
      <p:sp>
        <p:nvSpPr>
          <p:cNvPr id="7" name="">
            <a:extLst xmlns:a="http://schemas.openxmlformats.org/drawingml/2006/main">
              <a:ext uri="{FF2B5EF4-FFF2-40B4-BE49-F238E27FC236}">
                <a16:creationId xmlns:a16="http://schemas.microsoft.com/office/drawing/2014/main" id="{E9CD49C2-CF59-46C6-8D25-D6B93EF48E53}"/>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20EEDE91-9302-443F-92C3-F679FF531154}"/>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Context, selection and the recovery action stay together. A stale comment does not disappear into a generic error message.</a:t>
            </a:r>
          </a:p>
        </p:txBody>
      </p:sp>
      <p:sp>
        <p:nvSpPr>
          <p:cNvPr id="9" name="">
            <a:extLst xmlns:a="http://schemas.openxmlformats.org/drawingml/2006/main">
              <a:ext uri="{FF2B5EF4-FFF2-40B4-BE49-F238E27FC236}">
                <a16:creationId xmlns:a16="http://schemas.microsoft.com/office/drawing/2014/main" id="{4481DB27-1466-48E1-8F25-32EF986D888B}"/>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3280D616-B945-4C87-8253-9101C90E4702}"/>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Announce Reattachment saved as a draft. Visual priority then moves to the existing Submit feedback control, after a successful response.</a:t>
            </a:r>
          </a:p>
        </p:txBody>
      </p:sp>
      <p:pic>
        <p:nvPicPr>
          <p:cNvPr id="11" name="">
            <a:extLst xmlns:a="http://schemas.openxmlformats.org/drawingml/2006/main">
              <a:ext uri="{FF2B5EF4-FFF2-40B4-BE49-F238E27FC236}">
                <a16:creationId xmlns:a16="http://schemas.microsoft.com/office/drawing/2014/main" id="{E71241EA-C2F8-4ACA-A582-0959086A2643}"/>
              </a:ext>
            </a:extLst>
          </p:cNvPr>
          <p:cNvPicPr>
            <a:picLocks xmlns:a="http://schemas.openxmlformats.org/drawingml/2006/main" noChangeAspect="1"/>
          </p:cNvPicPr>
          <p:nvPr/>
        </p:nvPicPr>
        <p:blipFill>
          <a:blip xmlns:r="http://schemas.openxmlformats.org/officeDocument/2006/relationships" xmlns:a="http://schemas.openxmlformats.org/drawingml/2006/main" r:embed="Raa29ef7e14f94a27"/>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64D708A-2A46-4DB1-8B1C-909EC31F8540}"/>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CEDE029C-3E7C-421C-B5D1-95CB8F9C8E01}"/>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Never infer or silently move an anchor. A sealed round requires an agent-published new round. Preserve View original anchor.</a:t>
            </a:r>
          </a:p>
        </p:txBody>
      </p:sp>
      <p:sp>
        <p:nvSpPr>
          <p:cNvPr id="14" name="">
            <a:extLst xmlns:a="http://schemas.openxmlformats.org/drawingml/2006/main">
              <a:ext uri="{FF2B5EF4-FFF2-40B4-BE49-F238E27FC236}">
                <a16:creationId xmlns:a16="http://schemas.microsoft.com/office/drawing/2014/main" id="{DB4AD152-59B2-4EEB-9BB6-D956103CD5DF}"/>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1BE12CF1-262D-4215-9834-15577D994613}"/>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16 / 23</a:t>
            </a:r>
          </a:p>
        </p:txBody>
      </p:sp>
    </p:spTree>
    <p:extLst>
      <p:ext uri="{BB962C8B-B14F-4D97-AF65-F5344CB8AC3E}">
        <p14:creationId xmlns:p14="http://schemas.microsoft.com/office/powerpoint/2010/main" val="465220360"/>
      </p:ext>
    </p:extLst>
  </p:cSld>
</p:sld>
</file>

<file path=ppt/slides/slide17.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B89BCF6-3071-48E7-B4B1-91791C8E07D5}"/>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17  A feedback revision conflict</a:t>
            </a:r>
          </a:p>
        </p:txBody>
      </p:sp>
      <p:sp>
        <p:nvSpPr>
          <p:cNvPr id="2" name="">
            <a:extLst xmlns:a="http://schemas.openxmlformats.org/drawingml/2006/main">
              <a:ext uri="{FF2B5EF4-FFF2-40B4-BE49-F238E27FC236}">
                <a16:creationId xmlns:a16="http://schemas.microsoft.com/office/drawing/2014/main" id="{0B30A328-BCF5-439B-AAF1-006131AEDE17}"/>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AA3008B8-AEA5-4113-8428-228A925D6F92}"/>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9D415B84-F6DC-4C8A-A720-F6075A061E33}"/>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feedback error sits next to the comment field. The selected source and retained text stay visible.</a:t>
            </a:r>
          </a:p>
        </p:txBody>
      </p:sp>
      <p:sp>
        <p:nvSpPr>
          <p:cNvPr id="5" name="">
            <a:extLst xmlns:a="http://schemas.openxmlformats.org/drawingml/2006/main">
              <a:ext uri="{FF2B5EF4-FFF2-40B4-BE49-F238E27FC236}">
                <a16:creationId xmlns:a16="http://schemas.microsoft.com/office/drawing/2014/main" id="{A6A13719-5E75-4BFC-BEFE-8E61F81F1D9F}"/>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807CAFB2-C935-4799-8ED3-DAD041E3B974}"/>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Refresh feedback, inspect the current round and retry the intended existing action. Keep the draft and the spec owner controls separate.</a:t>
            </a:r>
          </a:p>
        </p:txBody>
      </p:sp>
      <p:sp>
        <p:nvSpPr>
          <p:cNvPr id="7" name="">
            <a:extLst xmlns:a="http://schemas.openxmlformats.org/drawingml/2006/main">
              <a:ext uri="{FF2B5EF4-FFF2-40B4-BE49-F238E27FC236}">
                <a16:creationId xmlns:a16="http://schemas.microsoft.com/office/drawing/2014/main" id="{4A3DB6C1-AA48-42BC-B6D6-2AD1A3A549A0}"/>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579ACB6B-88FB-4F28-96B7-3401E3067966}"/>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 specific recovery instruction replaces a broad red banner. Draft retention avoids retyping and makes the interrupted work recoverable.</a:t>
            </a:r>
          </a:p>
        </p:txBody>
      </p:sp>
      <p:sp>
        <p:nvSpPr>
          <p:cNvPr id="9" name="">
            <a:extLst xmlns:a="http://schemas.openxmlformats.org/drawingml/2006/main">
              <a:ext uri="{FF2B5EF4-FFF2-40B4-BE49-F238E27FC236}">
                <a16:creationId xmlns:a16="http://schemas.microsoft.com/office/drawing/2014/main" id="{E667F083-AD96-47EF-B910-EEAEA055BE54}"/>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095E9C93-70F2-4096-80AE-B50889377DD3}"/>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Focus the error announcement without erasing the draft. Show a busy refresh state and update source selection deliberately.</a:t>
            </a:r>
          </a:p>
        </p:txBody>
      </p:sp>
      <p:pic>
        <p:nvPicPr>
          <p:cNvPr id="11" name="">
            <a:extLst xmlns:a="http://schemas.openxmlformats.org/drawingml/2006/main">
              <a:ext uri="{FF2B5EF4-FFF2-40B4-BE49-F238E27FC236}">
                <a16:creationId xmlns:a16="http://schemas.microsoft.com/office/drawing/2014/main" id="{DF518934-31D1-49BF-83FE-C7FAEBEF53D9}"/>
              </a:ext>
            </a:extLst>
          </p:cNvPr>
          <p:cNvPicPr>
            <a:picLocks xmlns:a="http://schemas.openxmlformats.org/drawingml/2006/main" noChangeAspect="1"/>
          </p:cNvPicPr>
          <p:nvPr/>
        </p:nvPicPr>
        <p:blipFill>
          <a:blip xmlns:r="http://schemas.openxmlformats.org/officeDocument/2006/relationships" xmlns:a="http://schemas.openxmlformats.org/drawingml/2006/main" r:embed="R5ecb4c70805142db"/>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39FB2376-D7DC-49C9-BC57-E75ABB0E015B}"/>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6F8E550B-D8C4-4CB7-9E77-4281DB9E9321}"/>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Retain the existing operation identity and revision checks. Do not automatically resend, submit a new batch or reattach after conflict.</a:t>
            </a:r>
          </a:p>
        </p:txBody>
      </p:sp>
      <p:sp>
        <p:nvSpPr>
          <p:cNvPr id="14" name="">
            <a:extLst xmlns:a="http://schemas.openxmlformats.org/drawingml/2006/main">
              <a:ext uri="{FF2B5EF4-FFF2-40B4-BE49-F238E27FC236}">
                <a16:creationId xmlns:a16="http://schemas.microsoft.com/office/drawing/2014/main" id="{F18FAF06-8ADC-41FD-8FB5-1E2823D75273}"/>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FB08D1B2-76C6-4657-A153-63F355232062}"/>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17 / 23</a:t>
            </a:r>
          </a:p>
        </p:txBody>
      </p:sp>
    </p:spTree>
    <p:extLst>
      <p:ext uri="{BB962C8B-B14F-4D97-AF65-F5344CB8AC3E}">
        <p14:creationId xmlns:p14="http://schemas.microsoft.com/office/powerpoint/2010/main" val="329105346"/>
      </p:ext>
    </p:extLst>
  </p:cSld>
</p:sld>
</file>

<file path=ppt/slides/slide18.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24FC089-8ABC-42B5-82AA-E09EEC85278A}"/>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18  An owner action revision conflict</a:t>
            </a:r>
          </a:p>
        </p:txBody>
      </p:sp>
      <p:sp>
        <p:nvSpPr>
          <p:cNvPr id="2" name="">
            <a:extLst xmlns:a="http://schemas.openxmlformats.org/drawingml/2006/main">
              <a:ext uri="{FF2B5EF4-FFF2-40B4-BE49-F238E27FC236}">
                <a16:creationId xmlns:a16="http://schemas.microsoft.com/office/drawing/2014/main" id="{F21686F7-D766-4B78-B8BA-F29EBD67D1F6}"/>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A43ED7EC-58E9-4B4B-8247-E9623E2E86AF}"/>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5C363F91-4B39-4D57-AB72-AB352E61F9D6}"/>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owner error and Refresh control sit directly beside the owner action area. The attempted action remains understandable.</a:t>
            </a:r>
          </a:p>
        </p:txBody>
      </p:sp>
      <p:sp>
        <p:nvSpPr>
          <p:cNvPr id="5" name="">
            <a:extLst xmlns:a="http://schemas.openxmlformats.org/drawingml/2006/main">
              <a:ext uri="{FF2B5EF4-FFF2-40B4-BE49-F238E27FC236}">
                <a16:creationId xmlns:a16="http://schemas.microsoft.com/office/drawing/2014/main" id="{F531F4F7-9256-468C-928C-A115204ECD1B}"/>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18F2E626-9377-459C-94E8-F66B8395CFC5}"/>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Refresh the spec, reread changed content, then deliberately repeat the eligible action if it is still appropriate.</a:t>
            </a:r>
          </a:p>
        </p:txBody>
      </p:sp>
      <p:sp>
        <p:nvSpPr>
          <p:cNvPr id="7" name="">
            <a:extLst xmlns:a="http://schemas.openxmlformats.org/drawingml/2006/main">
              <a:ext uri="{FF2B5EF4-FFF2-40B4-BE49-F238E27FC236}">
                <a16:creationId xmlns:a16="http://schemas.microsoft.com/office/drawing/2014/main" id="{18F367D3-7E0E-4BC2-9FAE-9F109903B701}"/>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C2355ECD-E2C8-4B03-B485-EA5DA2841125}"/>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Recovery lives at the point of interruption. The UI makes no claim that permission exists when the server refused the write.</a:t>
            </a:r>
          </a:p>
        </p:txBody>
      </p:sp>
      <p:sp>
        <p:nvSpPr>
          <p:cNvPr id="9" name="">
            <a:extLst xmlns:a="http://schemas.openxmlformats.org/drawingml/2006/main">
              <a:ext uri="{FF2B5EF4-FFF2-40B4-BE49-F238E27FC236}">
                <a16:creationId xmlns:a16="http://schemas.microsoft.com/office/drawing/2014/main" id="{46D7CECE-2C56-4B2A-A45C-59A57422E4D1}"/>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16018946-F8D3-4A86-B110-1E3C949DA22E}"/>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Focus the error. Disable duplicate requests while refreshing. Restore an action only from the new workflow response.</a:t>
            </a:r>
          </a:p>
        </p:txBody>
      </p:sp>
      <p:pic>
        <p:nvPicPr>
          <p:cNvPr id="11" name="">
            <a:extLst xmlns:a="http://schemas.openxmlformats.org/drawingml/2006/main">
              <a:ext uri="{FF2B5EF4-FFF2-40B4-BE49-F238E27FC236}">
                <a16:creationId xmlns:a16="http://schemas.microsoft.com/office/drawing/2014/main" id="{C80065DC-F5BC-42EC-BE13-5C00AF3C7269}"/>
              </a:ext>
            </a:extLst>
          </p:cNvPr>
          <p:cNvPicPr>
            <a:picLocks xmlns:a="http://schemas.openxmlformats.org/drawingml/2006/main" noChangeAspect="1"/>
          </p:cNvPicPr>
          <p:nvPr/>
        </p:nvPicPr>
        <p:blipFill>
          <a:blip xmlns:r="http://schemas.openxmlformats.org/officeDocument/2006/relationships" xmlns:a="http://schemas.openxmlformats.org/drawingml/2006/main" r:embed="R19690b5cbda74765"/>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FA5D9E5-E944-428F-A191-075AC2907EB0}"/>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A6F3F6A5-7642-4DB3-B948-E1FF7E34B875}"/>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Never advance optimistically or auto-retry approval. Keep expected_revision, plan identity and all server eligibility rules unchanged.</a:t>
            </a:r>
          </a:p>
        </p:txBody>
      </p:sp>
      <p:sp>
        <p:nvSpPr>
          <p:cNvPr id="14" name="">
            <a:extLst xmlns:a="http://schemas.openxmlformats.org/drawingml/2006/main">
              <a:ext uri="{FF2B5EF4-FFF2-40B4-BE49-F238E27FC236}">
                <a16:creationId xmlns:a16="http://schemas.microsoft.com/office/drawing/2014/main" id="{D88A0FC3-6067-43E5-90EC-E34D43B9EE05}"/>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F471D401-A34E-406A-8173-E8473B9D3709}"/>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18 / 23</a:t>
            </a:r>
          </a:p>
        </p:txBody>
      </p:sp>
    </p:spTree>
    <p:extLst>
      <p:ext uri="{BB962C8B-B14F-4D97-AF65-F5344CB8AC3E}">
        <p14:creationId xmlns:p14="http://schemas.microsoft.com/office/powerpoint/2010/main" val="599919959"/>
      </p:ext>
    </p:extLst>
  </p:cSld>
</p:sld>
</file>

<file path=ppt/slides/slide19.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B5459C7-AD66-4067-B579-D0829F42568C}"/>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19  A recorded action with pending audit recovery</a:t>
            </a:r>
          </a:p>
        </p:txBody>
      </p:sp>
      <p:sp>
        <p:nvSpPr>
          <p:cNvPr id="2" name="">
            <a:extLst xmlns:a="http://schemas.openxmlformats.org/drawingml/2006/main">
              <a:ext uri="{FF2B5EF4-FFF2-40B4-BE49-F238E27FC236}">
                <a16:creationId xmlns:a16="http://schemas.microsoft.com/office/drawing/2014/main" id="{B6FC378A-B174-4581-B90E-9813C005EE32}"/>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80ACBC58-8AB6-4E28-BDF5-CA68F3C23D04}"/>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99692EF4-80B6-4E52-BFB4-449188B832DE}"/>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audit_pending message appears beneath the recorded permission state. Task content remains available.</a:t>
            </a:r>
          </a:p>
        </p:txBody>
      </p:sp>
      <p:sp>
        <p:nvSpPr>
          <p:cNvPr id="5" name="">
            <a:extLst xmlns:a="http://schemas.openxmlformats.org/drawingml/2006/main">
              <a:ext uri="{FF2B5EF4-FFF2-40B4-BE49-F238E27FC236}">
                <a16:creationId xmlns:a16="http://schemas.microsoft.com/office/drawing/2014/main" id="{D4C68516-B8F9-4DDB-80AD-C75CD0DC0881}"/>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1FB01172-FC93-4B85-AC57-9ED0F51C3D1D}"/>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Read the state and refresh after recovery. The owner does not repeat an action that already landed.</a:t>
            </a:r>
          </a:p>
        </p:txBody>
      </p:sp>
      <p:sp>
        <p:nvSpPr>
          <p:cNvPr id="7" name="">
            <a:extLst xmlns:a="http://schemas.openxmlformats.org/drawingml/2006/main">
              <a:ext uri="{FF2B5EF4-FFF2-40B4-BE49-F238E27FC236}">
                <a16:creationId xmlns:a16="http://schemas.microsoft.com/office/drawing/2014/main" id="{8DD4324A-4C61-4891-8888-F5AF57E8E20B}"/>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EB14BC4F-6811-4B6F-88BB-F51F0AF07ACD}"/>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UI distinguishes a durable receipt from a journal problem. A quiet amber message prevents a second approval prompted by uncertainty.</a:t>
            </a:r>
          </a:p>
        </p:txBody>
      </p:sp>
      <p:sp>
        <p:nvSpPr>
          <p:cNvPr id="9" name="">
            <a:extLst xmlns:a="http://schemas.openxmlformats.org/drawingml/2006/main">
              <a:ext uri="{FF2B5EF4-FFF2-40B4-BE49-F238E27FC236}">
                <a16:creationId xmlns:a16="http://schemas.microsoft.com/office/drawing/2014/main" id="{F219DCB1-7866-4ED4-BC96-9A9161549A2E}"/>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6447D2A7-131C-483D-BF9D-BDD1EE7CB028}"/>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Present the actual pending-entry count only when returned. Announce the recorded action, then the outstanding recovery status.</a:t>
            </a:r>
          </a:p>
        </p:txBody>
      </p:sp>
      <p:pic>
        <p:nvPicPr>
          <p:cNvPr id="11" name="">
            <a:extLst xmlns:a="http://schemas.openxmlformats.org/drawingml/2006/main">
              <a:ext uri="{FF2B5EF4-FFF2-40B4-BE49-F238E27FC236}">
                <a16:creationId xmlns:a16="http://schemas.microsoft.com/office/drawing/2014/main" id="{EBD9D2F8-58A6-4BA4-B545-9C76D8999F4F}"/>
              </a:ext>
            </a:extLst>
          </p:cNvPr>
          <p:cNvPicPr>
            <a:picLocks xmlns:a="http://schemas.openxmlformats.org/drawingml/2006/main" noChangeAspect="1"/>
          </p:cNvPicPr>
          <p:nvPr/>
        </p:nvPicPr>
        <p:blipFill>
          <a:blip xmlns:r="http://schemas.openxmlformats.org/officeDocument/2006/relationships" xmlns:a="http://schemas.openxmlformats.org/drawingml/2006/main" r:embed="Re23956fb4aea49c8"/>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8CAFABB-826C-4AE5-8C04-4AFA93373A82}"/>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68784AC9-4A59-4FB0-91C8-3F740332D3C5}"/>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No Recover audit button or backend repair. No invented journal completion. Avoid showing Start again because an append failed.</a:t>
            </a:r>
          </a:p>
        </p:txBody>
      </p:sp>
      <p:sp>
        <p:nvSpPr>
          <p:cNvPr id="14" name="">
            <a:extLst xmlns:a="http://schemas.openxmlformats.org/drawingml/2006/main">
              <a:ext uri="{FF2B5EF4-FFF2-40B4-BE49-F238E27FC236}">
                <a16:creationId xmlns:a16="http://schemas.microsoft.com/office/drawing/2014/main" id="{6643E860-4A2A-4CCB-AB5B-29C485603C63}"/>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6D5C43A8-E2D9-4827-86CA-3E8DE523B26A}"/>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19 / 23</a:t>
            </a:r>
          </a:p>
        </p:txBody>
      </p:sp>
    </p:spTree>
    <p:extLst>
      <p:ext uri="{BB962C8B-B14F-4D97-AF65-F5344CB8AC3E}">
        <p14:creationId xmlns:p14="http://schemas.microsoft.com/office/powerpoint/2010/main" val="179155573"/>
      </p:ext>
    </p:extLst>
  </p:cSld>
</p:sld>
</file>

<file path=ppt/slides/slide20.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B2B098F-E387-47B4-84A9-62E86EECBAFC}"/>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20  Approval state unavailable</a:t>
            </a:r>
          </a:p>
        </p:txBody>
      </p:sp>
      <p:sp>
        <p:nvSpPr>
          <p:cNvPr id="2" name="">
            <a:extLst xmlns:a="http://schemas.openxmlformats.org/drawingml/2006/main">
              <a:ext uri="{FF2B5EF4-FFF2-40B4-BE49-F238E27FC236}">
                <a16:creationId xmlns:a16="http://schemas.microsoft.com/office/drawing/2014/main" id="{B30B7137-3188-4FD1-9CE2-547CA1DF7109}"/>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E053A87F-9C3E-48B4-9D62-618B2EAE42A1}"/>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DF14D3DB-65C1-45EC-84F3-544BF3770D65}"/>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unavailable state occupies the owner panel. Already available document content stays readable.</a:t>
            </a:r>
          </a:p>
        </p:txBody>
      </p:sp>
      <p:sp>
        <p:nvSpPr>
          <p:cNvPr id="5" name="">
            <a:extLst xmlns:a="http://schemas.openxmlformats.org/drawingml/2006/main">
              <a:ext uri="{FF2B5EF4-FFF2-40B4-BE49-F238E27FC236}">
                <a16:creationId xmlns:a16="http://schemas.microsoft.com/office/drawing/2014/main" id="{7C779BCD-A74C-4833-86DD-EEC29DE41E58}"/>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B074969C-7FEE-44FD-B348-D3D6CBCE3EBC}"/>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Use the existing Refresh control. Approval actions stay hidden until the workflow response has loaded consistently.</a:t>
            </a:r>
          </a:p>
        </p:txBody>
      </p:sp>
      <p:sp>
        <p:nvSpPr>
          <p:cNvPr id="7" name="">
            <a:extLst xmlns:a="http://schemas.openxmlformats.org/drawingml/2006/main">
              <a:ext uri="{FF2B5EF4-FFF2-40B4-BE49-F238E27FC236}">
                <a16:creationId xmlns:a16="http://schemas.microsoft.com/office/drawing/2014/main" id="{56E0ACD8-A478-4724-96B8-D567B0AE0540}"/>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ED418523-B604-4270-BD98-D370FB147391}"/>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message explains the interruption and offers the supported recovery path. The screen does not collapse into an empty error page.</a:t>
            </a:r>
          </a:p>
        </p:txBody>
      </p:sp>
      <p:sp>
        <p:nvSpPr>
          <p:cNvPr id="9" name="">
            <a:extLst xmlns:a="http://schemas.openxmlformats.org/drawingml/2006/main">
              <a:ext uri="{FF2B5EF4-FFF2-40B4-BE49-F238E27FC236}">
                <a16:creationId xmlns:a16="http://schemas.microsoft.com/office/drawing/2014/main" id="{FD3AC67B-821F-4273-B151-20A5BBB53523}"/>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ECBCC2DC-9FF8-4E8A-A27C-F804692911F8}"/>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Announce unavailable and refreshing states. Restore focus to the current-gate heading after a successful refresh.</a:t>
            </a:r>
          </a:p>
        </p:txBody>
      </p:sp>
      <p:pic>
        <p:nvPicPr>
          <p:cNvPr id="11" name="">
            <a:extLst xmlns:a="http://schemas.openxmlformats.org/drawingml/2006/main">
              <a:ext uri="{FF2B5EF4-FFF2-40B4-BE49-F238E27FC236}">
                <a16:creationId xmlns:a16="http://schemas.microsoft.com/office/drawing/2014/main" id="{313475F4-7D0F-4DA2-83CD-44028D04E779}"/>
              </a:ext>
            </a:extLst>
          </p:cNvPr>
          <p:cNvPicPr>
            <a:picLocks xmlns:a="http://schemas.openxmlformats.org/drawingml/2006/main" noChangeAspect="1"/>
          </p:cNvPicPr>
          <p:nvPr/>
        </p:nvPicPr>
        <p:blipFill>
          <a:blip xmlns:r="http://schemas.openxmlformats.org/officeDocument/2006/relationships" xmlns:a="http://schemas.openxmlformats.org/drawingml/2006/main" r:embed="Rb6f0580be016495d"/>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B1FC6DF-251F-435E-A352-5299E30F52FE}"/>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68E1B728-2D7C-4D39-8599-9C72BDB61410}"/>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Do not infer can_start or can_close from cached content, task counts or an old PASS. No new error screen or endpoint.</a:t>
            </a:r>
          </a:p>
        </p:txBody>
      </p:sp>
      <p:sp>
        <p:nvSpPr>
          <p:cNvPr id="14" name="">
            <a:extLst xmlns:a="http://schemas.openxmlformats.org/drawingml/2006/main">
              <a:ext uri="{FF2B5EF4-FFF2-40B4-BE49-F238E27FC236}">
                <a16:creationId xmlns:a16="http://schemas.microsoft.com/office/drawing/2014/main" id="{A011BC11-88AD-4E62-B798-D2ACDDB059AE}"/>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D58496B5-7C6D-48B4-858A-ADCDEFF2D58B}"/>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20 / 23</a:t>
            </a:r>
          </a:p>
        </p:txBody>
      </p:sp>
    </p:spTree>
    <p:extLst>
      <p:ext uri="{BB962C8B-B14F-4D97-AF65-F5344CB8AC3E}">
        <p14:creationId xmlns:p14="http://schemas.microsoft.com/office/powerpoint/2010/main" val="153748800"/>
      </p:ext>
    </p:extLst>
  </p:cSld>
</p:sld>
</file>

<file path=ppt/slides/slide21.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FA3008B-C96F-463C-80F7-6D5F3422E1BA}"/>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21  Feedback before a session exists</a:t>
            </a:r>
          </a:p>
        </p:txBody>
      </p:sp>
      <p:sp>
        <p:nvSpPr>
          <p:cNvPr id="2" name="">
            <a:extLst xmlns:a="http://schemas.openxmlformats.org/drawingml/2006/main">
              <a:ext uri="{FF2B5EF4-FFF2-40B4-BE49-F238E27FC236}">
                <a16:creationId xmlns:a16="http://schemas.microsoft.com/office/drawing/2014/main" id="{1A38DB02-64F6-4E86-AA9B-6341CD59BAE8}"/>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8365125D-E491-46B3-B2BF-F4EA0C7BF6B7}"/>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CB81A0D7-9EB9-4F54-A6E8-2E841809F49A}"/>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feedback empty state explains why no source or thread is available. Spec navigation remains visible.</a:t>
            </a:r>
          </a:p>
        </p:txBody>
      </p:sp>
      <p:sp>
        <p:nvSpPr>
          <p:cNvPr id="5" name="">
            <a:extLst xmlns:a="http://schemas.openxmlformats.org/drawingml/2006/main">
              <a:ext uri="{FF2B5EF4-FFF2-40B4-BE49-F238E27FC236}">
                <a16:creationId xmlns:a16="http://schemas.microsoft.com/office/drawing/2014/main" id="{485777A2-EFE5-4303-9102-1BDD54CABA18}"/>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F00DC61C-CBD0-4E52-B251-9B121C646777}"/>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next step is the existing agent workflow outside this browser. Refresh feedback after the agent opens the session.</a:t>
            </a:r>
          </a:p>
        </p:txBody>
      </p:sp>
      <p:sp>
        <p:nvSpPr>
          <p:cNvPr id="7" name="">
            <a:extLst xmlns:a="http://schemas.openxmlformats.org/drawingml/2006/main">
              <a:ext uri="{FF2B5EF4-FFF2-40B4-BE49-F238E27FC236}">
                <a16:creationId xmlns:a16="http://schemas.microsoft.com/office/drawing/2014/main" id="{93CB6490-C7E9-4A84-8B46-67A5111DF71A}"/>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D2152F7A-BAED-45F2-8704-E8D98EE5FB28}"/>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Clear scope avoids offering a dead comment box. The user knows that a review session must exist before leaving feedback.</a:t>
            </a:r>
          </a:p>
        </p:txBody>
      </p:sp>
      <p:sp>
        <p:nvSpPr>
          <p:cNvPr id="9" name="">
            <a:extLst xmlns:a="http://schemas.openxmlformats.org/drawingml/2006/main">
              <a:ext uri="{FF2B5EF4-FFF2-40B4-BE49-F238E27FC236}">
                <a16:creationId xmlns:a16="http://schemas.microsoft.com/office/drawing/2014/main" id="{E9891A09-ED5A-4565-8841-63CC6F317C28}"/>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9EF0E2DA-B255-4189-9C80-21C8277EF9B2}"/>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Keep the empty message stable while a refresh is pending. Show a session only when the existing state response supplies one.</a:t>
            </a:r>
          </a:p>
        </p:txBody>
      </p:sp>
      <p:pic>
        <p:nvPicPr>
          <p:cNvPr id="11" name="">
            <a:extLst xmlns:a="http://schemas.openxmlformats.org/drawingml/2006/main">
              <a:ext uri="{FF2B5EF4-FFF2-40B4-BE49-F238E27FC236}">
                <a16:creationId xmlns:a16="http://schemas.microsoft.com/office/drawing/2014/main" id="{5F94F8E8-A7AC-42DF-A9B3-E8DB6A0243EB}"/>
              </a:ext>
            </a:extLst>
          </p:cNvPr>
          <p:cNvPicPr>
            <a:picLocks xmlns:a="http://schemas.openxmlformats.org/drawingml/2006/main" noChangeAspect="1"/>
          </p:cNvPicPr>
          <p:nvPr/>
        </p:nvPicPr>
        <p:blipFill>
          <a:blip xmlns:r="http://schemas.openxmlformats.org/officeDocument/2006/relationships" xmlns:a="http://schemas.openxmlformats.org/drawingml/2006/main" r:embed="R3296de5f0a854cd4"/>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9CFD697-5E61-43E4-9CBC-B2CEE1D74586}"/>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586C275A-ABBE-4D47-B683-A7B59AB5B6C2}"/>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No Create session, agent chat composer or wake-agent action. The browser’s current feedback endpoints retain their existing scope.</a:t>
            </a:r>
          </a:p>
        </p:txBody>
      </p:sp>
      <p:sp>
        <p:nvSpPr>
          <p:cNvPr id="14" name="">
            <a:extLst xmlns:a="http://schemas.openxmlformats.org/drawingml/2006/main">
              <a:ext uri="{FF2B5EF4-FFF2-40B4-BE49-F238E27FC236}">
                <a16:creationId xmlns:a16="http://schemas.microsoft.com/office/drawing/2014/main" id="{08841723-1F06-4C58-9A88-75DC7826D716}"/>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0D196AF9-84F7-48B2-81A9-30B98700473B}"/>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21 / 23</a:t>
            </a:r>
          </a:p>
        </p:txBody>
      </p:sp>
    </p:spTree>
    <p:extLst>
      <p:ext uri="{BB962C8B-B14F-4D97-AF65-F5344CB8AC3E}">
        <p14:creationId xmlns:p14="http://schemas.microsoft.com/office/powerpoint/2010/main" val="978394483"/>
      </p:ext>
    </p:extLst>
  </p:cSld>
</p:sld>
</file>

<file path=ppt/slides/slide22.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0BE08D9-A02A-42B0-8659-37A4BCFC863F}"/>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22  The existing interview room</a:t>
            </a:r>
          </a:p>
        </p:txBody>
      </p:sp>
      <p:sp>
        <p:nvSpPr>
          <p:cNvPr id="2" name="">
            <a:extLst xmlns:a="http://schemas.openxmlformats.org/drawingml/2006/main">
              <a:ext uri="{FF2B5EF4-FFF2-40B4-BE49-F238E27FC236}">
                <a16:creationId xmlns:a16="http://schemas.microsoft.com/office/drawing/2014/main" id="{BF811BAF-80CB-4E91-9638-DE634E12B6BF}"/>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EA14C13D-3E74-4539-838A-7AA1DEA829F9}"/>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A5E17E46-9A64-40BA-AD5F-A04BA4A92A2E}"/>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dossier, focused interview and question count retain their layout roles. Choice labels use full rows with visible selection.</a:t>
            </a:r>
          </a:p>
        </p:txBody>
      </p:sp>
      <p:sp>
        <p:nvSpPr>
          <p:cNvPr id="5" name="">
            <a:extLst xmlns:a="http://schemas.openxmlformats.org/drawingml/2006/main">
              <a:ext uri="{FF2B5EF4-FFF2-40B4-BE49-F238E27FC236}">
                <a16:creationId xmlns:a16="http://schemas.microsoft.com/office/drawing/2014/main" id="{C8423070-D5C9-4068-BA72-00E668E9C8B1}"/>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E70C7E88-694A-417F-8923-5E8A07A0F429}"/>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Choose an existing option and Submit. Back and I don’t know remain secondary. Preserve the current keyboard behavior.</a:t>
            </a:r>
          </a:p>
        </p:txBody>
      </p:sp>
      <p:sp>
        <p:nvSpPr>
          <p:cNvPr id="7" name="">
            <a:extLst xmlns:a="http://schemas.openxmlformats.org/drawingml/2006/main">
              <a:ext uri="{FF2B5EF4-FFF2-40B4-BE49-F238E27FC236}">
                <a16:creationId xmlns:a16="http://schemas.microsoft.com/office/drawing/2014/main" id="{0862EE37-0185-4A46-BBDE-35948B4A4D33}"/>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060A55D3-56D0-455B-AC42-26C70220FD96}"/>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One question fills the center rather than competing with the entire spec. The selected option and submit action form one clear reading path.</a:t>
            </a:r>
          </a:p>
        </p:txBody>
      </p:sp>
      <p:sp>
        <p:nvSpPr>
          <p:cNvPr id="9" name="">
            <a:extLst xmlns:a="http://schemas.openxmlformats.org/drawingml/2006/main">
              <a:ext uri="{FF2B5EF4-FFF2-40B4-BE49-F238E27FC236}">
                <a16:creationId xmlns:a16="http://schemas.microsoft.com/office/drawing/2014/main" id="{9DE26B8E-F758-4EFE-8415-4AA970B612D5}"/>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F3041CB9-E187-4C94-A725-90C79DF9CA85}"/>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Keep 1–9 choice hints and j/k navigation. Enter submits, Shift+Enter adds a line in free text. Successful answers advance through the existing room.</a:t>
            </a:r>
          </a:p>
        </p:txBody>
      </p:sp>
      <p:pic>
        <p:nvPicPr>
          <p:cNvPr id="11" name="">
            <a:extLst xmlns:a="http://schemas.openxmlformats.org/drawingml/2006/main">
              <a:ext uri="{FF2B5EF4-FFF2-40B4-BE49-F238E27FC236}">
                <a16:creationId xmlns:a16="http://schemas.microsoft.com/office/drawing/2014/main" id="{3773BE41-0260-4BB0-968D-0D78D388FAF8}"/>
              </a:ext>
            </a:extLst>
          </p:cNvPr>
          <p:cNvPicPr>
            <a:picLocks xmlns:a="http://schemas.openxmlformats.org/drawingml/2006/main" noChangeAspect="1"/>
          </p:cNvPicPr>
          <p:nvPr/>
        </p:nvPicPr>
        <p:blipFill>
          <a:blip xmlns:r="http://schemas.openxmlformats.org/officeDocument/2006/relationships" xmlns:a="http://schemas.openxmlformats.org/drawingml/2006/main" r:embed="Rcb9b665294a845f8"/>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6E4E6FF-6E6C-413E-B755-03820A0C7409}"/>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458FBA10-1160-405B-93ED-3C376F0CA7FE}"/>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This is the existing page.html room, not a new wizard. Room approval remains separate from library Start and Finish actions.</a:t>
            </a:r>
          </a:p>
        </p:txBody>
      </p:sp>
      <p:sp>
        <p:nvSpPr>
          <p:cNvPr id="14" name="">
            <a:extLst xmlns:a="http://schemas.openxmlformats.org/drawingml/2006/main">
              <a:ext uri="{FF2B5EF4-FFF2-40B4-BE49-F238E27FC236}">
                <a16:creationId xmlns:a16="http://schemas.microsoft.com/office/drawing/2014/main" id="{C4B1D123-585B-49C7-8791-3BEA8AB8BD26}"/>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37902397-470D-4EFB-84E7-5F8F1D93599B}"/>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22 / 23</a:t>
            </a:r>
          </a:p>
        </p:txBody>
      </p:sp>
    </p:spTree>
    <p:extLst>
      <p:ext uri="{BB962C8B-B14F-4D97-AF65-F5344CB8AC3E}">
        <p14:creationId xmlns:p14="http://schemas.microsoft.com/office/powerpoint/2010/main" val="172828530"/>
      </p:ext>
    </p:extLst>
  </p:cSld>
</p:sld>
</file>

<file path=ppt/slides/slide23.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EF1D3AD-EEF3-4B94-8203-4A17E72A95A7}"/>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23  Legacy history remains read-only</a:t>
            </a:r>
          </a:p>
        </p:txBody>
      </p:sp>
      <p:sp>
        <p:nvSpPr>
          <p:cNvPr id="2" name="">
            <a:extLst xmlns:a="http://schemas.openxmlformats.org/drawingml/2006/main">
              <a:ext uri="{FF2B5EF4-FFF2-40B4-BE49-F238E27FC236}">
                <a16:creationId xmlns:a16="http://schemas.microsoft.com/office/drawing/2014/main" id="{A994338B-9EB5-4608-B6C1-6CDE64A32DCC}"/>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C80241C7-E96A-4EBB-B926-2DB8FFE4CBA9}"/>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32D4CC93-0FCD-46B4-A1A5-50D583FA3F77}"/>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History group opens the preserved dossier. Historical labels and documents remain available without owner controls.</a:t>
            </a:r>
          </a:p>
        </p:txBody>
      </p:sp>
      <p:sp>
        <p:nvSpPr>
          <p:cNvPr id="5" name="">
            <a:extLst xmlns:a="http://schemas.openxmlformats.org/drawingml/2006/main">
              <a:ext uri="{FF2B5EF4-FFF2-40B4-BE49-F238E27FC236}">
                <a16:creationId xmlns:a16="http://schemas.microsoft.com/office/drawing/2014/main" id="{CF44F93B-39B7-456D-86C7-52B94493A22A}"/>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747BB61C-295C-4833-B7B2-60ED1237B7FA}"/>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Inspect the record or choose another existing item in the library. Do not show gated actions for a historical entry.</a:t>
            </a:r>
          </a:p>
        </p:txBody>
      </p:sp>
      <p:sp>
        <p:nvSpPr>
          <p:cNvPr id="7" name="">
            <a:extLst xmlns:a="http://schemas.openxmlformats.org/drawingml/2006/main">
              <a:ext uri="{FF2B5EF4-FFF2-40B4-BE49-F238E27FC236}">
                <a16:creationId xmlns:a16="http://schemas.microsoft.com/office/drawing/2014/main" id="{F7E4B502-D765-4520-872A-2C085BFECD99}"/>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CC5DF8DC-5D44-4C6A-A268-3EC9306B357E}"/>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 persistent read-only heading avoids disabled-button clutter and separates current workflow readiness from historical evidence.</a:t>
            </a:r>
          </a:p>
        </p:txBody>
      </p:sp>
      <p:sp>
        <p:nvSpPr>
          <p:cNvPr id="9" name="">
            <a:extLst xmlns:a="http://schemas.openxmlformats.org/drawingml/2006/main">
              <a:ext uri="{FF2B5EF4-FFF2-40B4-BE49-F238E27FC236}">
                <a16:creationId xmlns:a16="http://schemas.microsoft.com/office/drawing/2014/main" id="{609D6DF2-77D5-44A6-A998-79B3466C74EB}"/>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B11BB684-AE02-4AB2-8260-36A0D18C988D}"/>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Preserve search, focus and disclosure behavior. Show the source’s actual historic state without converting it into a current gate.</a:t>
            </a:r>
          </a:p>
        </p:txBody>
      </p:sp>
      <p:pic>
        <p:nvPicPr>
          <p:cNvPr id="11" name="">
            <a:extLst xmlns:a="http://schemas.openxmlformats.org/drawingml/2006/main">
              <a:ext uri="{FF2B5EF4-FFF2-40B4-BE49-F238E27FC236}">
                <a16:creationId xmlns:a16="http://schemas.microsoft.com/office/drawing/2014/main" id="{9C847ACF-10DB-4FB3-AD30-4206B94B6766}"/>
              </a:ext>
            </a:extLst>
          </p:cNvPr>
          <p:cNvPicPr>
            <a:picLocks xmlns:a="http://schemas.openxmlformats.org/drawingml/2006/main" noChangeAspect="1"/>
          </p:cNvPicPr>
          <p:nvPr/>
        </p:nvPicPr>
        <p:blipFill>
          <a:blip xmlns:r="http://schemas.openxmlformats.org/officeDocument/2006/relationships" xmlns:a="http://schemas.openxmlformats.org/drawingml/2006/main" r:embed="R380f58c627004c03"/>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669DA9C-240E-45E9-B29F-2B2EDDCD18DB}"/>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A071B281-DAA1-4B52-9BA0-1125C33844D4}"/>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No browser migration, adoption, editing or reopen action. Legacy active records retain their own rules and are distinct from archived history.</a:t>
            </a:r>
          </a:p>
        </p:txBody>
      </p:sp>
      <p:sp>
        <p:nvSpPr>
          <p:cNvPr id="14" name="">
            <a:extLst xmlns:a="http://schemas.openxmlformats.org/drawingml/2006/main">
              <a:ext uri="{FF2B5EF4-FFF2-40B4-BE49-F238E27FC236}">
                <a16:creationId xmlns:a16="http://schemas.microsoft.com/office/drawing/2014/main" id="{507599B0-6458-495F-B21A-E8E5003C73FB}"/>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23DE96E7-3BFD-48DF-9D75-3BD8043593D4}"/>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23 / 23</a:t>
            </a:r>
          </a:p>
        </p:txBody>
      </p:sp>
    </p:spTree>
    <p:extLst>
      <p:ext uri="{BB962C8B-B14F-4D97-AF65-F5344CB8AC3E}">
        <p14:creationId xmlns:p14="http://schemas.microsoft.com/office/powerpoint/2010/main" val="14003345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2026-10-11T17:34:06.0500000Z</dcterms:created>
  <dcterms:modified xsi:type="dcterms:W3CDTF">2026-10-11T17:34:06.0500000Z</dcterms:modified>
</coreProperties>
</file>