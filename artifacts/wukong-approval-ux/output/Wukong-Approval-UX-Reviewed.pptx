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785b220ac6417c" /><Relationship Type="http://schemas.openxmlformats.org/officeDocument/2006/relationships/extended-properties" Target="/docProps/app.xml" Id="R8745d4f136474368" /><Relationship Type="http://schemas.openxmlformats.org/officeDocument/2006/relationships/officeDocument" Target="/ppt/presentation.xml" Id="R983ef1a9e6184704" /></Relationships>
</file>

<file path=ppt/presentation.xml><?xml version="1.0" encoding="utf-8"?>
<p:presentation xmlns:p="http://schemas.openxmlformats.org/presentationml/2006/main">
  <p:sldMasterIdLst>
    <p:sldMasterId xmlns:r="http://schemas.openxmlformats.org/officeDocument/2006/relationships" id="2147483648" r:id="Rfde9e9089dc84d4f"/>
  </p:sldMasterIdLst>
  <p:notesMasterIdLst>
    <p:notesMasterId xmlns:r="http://schemas.openxmlformats.org/officeDocument/2006/relationships" r:id="R5518f63a88b843ab"/>
  </p:notesMasterIdLst>
  <p:sldIdLst>
    <p:sldId xmlns:r="http://schemas.openxmlformats.org/officeDocument/2006/relationships" id="256" r:id="Rbe522fed81094735"/>
    <p:sldId xmlns:r="http://schemas.openxmlformats.org/officeDocument/2006/relationships" id="257" r:id="Rc998c000dec4417c"/>
    <p:sldId xmlns:r="http://schemas.openxmlformats.org/officeDocument/2006/relationships" id="258" r:id="Rf9c1ef261d494680"/>
    <p:sldId xmlns:r="http://schemas.openxmlformats.org/officeDocument/2006/relationships" id="259" r:id="R149188e5dc6c46ff"/>
    <p:sldId xmlns:r="http://schemas.openxmlformats.org/officeDocument/2006/relationships" id="260" r:id="R6b8ec88c78dc4ccd"/>
    <p:sldId xmlns:r="http://schemas.openxmlformats.org/officeDocument/2006/relationships" id="261" r:id="R7ed95498f26f4fb1"/>
    <p:sldId xmlns:r="http://schemas.openxmlformats.org/officeDocument/2006/relationships" id="262" r:id="Rf5f10a6aa1444801"/>
    <p:sldId xmlns:r="http://schemas.openxmlformats.org/officeDocument/2006/relationships" id="263" r:id="Re6d16975cb5549ff"/>
    <p:sldId xmlns:r="http://schemas.openxmlformats.org/officeDocument/2006/relationships" id="264" r:id="R071350e898cc457f"/>
    <p:sldId xmlns:r="http://schemas.openxmlformats.org/officeDocument/2006/relationships" id="265" r:id="R9bcb73f14f6643d2"/>
    <p:sldId xmlns:r="http://schemas.openxmlformats.org/officeDocument/2006/relationships" id="266" r:id="R9dcf7afae0b04c3c"/>
    <p:sldId xmlns:r="http://schemas.openxmlformats.org/officeDocument/2006/relationships" id="267" r:id="R2e61f94efe9d4c38"/>
    <p:sldId xmlns:r="http://schemas.openxmlformats.org/officeDocument/2006/relationships" id="268" r:id="R29a662a94f464e71"/>
    <p:sldId xmlns:r="http://schemas.openxmlformats.org/officeDocument/2006/relationships" id="269" r:id="R47101ee500b84b82"/>
    <p:sldId xmlns:r="http://schemas.openxmlformats.org/officeDocument/2006/relationships" id="270" r:id="R4f2077dbcbc54781"/>
    <p:sldId xmlns:r="http://schemas.openxmlformats.org/officeDocument/2006/relationships" id="271" r:id="Re028a089057e4106"/>
    <p:sldId xmlns:r="http://schemas.openxmlformats.org/officeDocument/2006/relationships" id="272" r:id="Rbf3869b4805f47fe"/>
    <p:sldId xmlns:r="http://schemas.openxmlformats.org/officeDocument/2006/relationships" id="273" r:id="Rf033840974b64869"/>
    <p:sldId xmlns:r="http://schemas.openxmlformats.org/officeDocument/2006/relationships" id="274" r:id="R08a247873e004f2e"/>
    <p:sldId xmlns:r="http://schemas.openxmlformats.org/officeDocument/2006/relationships" id="275" r:id="Rfae8508c53a84f4a"/>
    <p:sldId xmlns:r="http://schemas.openxmlformats.org/officeDocument/2006/relationships" id="276" r:id="R970a5bf595d24002"/>
    <p:sldId xmlns:r="http://schemas.openxmlformats.org/officeDocument/2006/relationships" id="277" r:id="R028559c9307740b5"/>
    <p:sldId xmlns:r="http://schemas.openxmlformats.org/officeDocument/2006/relationships" id="278" r:id="R74ff45f9fe07461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00281a2e3e4ca7" /><Relationship Type="http://schemas.openxmlformats.org/officeDocument/2006/relationships/slideMaster" Target="/ppt/slideMasters/slideMaster1.xml" Id="Rfde9e9089dc84d4f" /><Relationship Type="http://schemas.openxmlformats.org/officeDocument/2006/relationships/notesMaster" Target="/ppt/notesMasters/notesMaster1.xml" Id="R5518f63a88b843ab" /><Relationship Type="http://schemas.openxmlformats.org/officeDocument/2006/relationships/presProps" Target="/ppt/presProps.xml" Id="R08ab924345ff42d0" /><Relationship Type="http://schemas.openxmlformats.org/officeDocument/2006/relationships/tableStyles" Target="/ppt/tableStyles.xml" Id="R1c1326f430d04186" /><Relationship Type="http://schemas.openxmlformats.org/officeDocument/2006/relationships/slide" Target="/ppt/slides/slide1.xml" Id="Rbe522fed81094735" /><Relationship Type="http://schemas.openxmlformats.org/officeDocument/2006/relationships/slide" Target="/ppt/slides/slide2.xml" Id="Rc998c000dec4417c" /><Relationship Type="http://schemas.openxmlformats.org/officeDocument/2006/relationships/slide" Target="/ppt/slides/slide3.xml" Id="Rf9c1ef261d494680" /><Relationship Type="http://schemas.openxmlformats.org/officeDocument/2006/relationships/slide" Target="/ppt/slides/slide4.xml" Id="R149188e5dc6c46ff" /><Relationship Type="http://schemas.openxmlformats.org/officeDocument/2006/relationships/slide" Target="/ppt/slides/slide5.xml" Id="R6b8ec88c78dc4ccd" /><Relationship Type="http://schemas.openxmlformats.org/officeDocument/2006/relationships/slide" Target="/ppt/slides/slide6.xml" Id="R7ed95498f26f4fb1" /><Relationship Type="http://schemas.openxmlformats.org/officeDocument/2006/relationships/slide" Target="/ppt/slides/slide7.xml" Id="Rf5f10a6aa1444801" /><Relationship Type="http://schemas.openxmlformats.org/officeDocument/2006/relationships/slide" Target="/ppt/slides/slide8.xml" Id="Re6d16975cb5549ff" /><Relationship Type="http://schemas.openxmlformats.org/officeDocument/2006/relationships/slide" Target="/ppt/slides/slide9.xml" Id="R071350e898cc457f" /><Relationship Type="http://schemas.openxmlformats.org/officeDocument/2006/relationships/slide" Target="/ppt/slides/slide10.xml" Id="R9bcb73f14f6643d2" /><Relationship Type="http://schemas.openxmlformats.org/officeDocument/2006/relationships/slide" Target="/ppt/slides/slide11.xml" Id="R9dcf7afae0b04c3c" /><Relationship Type="http://schemas.openxmlformats.org/officeDocument/2006/relationships/slide" Target="/ppt/slides/slide12.xml" Id="R2e61f94efe9d4c38" /><Relationship Type="http://schemas.openxmlformats.org/officeDocument/2006/relationships/slide" Target="/ppt/slides/slide13.xml" Id="R29a662a94f464e71" /><Relationship Type="http://schemas.openxmlformats.org/officeDocument/2006/relationships/slide" Target="/ppt/slides/slide14.xml" Id="R47101ee500b84b82" /><Relationship Type="http://schemas.openxmlformats.org/officeDocument/2006/relationships/slide" Target="/ppt/slides/slide15.xml" Id="R4f2077dbcbc54781" /><Relationship Type="http://schemas.openxmlformats.org/officeDocument/2006/relationships/slide" Target="/ppt/slides/slide16.xml" Id="Re028a089057e4106" /><Relationship Type="http://schemas.openxmlformats.org/officeDocument/2006/relationships/slide" Target="/ppt/slides/slide17.xml" Id="Rbf3869b4805f47fe" /><Relationship Type="http://schemas.openxmlformats.org/officeDocument/2006/relationships/slide" Target="/ppt/slides/slide18.xml" Id="Rf033840974b64869" /><Relationship Type="http://schemas.openxmlformats.org/officeDocument/2006/relationships/slide" Target="/ppt/slides/slide19.xml" Id="R08a247873e004f2e" /><Relationship Type="http://schemas.openxmlformats.org/officeDocument/2006/relationships/slide" Target="/ppt/slides/slide20.xml" Id="Rfae8508c53a84f4a" /><Relationship Type="http://schemas.openxmlformats.org/officeDocument/2006/relationships/slide" Target="/ppt/slides/slide21.xml" Id="R970a5bf595d24002" /><Relationship Type="http://schemas.openxmlformats.org/officeDocument/2006/relationships/slide" Target="/ppt/slides/slide22.xml" Id="R028559c9307740b5" /><Relationship Type="http://schemas.openxmlformats.org/officeDocument/2006/relationships/slide" Target="/ppt/slides/slide23.xml" Id="R74ff45f9fe0746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2399d361c94d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84ceae0c034744" /><Relationship Type="http://schemas.openxmlformats.org/officeDocument/2006/relationships/notesMaster" Target="/ppt/notesMasters/notesMaster1.xml" Id="R17b7e067612143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d668ee405548f0" /><Relationship Type="http://schemas.openxmlformats.org/officeDocument/2006/relationships/notesMaster" Target="/ppt/notesMasters/notesMaster1.xml" Id="Raba0352af7f144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a270879ecd4837" /><Relationship Type="http://schemas.openxmlformats.org/officeDocument/2006/relationships/notesMaster" Target="/ppt/notesMasters/notesMaster1.xml" Id="Rd4d898790cb044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738df9817e4fc9" /><Relationship Type="http://schemas.openxmlformats.org/officeDocument/2006/relationships/notesMaster" Target="/ppt/notesMasters/notesMaster1.xml" Id="R1633a001c15a41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782411876f4fa9" /><Relationship Type="http://schemas.openxmlformats.org/officeDocument/2006/relationships/notesMaster" Target="/ppt/notesMasters/notesMaster1.xml" Id="R323d71b562254f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0d5100f19c4ed7" /><Relationship Type="http://schemas.openxmlformats.org/officeDocument/2006/relationships/notesMaster" Target="/ppt/notesMasters/notesMaster1.xml" Id="Rf3470f8bad9540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4ee636dd7e47c5" /><Relationship Type="http://schemas.openxmlformats.org/officeDocument/2006/relationships/notesMaster" Target="/ppt/notesMasters/notesMaster1.xml" Id="R802344d6494e40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8ed49ba33d4de4" /><Relationship Type="http://schemas.openxmlformats.org/officeDocument/2006/relationships/notesMaster" Target="/ppt/notesMasters/notesMaster1.xml" Id="R6e1e5aaf52a340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577714f53c4ddb" /><Relationship Type="http://schemas.openxmlformats.org/officeDocument/2006/relationships/notesMaster" Target="/ppt/notesMasters/notesMaster1.xml" Id="Rb19d285e75cc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8980366dbf4306" /><Relationship Type="http://schemas.openxmlformats.org/officeDocument/2006/relationships/notesMaster" Target="/ppt/notesMasters/notesMaster1.xml" Id="R5e133871ef8344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2c4210552d480d" /><Relationship Type="http://schemas.openxmlformats.org/officeDocument/2006/relationships/notesMaster" Target="/ppt/notesMasters/notesMaster1.xml" Id="Ra6db5402d1d04b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c12b9ad1ac416d" /><Relationship Type="http://schemas.openxmlformats.org/officeDocument/2006/relationships/notesMaster" Target="/ppt/notesMasters/notesMaster1.xml" Id="R2ec49f34254a47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39784ad63d436e" /><Relationship Type="http://schemas.openxmlformats.org/officeDocument/2006/relationships/notesMaster" Target="/ppt/notesMasters/notesMaster1.xml" Id="R20500550129947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f58fb55f5f4a0a" /><Relationship Type="http://schemas.openxmlformats.org/officeDocument/2006/relationships/notesMaster" Target="/ppt/notesMasters/notesMaster1.xml" Id="Ra7fa3365767b43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3d1b6ca62549a1" /><Relationship Type="http://schemas.openxmlformats.org/officeDocument/2006/relationships/notesMaster" Target="/ppt/notesMasters/notesMaster1.xml" Id="R897aefc043984c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a0172b81d64612" /><Relationship Type="http://schemas.openxmlformats.org/officeDocument/2006/relationships/notesMaster" Target="/ppt/notesMasters/notesMaster1.xml" Id="R25f4c089e3c34d1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0d1334a74f4135" /><Relationship Type="http://schemas.openxmlformats.org/officeDocument/2006/relationships/notesMaster" Target="/ppt/notesMasters/notesMaster1.xml" Id="Rbe560fa5874240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56aad006bd4cd0" /><Relationship Type="http://schemas.openxmlformats.org/officeDocument/2006/relationships/notesMaster" Target="/ppt/notesMasters/notesMaster1.xml" Id="R96d3e0482be141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f70bcaedf546f4" /><Relationship Type="http://schemas.openxmlformats.org/officeDocument/2006/relationships/notesMaster" Target="/ppt/notesMasters/notesMaster1.xml" Id="R9b25ac5b831b44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ec550142dac42c1" /><Relationship Type="http://schemas.openxmlformats.org/officeDocument/2006/relationships/notesMaster" Target="/ppt/notesMasters/notesMaster1.xml" Id="Ra5705349fd0641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4b8ea19e1946f8" /><Relationship Type="http://schemas.openxmlformats.org/officeDocument/2006/relationships/notesMaster" Target="/ppt/notesMasters/notesMaster1.xml" Id="Ra8a42aefaadf40a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ac53f745a144c4" /><Relationship Type="http://schemas.openxmlformats.org/officeDocument/2006/relationships/notesMaster" Target="/ppt/notesMasters/notesMaster1.xml" Id="R07bf8bd5378c408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b3f0c7b29694097" /><Relationship Type="http://schemas.openxmlformats.org/officeDocument/2006/relationships/notesMaster" Target="/ppt/notesMasters/notesMaster1.xml" Id="Rc602e93c79884b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approval queue</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search and spec groups lead into the selected item. The selected workflow phase supplies the current gate and next action.</a:t>
            </a:r>
          </a:p>
          <a:p xmlns:a="http://schemas.openxmlformats.org/drawingml/2006/main">
            <a:r>
              <a:t/>
            </a:r>
          </a:p>
          <a:p xmlns:a="http://schemas.openxmlformats.org/drawingml/2006/main">
            <a:r>
              <a:t>Primary action: 2. Select an item, inspect its plan, then use its eligible owner action. Keep search and the existing group order.</a:t>
            </a:r>
          </a:p>
          <a:p xmlns:a="http://schemas.openxmlformats.org/drawingml/2006/main">
            <a:r>
              <a:t/>
            </a:r>
          </a:p>
          <a:p xmlns:a="http://schemas.openxmlformats.org/drawingml/2006/main">
            <a:r>
              <a:t>Why it reduces friction: 3. A quiet sidebar and one content heading replace repeated cards and competing stage badges. Revision metadata moves into existing details.</a:t>
            </a:r>
          </a:p>
          <a:p xmlns:a="http://schemas.openxmlformats.org/drawingml/2006/main">
            <a:r>
              <a:t/>
            </a:r>
          </a:p>
          <a:p xmlns:a="http://schemas.openxmlformats.org/drawingml/2006/main">
            <a:r>
              <a:t>Feedback and interaction: 4. Selection gains a subtle blue fill. Current-gate text outranks a stale deliverable label. Keyboard focus stays visible.</a:t>
            </a:r>
          </a:p>
          <a:p xmlns:a="http://schemas.openxmlformats.org/drawingml/2006/main">
            <a:r>
              <a:t/>
            </a:r>
          </a:p>
          <a:p xmlns:a="http://schemas.openxmlformats.org/drawingml/2006/main">
            <a:r>
              <a:t>Boundary: List labels use existing list workflow data. No bulk approval, added inbox or new status field.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treadle/packages/web/src/library.js:53, treadle/packages/web/src/library.js:76, treadle/packages/web/src/library.js:631</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and incomplete plan</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owner panel explains the current wait. The brief is expanded and other document disclosures remain available.</a:t>
            </a:r>
          </a:p>
          <a:p xmlns:a="http://schemas.openxmlformats.org/drawingml/2006/main">
            <a:r>
              <a:t/>
            </a:r>
          </a:p>
          <a:p xmlns:a="http://schemas.openxmlformats.org/drawingml/2006/main">
            <a:r>
              <a:t>Primary action: 2. Read the brief or open the existing plan document. Show no approval action while the workflow is in the plan phase.</a:t>
            </a:r>
          </a:p>
          <a:p xmlns:a="http://schemas.openxmlformats.org/drawingml/2006/main">
            <a:r>
              <a:t/>
            </a:r>
          </a:p>
          <a:p xmlns:a="http://schemas.openxmlformats.org/drawingml/2006/main">
            <a:r>
              <a:t>Why it reduces friction: 3. Scope appears before technical detail. Quiet document disclosures avoid multiple tall cards and nested visual frames.</a:t>
            </a:r>
          </a:p>
          <a:p xmlns:a="http://schemas.openxmlformats.org/drawingml/2006/main">
            <a:r>
              <a:t/>
            </a:r>
          </a:p>
          <a:p xmlns:a="http://schemas.openxmlformats.org/drawingml/2006/main">
            <a:r>
              <a:t>Feedback and interaction: 4. Expanding a document retains its place and focus. Missing artifacts have explicit text rather than an empty rectangle.</a:t>
            </a:r>
          </a:p>
          <a:p xmlns:a="http://schemas.openxmlformats.org/drawingml/2006/main">
            <a:r>
              <a:t/>
            </a:r>
          </a:p>
          <a:p xmlns:a="http://schemas.openxmlformats.org/drawingml/2006/main">
            <a:r>
              <a:t>Boundary: Display the existing workflow reasons. Do not create a request-plan action or let the owner edit task definitions here.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treadle/packages/web/src/library.js:240, treadle/packages/web/src/library.js:403, treadle/packages/web/src/library.js:550, treadle/packages/web/src/library.js:637</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 questions and an unknown answer</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first unresolved question sits above supporting requirements. The saved unknown state remains explicit beside the question.</a:t>
            </a:r>
          </a:p>
          <a:p xmlns:a="http://schemas.openxmlformats.org/drawingml/2006/main">
            <a:r>
              <a:t/>
            </a:r>
          </a:p>
          <a:p xmlns:a="http://schemas.openxmlformats.org/drawingml/2006/main">
            <a:r>
              <a:t>Primary action: 2. Type an answer and choose Answer. Keep I don’t know as a quieter existing secondary action.</a:t>
            </a:r>
          </a:p>
          <a:p xmlns:a="http://schemas.openxmlformats.org/drawingml/2006/main">
            <a:r>
              <a:t/>
            </a:r>
          </a:p>
          <a:p xmlns:a="http://schemas.openxmlformats.org/drawingml/2006/main">
            <a:r>
              <a:t>Why it reduces friction: 3. The user handles one visible question before reading supporting material. Completed answers remain in existing disclosures below.</a:t>
            </a:r>
          </a:p>
          <a:p xmlns:a="http://schemas.openxmlformats.org/drawingml/2006/main">
            <a:r>
              <a:t/>
            </a:r>
          </a:p>
          <a:p xmlns:a="http://schemas.openxmlformats.org/drawingml/2006/main">
            <a:r>
              <a:t>Feedback and interaction: 4. On a successful response, announce Answer recorded and focus the next unresolved question. On failure, retain the typed answer.</a:t>
            </a:r>
          </a:p>
          <a:p xmlns:a="http://schemas.openxmlformats.org/drawingml/2006/main">
            <a:r>
              <a:t/>
            </a:r>
          </a:p>
          <a:p xmlns:a="http://schemas.openxmlformats.org/drawingml/2006/main">
            <a:r>
              <a:t>Boundary: The count comes from loaded clarifications. Unknown does not count as resolved. No automatic approval or hidden answer submission.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treadle/packages/web/src/library.js:280, treadle/packages/web/src/library.js:435, treadle/packages/web/src/library.js:532, treadle/packages/web/src/page.js:303</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 approval after answers</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gate, answer summary and existing spec disclosure share one reading column.</a:t>
            </a:r>
          </a:p>
          <a:p xmlns:a="http://schemas.openxmlformats.org/drawingml/2006/main">
            <a:r>
              <a:t/>
            </a:r>
          </a:p>
          <a:p xmlns:a="http://schemas.openxmlformats.org/drawingml/2006/main">
            <a:r>
              <a:t>Primary action: 2. Approve this spec arms the existing confirmation. A second deliberate click records the approval with the current owner claim.</a:t>
            </a:r>
          </a:p>
          <a:p xmlns:a="http://schemas.openxmlformats.org/drawingml/2006/main">
            <a:r>
              <a:t/>
            </a:r>
          </a:p>
          <a:p xmlns:a="http://schemas.openxmlformats.org/drawingml/2006/main">
            <a:r>
              <a:t>Why it reduces friction: 3. Answers stay visible near the approval action. The design removes unrelated instructions instead of asking users to infer readiness.</a:t>
            </a:r>
          </a:p>
          <a:p xmlns:a="http://schemas.openxmlformats.org/drawingml/2006/main">
            <a:r>
              <a:t/>
            </a:r>
          </a:p>
          <a:p xmlns:a="http://schemas.openxmlformats.org/drawingml/2006/main">
            <a:r>
              <a:t>Feedback and interaction: 4. First click changes the same button to Confirm spec approval and explains the recorded act inline. Busy state prevents duplicate submissions.</a:t>
            </a:r>
          </a:p>
          <a:p xmlns:a="http://schemas.openxmlformats.org/drawingml/2006/main">
            <a:r>
              <a:t/>
            </a:r>
          </a:p>
          <a:p xmlns:a="http://schemas.openxmlformats.org/drawingml/2006/main">
            <a:r>
              <a:t>Boundary: Keep the current two-click library approval. Empty phase-question lists skip this ceremony. Approval still grants no Start permission.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treadle/packages/web/src/library.js:503, treadle/packages/web/src/library.js:517, treadle/packages/web/src/library.js:582</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decision acceptance</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proposed decision and its because text appear before supporting design parts. Accepted decisions stay available below.</a:t>
            </a:r>
          </a:p>
          <a:p xmlns:a="http://schemas.openxmlformats.org/drawingml/2006/main">
            <a:r>
              <a:t/>
            </a:r>
          </a:p>
          <a:p xmlns:a="http://schemas.openxmlformats.org/drawingml/2006/main">
            <a:r>
              <a:t>Primary action: 2. Accept D-2 records only this decision. Each remaining proposal still needs its own existing acceptance action.</a:t>
            </a:r>
          </a:p>
          <a:p xmlns:a="http://schemas.openxmlformats.org/drawingml/2006/main">
            <a:r>
              <a:t/>
            </a:r>
          </a:p>
          <a:p xmlns:a="http://schemas.openxmlformats.org/drawingml/2006/main">
            <a:r>
              <a:t>Why it reduces friction: 3. One expanded proposal has the strongest action. Secondary proposals and design diagrams use existing content disclosures.</a:t>
            </a:r>
          </a:p>
          <a:p xmlns:a="http://schemas.openxmlformats.org/drawingml/2006/main">
            <a:r>
              <a:t/>
            </a:r>
          </a:p>
          <a:p xmlns:a="http://schemas.openxmlformats.org/drawingml/2006/main">
            <a:r>
              <a:t>Feedback and interaction: 4. A saved acceptance changes the written status and moves focus to the next proposal. Success depends on the returned workflow state.</a:t>
            </a:r>
          </a:p>
          <a:p xmlns:a="http://schemas.openxmlformats.org/drawingml/2006/main">
            <a:r>
              <a:t/>
            </a:r>
          </a:p>
          <a:p xmlns:a="http://schemas.openxmlformats.org/drawingml/2006/main">
            <a:r>
              <a:t>Boundary: No Accept all, decision editing or automatic Start. Preserve individual decision IDs, rejection reasons and authority.</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treadle/packages/web/src/library.js:302, treadle/packages/web/src/library.js:313, treadle/packages/web/src/library.js:664</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rejection</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Reject disclosure is open beneath the same decision. The rationale remains visible above the reason field.</a:t>
            </a:r>
          </a:p>
          <a:p xmlns:a="http://schemas.openxmlformats.org/drawingml/2006/main">
            <a:r>
              <a:t/>
            </a:r>
          </a:p>
          <a:p xmlns:a="http://schemas.openxmlformats.org/drawingml/2006/main">
            <a:r>
              <a:t>Primary action: 2. Enter the reason and choose Reject D-2. Acceptance stays secondary while this disclosure has focus.</a:t>
            </a:r>
          </a:p>
          <a:p xmlns:a="http://schemas.openxmlformats.org/drawingml/2006/main">
            <a:r>
              <a:t/>
            </a:r>
          </a:p>
          <a:p xmlns:a="http://schemas.openxmlformats.org/drawingml/2006/main">
            <a:r>
              <a:t>Why it reduces friction: 3. The less common action reveals its required field only when needed. The user keeps the original decision in view.</a:t>
            </a:r>
          </a:p>
          <a:p xmlns:a="http://schemas.openxmlformats.org/drawingml/2006/main">
            <a:r>
              <a:t/>
            </a:r>
          </a:p>
          <a:p xmlns:a="http://schemas.openxmlformats.org/drawingml/2006/main">
            <a:r>
              <a:t>Feedback and interaction: 4. An empty reason produces an inline field error and focused guidance. A saved rejection displays Declined and the returned blocking reason.</a:t>
            </a:r>
          </a:p>
          <a:p xmlns:a="http://schemas.openxmlformats.org/drawingml/2006/main">
            <a:r>
              <a:t/>
            </a:r>
          </a:p>
          <a:p xmlns:a="http://schemas.openxmlformats.org/drawingml/2006/main">
            <a:r>
              <a:t>Boundary: Rejection uses the existing owner action. Declined required choices still block dependent work. No undo or reopen control is invented.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treadle/packages/web/src/library.js:317, treadle/packages/web/src/library.js:667</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plan and permission to start</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Task titles, dependencies and declared checks remain accessible. The existing Start button stays beside a short permission explanation.</a:t>
            </a:r>
          </a:p>
          <a:p xmlns:a="http://schemas.openxmlformats.org/drawingml/2006/main">
            <a:r>
              <a:t/>
            </a:r>
          </a:p>
          <a:p xmlns:a="http://schemas.openxmlformats.org/drawingml/2006/main">
            <a:r>
              <a:t>Primary action: 2. Start implementation grants permission for this exact plan. Keep the action in the existing owner panel, sticky within its content column.</a:t>
            </a:r>
          </a:p>
          <a:p xmlns:a="http://schemas.openxmlformats.org/drawingml/2006/main">
            <a:r>
              <a:t/>
            </a:r>
          </a:p>
          <a:p xmlns:a="http://schemas.openxmlformats.org/drawingml/2006/main">
            <a:r>
              <a:t>Why it reduces friction: 3. A stable action position avoids a long trip back to the top after reading tasks. Technical trace links expand only on demand.</a:t>
            </a:r>
          </a:p>
          <a:p xmlns:a="http://schemas.openxmlformats.org/drawingml/2006/main">
            <a:r>
              <a:t/>
            </a:r>
          </a:p>
          <a:p xmlns:a="http://schemas.openxmlformats.org/drawingml/2006/main">
            <a:r>
              <a:t>Feedback and interaction: 4. Show Saving permission while the existing request is pending. After success, display Permission recorded and the returned phase.</a:t>
            </a:r>
          </a:p>
          <a:p xmlns:a="http://schemas.openxmlformats.org/drawingml/2006/main">
            <a:r>
              <a:t/>
            </a:r>
          </a:p>
          <a:p xmlns:a="http://schemas.openxmlformats.org/drawingml/2006/main">
            <a:r>
              <a:t>Boundary: Use can_start and the existing revision guard. The browser records permission and does not wake an idle agent. No instant-running claim.</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treadle/packages/web/src/library.js:643, treadle/packages/web/src/library.js:677,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in progress</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task statuses lead each row. The current task stays expanded with its declared check. Completed evidence sits in a disclosure.</a:t>
            </a:r>
          </a:p>
          <a:p xmlns:a="http://schemas.openxmlformats.org/drawingml/2006/main">
            <a:r>
              <a:t/>
            </a:r>
          </a:p>
          <a:p xmlns:a="http://schemas.openxmlformats.org/drawingml/2006/main">
            <a:r>
              <a:t>Primary action: 2. Inspect the current task or use the existing refresh trigger when state may have changed. There is no owner approval to repeat here.</a:t>
            </a:r>
          </a:p>
          <a:p xmlns:a="http://schemas.openxmlformats.org/drawingml/2006/main">
            <a:r>
              <a:t/>
            </a:r>
          </a:p>
          <a:p xmlns:a="http://schemas.openxmlformats.org/drawingml/2006/main">
            <a:r>
              <a:t>Why it reduces friction: 3. Removing prior approval instructions makes progress immediately legible. Task counts come directly from the loaded tasks.</a:t>
            </a:r>
          </a:p>
          <a:p xmlns:a="http://schemas.openxmlformats.org/drawingml/2006/main">
            <a:r>
              <a:t/>
            </a:r>
          </a:p>
          <a:p xmlns:a="http://schemas.openxmlformats.org/drawingml/2006/main">
            <a:r>
              <a:t>Feedback and interaction: 4. Completed tasks show a checkmark and the word Done. State refreshes through existing interaction and focus behavior, without invented live telemetry.</a:t>
            </a:r>
          </a:p>
          <a:p xmlns:a="http://schemas.openxmlformats.org/drawingml/2006/main">
            <a:r>
              <a:t/>
            </a:r>
          </a:p>
          <a:p xmlns:a="http://schemas.openxmlformats.org/drawingml/2006/main">
            <a:r>
              <a:t>Boundary: Display approved execution state, not agent presence. No Run, pause, retry or new polling service. Keep independent review as the next gate.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treadle/packages/web/src/library.js:607, treadle/packages/web/src/library.js:645, treadle/packages/web/src/library.js:985</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blocked task</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blocked task moves above completed evidence. Existing reasons and any failed command result appear next to its status.</a:t>
            </a:r>
          </a:p>
          <a:p xmlns:a="http://schemas.openxmlformats.org/drawingml/2006/main">
            <a:r>
              <a:t/>
            </a:r>
          </a:p>
          <a:p xmlns:a="http://schemas.openxmlformats.org/drawingml/2006/main">
            <a:r>
              <a:t>Primary action: 2. Read the blocker, inspect its evidence and refresh when the agent has repaired the issue. Do not offer a browser bypass.</a:t>
            </a:r>
          </a:p>
          <a:p xmlns:a="http://schemas.openxmlformats.org/drawingml/2006/main">
            <a:r>
              <a:t/>
            </a:r>
          </a:p>
          <a:p xmlns:a="http://schemas.openxmlformats.org/drawingml/2006/main">
            <a:r>
              <a:t>Why it reduces friction: 3. The specific blocking reason replaces a generic warning panel. Only the affected task expands by default.</a:t>
            </a:r>
          </a:p>
          <a:p xmlns:a="http://schemas.openxmlformats.org/drawingml/2006/main">
            <a:r>
              <a:t/>
            </a:r>
          </a:p>
          <a:p xmlns:a="http://schemas.openxmlformats.org/drawingml/2006/main">
            <a:r>
              <a:t>Feedback and interaction: 4. Amber pairs with the word Blocked. A failed command retains its actual exit code. Refresh changes the display only after a new response.</a:t>
            </a:r>
          </a:p>
          <a:p xmlns:a="http://schemas.openxmlformats.org/drawingml/2006/main">
            <a:r>
              <a:t/>
            </a:r>
          </a:p>
          <a:p xmlns:a="http://schemas.openxmlformats.org/drawingml/2006/main">
            <a:r>
              <a:t>Boundary: Source drift and a changed plan remain distinct. A changed plan uses the existing Start gate again. No repin, retry-task or force-approve UI.</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treadle/packages/web/src/library.js:331, treadle/packages/web/src/library.js:637,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review pending</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review empty state sits below the current gate. The phase inspector shows Finish as a later step.</a:t>
            </a:r>
          </a:p>
          <a:p xmlns:a="http://schemas.openxmlformats.org/drawingml/2006/main">
            <a:r>
              <a:t/>
            </a:r>
          </a:p>
          <a:p xmlns:a="http://schemas.openxmlformats.org/drawingml/2006/main">
            <a:r>
              <a:t>Primary action: 2. Inspect available evidence. No Finish control appears until the existing workflow declares the pack eligible.</a:t>
            </a:r>
          </a:p>
          <a:p xmlns:a="http://schemas.openxmlformats.org/drawingml/2006/main">
            <a:r>
              <a:t/>
            </a:r>
          </a:p>
          <a:p xmlns:a="http://schemas.openxmlformats.org/drawingml/2006/main">
            <a:r>
              <a:t>Why it reduces friction: 3. The screen explains exactly who must act next. Completion and owner attention no longer compete with review waiting.</a:t>
            </a:r>
          </a:p>
          <a:p xmlns:a="http://schemas.openxmlformats.org/drawingml/2006/main">
            <a:r>
              <a:t/>
            </a:r>
          </a:p>
          <a:p xmlns:a="http://schemas.openxmlformats.org/drawingml/2006/main">
            <a:r>
              <a:t>Feedback and interaction: 4. Existing refresh behavior reveals the returned review result. A passing task check never animates into a passing PACK review.</a:t>
            </a:r>
          </a:p>
          <a:p xmlns:a="http://schemas.openxmlformats.org/drawingml/2006/main">
            <a:r>
              <a:t/>
            </a:r>
          </a:p>
          <a:p xmlns:a="http://schemas.openxmlformats.org/drawingml/2006/main">
            <a:r>
              <a:t>Boundary: No Request review button, reviewer assignment or live activity indicator. Keep can_close authoritative.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treadle/packages/web/src/library.js:347, treadle/packages/web/src/library.js:617, treadle/packages/web/src/library.js:646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reviewed pack is ready to finish</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current PACK verdict leads the review list. Reviewer identity and recorded evidence remain available beneath it.</a:t>
            </a:r>
          </a:p>
          <a:p xmlns:a="http://schemas.openxmlformats.org/drawingml/2006/main">
            <a:r>
              <a:t/>
            </a:r>
          </a:p>
          <a:p xmlns:a="http://schemas.openxmlformats.org/drawingml/2006/main">
            <a:r>
              <a:t>Primary action: 2. Inspect the verdict, then choose Finish spec. This reveals the existing confirmation in place.</a:t>
            </a:r>
          </a:p>
          <a:p xmlns:a="http://schemas.openxmlformats.org/drawingml/2006/main">
            <a:r>
              <a:t/>
            </a:r>
          </a:p>
          <a:p xmlns:a="http://schemas.openxmlformats.org/drawingml/2006/main">
            <a:r>
              <a:t>Why it reduces friction: 3. A short readiness statement and one primary action replace scattered success badges. The review remains adjacent to the final decision.</a:t>
            </a:r>
          </a:p>
          <a:p xmlns:a="http://schemas.openxmlformats.org/drawingml/2006/main">
            <a:r>
              <a:t/>
            </a:r>
          </a:p>
          <a:p xmlns:a="http://schemas.openxmlformats.org/drawingml/2006/main">
            <a:r>
              <a:t>Feedback and interaction: 4. Show the Finish action only when can_close is true. Review filters retain access to earlier findings without obscuring the current verdict.</a:t>
            </a:r>
          </a:p>
          <a:p xmlns:a="http://schemas.openxmlformats.org/drawingml/2006/main">
            <a:r>
              <a:t/>
            </a:r>
          </a:p>
          <a:p xmlns:a="http://schemas.openxmlformats.org/drawingml/2006/main">
            <a:r>
              <a:t>Boundary: Earlier PASS records are not current eligibility. The workflow response remains authoritative. Unresolved feedback does not become a new finish gate.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treadle/packages/web/src/library.js:347, treadle/packages/web/src/library.js:644, treadle/packages/web/src/library.js:808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confirmation</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confirmation replaces the Finish button inside the owner panel. The pack title and current review remain visible.</a:t>
            </a:r>
          </a:p>
          <a:p xmlns:a="http://schemas.openxmlformats.org/drawingml/2006/main">
            <a:r>
              <a:t/>
            </a:r>
          </a:p>
          <a:p xmlns:a="http://schemas.openxmlformats.org/drawingml/2006/main">
            <a:r>
              <a:t>Primary action: 2. Yes, finish spec records completion. Keep open cancels the confirmation and restores the original action.</a:t>
            </a:r>
          </a:p>
          <a:p xmlns:a="http://schemas.openxmlformats.org/drawingml/2006/main">
            <a:r>
              <a:t/>
            </a:r>
          </a:p>
          <a:p xmlns:a="http://schemas.openxmlformats.org/drawingml/2006/main">
            <a:r>
              <a:t>Why it reduces friction: 3. The consequence is plain and close to the control. No extra dialog, screen, typing challenge or approval ceremony is added.</a:t>
            </a:r>
          </a:p>
          <a:p xmlns:a="http://schemas.openxmlformats.org/drawingml/2006/main">
            <a:r>
              <a:t/>
            </a:r>
          </a:p>
          <a:p xmlns:a="http://schemas.openxmlformats.org/drawingml/2006/main">
            <a:r>
              <a:t>Feedback and interaction: 4. Focus enters the existing confirmation. Cancellation returns focus to Finish spec. While saving, disable duplicate controls and announce progress.</a:t>
            </a:r>
          </a:p>
          <a:p xmlns:a="http://schemas.openxmlformats.org/drawingml/2006/main">
            <a:r>
              <a:t/>
            </a:r>
          </a:p>
          <a:p xmlns:a="http://schemas.openxmlformats.org/drawingml/2006/main">
            <a:r>
              <a:t>Boundary: Keep both existing confirmation choices and the distinct close action. Never auto-finish after a PASS or a Resolve event.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treadle/packages/web/src/library.js:644, treadle/packages/web/src/library.js:650</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spec</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Completion replaces the action area with a concise recorded state. The same tabs and phase inspector remain available for inspection.</a:t>
            </a:r>
          </a:p>
          <a:p xmlns:a="http://schemas.openxmlformats.org/drawingml/2006/main">
            <a:r>
              <a:t/>
            </a:r>
          </a:p>
          <a:p xmlns:a="http://schemas.openxmlformats.org/drawingml/2006/main">
            <a:r>
              <a:t>Primary action: 2. Read the review, task evidence or feedback history. Existing navigation provides the route back to other library items.</a:t>
            </a:r>
          </a:p>
          <a:p xmlns:a="http://schemas.openxmlformats.org/drawingml/2006/main">
            <a:r>
              <a:t/>
            </a:r>
          </a:p>
          <a:p xmlns:a="http://schemas.openxmlformats.org/drawingml/2006/main">
            <a:r>
              <a:t>Why it reduces friction: 3. One completion heading communicates the outcome. Repeated green badges and inactive approval buttons add no useful information.</a:t>
            </a:r>
          </a:p>
          <a:p xmlns:a="http://schemas.openxmlformats.org/drawingml/2006/main">
            <a:r>
              <a:t/>
            </a:r>
          </a:p>
          <a:p xmlns:a="http://schemas.openxmlformats.org/drawingml/2006/main">
            <a:r>
              <a:t>Feedback and interaction: 4. Focus lands on the completion heading after a successful response. Read-only history retains text selection and document navigation.</a:t>
            </a:r>
          </a:p>
          <a:p xmlns:a="http://schemas.openxmlformats.org/drawingml/2006/main">
            <a:r>
              <a:t/>
            </a:r>
          </a:p>
          <a:p xmlns:a="http://schemas.openxmlformats.org/drawingml/2006/main">
            <a:r>
              <a:t>Boundary: No Reopen, duplicate item or new summary screen. Closed feedback controls stay disabled under existing rules.</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treadle/packages/web/src/library.js:647, treadle/packages/web/src/feedback.js:225, treadle/packages/web/src/feedback.js:505</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 feedback as a draft</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Existing session, round and file controls form a compact toolbar. The selected source line appears beside the comment field.</a:t>
            </a:r>
          </a:p>
          <a:p xmlns:a="http://schemas.openxmlformats.org/drawingml/2006/main">
            <a:r>
              <a:t/>
            </a:r>
          </a:p>
          <a:p xmlns:a="http://schemas.openxmlformats.org/drawingml/2006/main">
            <a:r>
              <a:t>Primary action: 2. Select the existing anchor, write the comment and Save draft comment. Submit feedback stays a separate action after the comment is saved.</a:t>
            </a:r>
          </a:p>
          <a:p xmlns:a="http://schemas.openxmlformats.org/drawingml/2006/main">
            <a:r>
              <a:t/>
            </a:r>
          </a:p>
          <a:p xmlns:a="http://schemas.openxmlformats.org/drawingml/2006/main">
            <a:r>
              <a:t>Why it reduces friction: 3. A two-column source and discussion arrangement shortens eye movement. Scope and draft state stay visible near the action.</a:t>
            </a:r>
          </a:p>
          <a:p xmlns:a="http://schemas.openxmlformats.org/drawingml/2006/main">
            <a:r>
              <a:t/>
            </a:r>
          </a:p>
          <a:p xmlns:a="http://schemas.openxmlformats.org/drawingml/2006/main">
            <a:r>
              <a:t>Feedback and interaction: 4. Selection gains a blue line highlight. The save response says Draft saved, then the same Submit feedback control gains visual priority.</a:t>
            </a:r>
          </a:p>
          <a:p xmlns:a="http://schemas.openxmlformats.org/drawingml/2006/main">
            <a:r>
              <a:t/>
            </a:r>
          </a:p>
          <a:p xmlns:a="http://schemas.openxmlformats.org/drawingml/2006/main">
            <a:r>
              <a:t>Boundary: Keep comment and submit as separate existing requests. Local input is not a submitted batch. No combined Save and send action.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treadle/packages/web/src/feedback.js:239, treadle/packages/web/src/feedback.js:386, treadle/packages/web/src/feedback.js:465, treadle/packages/web/src/feedback.js:486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revised code diff and thread resolution</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round selector points to the newest round. Before and After remain available. The thread and agent response sit beside the source.</a:t>
            </a:r>
          </a:p>
          <a:p xmlns:a="http://schemas.openxmlformats.org/drawingml/2006/main">
            <a:r>
              <a:t/>
            </a:r>
          </a:p>
          <a:p xmlns:a="http://schemas.openxmlformats.org/drawingml/2006/main">
            <a:r>
              <a:t>Primary action: 2. Inspect the revised lines, then use that thread’s Resolve button. Resolve each remaining thread independently.</a:t>
            </a:r>
          </a:p>
          <a:p xmlns:a="http://schemas.openxmlformats.org/drawingml/2006/main">
            <a:r>
              <a:t/>
            </a:r>
          </a:p>
          <a:p xmlns:a="http://schemas.openxmlformats.org/drawingml/2006/main">
            <a:r>
              <a:t>Why it reduces friction: 3. The source and discussion share a visual baseline. The user sees what changed and why without moving across several stacked panels.</a:t>
            </a:r>
          </a:p>
          <a:p xmlns:a="http://schemas.openxmlformats.org/drawingml/2006/main">
            <a:r>
              <a:t/>
            </a:r>
          </a:p>
          <a:p xmlns:a="http://schemas.openxmlformats.org/drawingml/2006/main">
            <a:r>
              <a:t>Feedback and interaction: 4. A successful response changes Unresolved to Resolved and disables its action. Original anchors and submitted batches remain accessible.</a:t>
            </a:r>
          </a:p>
          <a:p xmlns:a="http://schemas.openxmlformats.org/drawingml/2006/main">
            <a:r>
              <a:t/>
            </a:r>
          </a:p>
          <a:p xmlns:a="http://schemas.openxmlformats.org/drawingml/2006/main">
            <a:r>
              <a:t>Boundary: Do not claim auto-delivery or agent presence. An idle agent needs a prompt. Resolve grants no approval, Start or Finish permission.</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treadle/packages/web/src/feedback.js:267, treadle/packages/web/src/feedback.js:547, treadle/packages/web/src/feedback.js:560, treadle/packages/web/src/feedback.js:493</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stale feedback anchor</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stale status labels the thread. The latest open round and new selected source line remain visible beside it.</a:t>
            </a:r>
          </a:p>
          <a:p xmlns:a="http://schemas.openxmlformats.org/drawingml/2006/main">
            <a:r>
              <a:t/>
            </a:r>
          </a:p>
          <a:p xmlns:a="http://schemas.openxmlformats.org/drawingml/2006/main">
            <a:r>
              <a:t>Primary action: 2. Select the new anchor, choose Reattach to selected anchor, then Submit feedback. These remain two separate recorded actions.</a:t>
            </a:r>
          </a:p>
          <a:p xmlns:a="http://schemas.openxmlformats.org/drawingml/2006/main">
            <a:r>
              <a:t/>
            </a:r>
          </a:p>
          <a:p xmlns:a="http://schemas.openxmlformats.org/drawingml/2006/main">
            <a:r>
              <a:t>Why it reduces friction: 3. Context, selection and the recovery action stay together. A stale comment does not disappear into a generic error message.</a:t>
            </a:r>
          </a:p>
          <a:p xmlns:a="http://schemas.openxmlformats.org/drawingml/2006/main">
            <a:r>
              <a:t/>
            </a:r>
          </a:p>
          <a:p xmlns:a="http://schemas.openxmlformats.org/drawingml/2006/main">
            <a:r>
              <a:t>Feedback and interaction: 4. Announce Reattachment saved as a draft. Visual priority then moves to the existing Submit feedback control, after a successful response.</a:t>
            </a:r>
          </a:p>
          <a:p xmlns:a="http://schemas.openxmlformats.org/drawingml/2006/main">
            <a:r>
              <a:t/>
            </a:r>
          </a:p>
          <a:p xmlns:a="http://schemas.openxmlformats.org/drawingml/2006/main">
            <a:r>
              <a:t>Boundary: Never infer or silently move an anchor. A sealed round requires an agent-published new round. Preserve View original anchor.</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treadle/packages/web/src/feedback.js:567, treadle/packages/web/src/feedback.js:578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feedback revision conflict</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feedback error sits next to the comment field. The selected source and retained text stay visible.</a:t>
            </a:r>
          </a:p>
          <a:p xmlns:a="http://schemas.openxmlformats.org/drawingml/2006/main">
            <a:r>
              <a:t/>
            </a:r>
          </a:p>
          <a:p xmlns:a="http://schemas.openxmlformats.org/drawingml/2006/main">
            <a:r>
              <a:t>Primary action: 2. Refresh feedback, inspect the current round and retry the intended existing action. Keep the draft and the spec owner controls separate.</a:t>
            </a:r>
          </a:p>
          <a:p xmlns:a="http://schemas.openxmlformats.org/drawingml/2006/main">
            <a:r>
              <a:t/>
            </a:r>
          </a:p>
          <a:p xmlns:a="http://schemas.openxmlformats.org/drawingml/2006/main">
            <a:r>
              <a:t>Why it reduces friction: 3. A specific recovery instruction replaces a broad red banner. Draft retention avoids retyping and makes the interrupted work recoverable.</a:t>
            </a:r>
          </a:p>
          <a:p xmlns:a="http://schemas.openxmlformats.org/drawingml/2006/main">
            <a:r>
              <a:t/>
            </a:r>
          </a:p>
          <a:p xmlns:a="http://schemas.openxmlformats.org/drawingml/2006/main">
            <a:r>
              <a:t>Feedback and interaction: 4. Focus the error announcement without erasing the draft. Show a busy refresh state and update source selection deliberately.</a:t>
            </a:r>
          </a:p>
          <a:p xmlns:a="http://schemas.openxmlformats.org/drawingml/2006/main">
            <a:r>
              <a:t/>
            </a:r>
          </a:p>
          <a:p xmlns:a="http://schemas.openxmlformats.org/drawingml/2006/main">
            <a:r>
              <a:t>Boundary: Retain the existing operation identity and revision checks. Do not automatically resend, submit a new batch or reattach after conflict.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treadle/packages/web/src/feedback.js:124, treadle/packages/web/src/feedback.js:135, treadle/packages/web/src/feedback.js:164</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owner action revision conflict</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owner error and Refresh control sit directly beside the owner action area. The attempted action remains understandable.</a:t>
            </a:r>
          </a:p>
          <a:p xmlns:a="http://schemas.openxmlformats.org/drawingml/2006/main">
            <a:r>
              <a:t/>
            </a:r>
          </a:p>
          <a:p xmlns:a="http://schemas.openxmlformats.org/drawingml/2006/main">
            <a:r>
              <a:t>Primary action: 2. Refresh the spec, reread changed content, then deliberately repeat the eligible action if it is still appropriate.</a:t>
            </a:r>
          </a:p>
          <a:p xmlns:a="http://schemas.openxmlformats.org/drawingml/2006/main">
            <a:r>
              <a:t/>
            </a:r>
          </a:p>
          <a:p xmlns:a="http://schemas.openxmlformats.org/drawingml/2006/main">
            <a:r>
              <a:t>Why it reduces friction: 3. Recovery lives at the point of interruption. The UI makes no claim that permission exists when the server refused the write.</a:t>
            </a:r>
          </a:p>
          <a:p xmlns:a="http://schemas.openxmlformats.org/drawingml/2006/main">
            <a:r>
              <a:t/>
            </a:r>
          </a:p>
          <a:p xmlns:a="http://schemas.openxmlformats.org/drawingml/2006/main">
            <a:r>
              <a:t>Feedback and interaction: 4. Focus the error. Disable duplicate requests while refreshing. Restore an action only from the new workflow response.</a:t>
            </a:r>
          </a:p>
          <a:p xmlns:a="http://schemas.openxmlformats.org/drawingml/2006/main">
            <a:r>
              <a:t/>
            </a:r>
          </a:p>
          <a:p xmlns:a="http://schemas.openxmlformats.org/drawingml/2006/main">
            <a:r>
              <a:t>Boundary: Never advance optimistically or auto-retry approval. Keep expected_revision, plan identity and all server eligibility rules unchanged.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treadle/packages/web/src/library.js:572, treadle/packages/web/src/library.js:677, treadle/packages/web/src/library.js:689, treadle/packages/web/src/library.js:986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recorded action with pending audit recovery</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audit_pending message appears beneath the recorded permission state. Task content remains available.</a:t>
            </a:r>
          </a:p>
          <a:p xmlns:a="http://schemas.openxmlformats.org/drawingml/2006/main">
            <a:r>
              <a:t/>
            </a:r>
          </a:p>
          <a:p xmlns:a="http://schemas.openxmlformats.org/drawingml/2006/main">
            <a:r>
              <a:t>Primary action: 2. Read the state and refresh after recovery. The owner does not repeat an action that already landed.</a:t>
            </a:r>
          </a:p>
          <a:p xmlns:a="http://schemas.openxmlformats.org/drawingml/2006/main">
            <a:r>
              <a:t/>
            </a:r>
          </a:p>
          <a:p xmlns:a="http://schemas.openxmlformats.org/drawingml/2006/main">
            <a:r>
              <a:t>Why it reduces friction: 3. The UI distinguishes a durable receipt from a journal problem. A quiet amber message prevents a second approval prompted by uncertainty.</a:t>
            </a:r>
          </a:p>
          <a:p xmlns:a="http://schemas.openxmlformats.org/drawingml/2006/main">
            <a:r>
              <a:t/>
            </a:r>
          </a:p>
          <a:p xmlns:a="http://schemas.openxmlformats.org/drawingml/2006/main">
            <a:r>
              <a:t>Feedback and interaction: 4. Present the actual pending-entry count only when returned. Announce the recorded action, then the outstanding recovery status.</a:t>
            </a:r>
          </a:p>
          <a:p xmlns:a="http://schemas.openxmlformats.org/drawingml/2006/main">
            <a:r>
              <a:t/>
            </a:r>
          </a:p>
          <a:p xmlns:a="http://schemas.openxmlformats.org/drawingml/2006/main">
            <a:r>
              <a:t>Boundary: No Recover audit button or backend repair. No invented journal completion. Avoid showing Start again because an append failed.</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treadle/packages/web/src/library.js:642, treadle/packages/web/src/library.js:697, wiki/systems/owner-workflow.md</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Approval state unavailable</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unavailable state occupies the owner panel. Already available document content stays readable.</a:t>
            </a:r>
          </a:p>
          <a:p xmlns:a="http://schemas.openxmlformats.org/drawingml/2006/main">
            <a:r>
              <a:t/>
            </a:r>
          </a:p>
          <a:p xmlns:a="http://schemas.openxmlformats.org/drawingml/2006/main">
            <a:r>
              <a:t>Primary action: 2. Use the existing Refresh control. Approval actions stay hidden until the workflow response has loaded consistently.</a:t>
            </a:r>
          </a:p>
          <a:p xmlns:a="http://schemas.openxmlformats.org/drawingml/2006/main">
            <a:r>
              <a:t/>
            </a:r>
          </a:p>
          <a:p xmlns:a="http://schemas.openxmlformats.org/drawingml/2006/main">
            <a:r>
              <a:t>Why it reduces friction: 3. The message explains the interruption and offers the supported recovery path. The screen does not collapse into an empty error page.</a:t>
            </a:r>
          </a:p>
          <a:p xmlns:a="http://schemas.openxmlformats.org/drawingml/2006/main">
            <a:r>
              <a:t/>
            </a:r>
          </a:p>
          <a:p xmlns:a="http://schemas.openxmlformats.org/drawingml/2006/main">
            <a:r>
              <a:t>Feedback and interaction: 4. Announce unavailable and refreshing states. Restore focus to the current-gate heading after a successful refresh.</a:t>
            </a:r>
          </a:p>
          <a:p xmlns:a="http://schemas.openxmlformats.org/drawingml/2006/main">
            <a:r>
              <a:t/>
            </a:r>
          </a:p>
          <a:p xmlns:a="http://schemas.openxmlformats.org/drawingml/2006/main">
            <a:r>
              <a:t>Boundary: Do not infer can_start or can_close from cached content, task counts or an old PASS. No new error screen or endpoint.</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treadle/packages/web/src/library.js:631, treadle/packages/web/src/library.js:916, treadle/packages/web/src/library.js:986</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Feedback before a session exists</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feedback empty state explains why no source or thread is available. Spec navigation remains visible.</a:t>
            </a:r>
          </a:p>
          <a:p xmlns:a="http://schemas.openxmlformats.org/drawingml/2006/main">
            <a:r>
              <a:t/>
            </a:r>
          </a:p>
          <a:p xmlns:a="http://schemas.openxmlformats.org/drawingml/2006/main">
            <a:r>
              <a:t>Primary action: 2. The next step is the existing agent workflow outside this browser. Refresh feedback after the agent opens the session.</a:t>
            </a:r>
          </a:p>
          <a:p xmlns:a="http://schemas.openxmlformats.org/drawingml/2006/main">
            <a:r>
              <a:t/>
            </a:r>
          </a:p>
          <a:p xmlns:a="http://schemas.openxmlformats.org/drawingml/2006/main">
            <a:r>
              <a:t>Why it reduces friction: 3. Clear scope avoids offering a dead comment box. The user knows that a review session must exist before leaving feedback.</a:t>
            </a:r>
          </a:p>
          <a:p xmlns:a="http://schemas.openxmlformats.org/drawingml/2006/main">
            <a:r>
              <a:t/>
            </a:r>
          </a:p>
          <a:p xmlns:a="http://schemas.openxmlformats.org/drawingml/2006/main">
            <a:r>
              <a:t>Feedback and interaction: 4. Keep the empty message stable while a refresh is pending. Show a session only when the existing state response supplies one.</a:t>
            </a:r>
          </a:p>
          <a:p xmlns:a="http://schemas.openxmlformats.org/drawingml/2006/main">
            <a:r>
              <a:t/>
            </a:r>
          </a:p>
          <a:p xmlns:a="http://schemas.openxmlformats.org/drawingml/2006/main">
            <a:r>
              <a:t>Boundary: No Create session, agent chat composer or wake-agent action. The browser’s current feedback endpoints retain their existing scope.</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treadle/packages/web/src/feedback.js:51, treadle/packages/web/src/feedback.js:218</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interview room</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dossier, focused interview and question count retain their layout roles. Choice labels use full rows with visible selection.</a:t>
            </a:r>
          </a:p>
          <a:p xmlns:a="http://schemas.openxmlformats.org/drawingml/2006/main">
            <a:r>
              <a:t/>
            </a:r>
          </a:p>
          <a:p xmlns:a="http://schemas.openxmlformats.org/drawingml/2006/main">
            <a:r>
              <a:t>Primary action: 2. Choose an existing option and Submit. Back and I don’t know remain secondary. Preserve the current keyboard behavior.</a:t>
            </a:r>
          </a:p>
          <a:p xmlns:a="http://schemas.openxmlformats.org/drawingml/2006/main">
            <a:r>
              <a:t/>
            </a:r>
          </a:p>
          <a:p xmlns:a="http://schemas.openxmlformats.org/drawingml/2006/main">
            <a:r>
              <a:t>Why it reduces friction: 3. One question fills the center rather than competing with the entire spec. The selected option and submit action form one clear reading path.</a:t>
            </a:r>
          </a:p>
          <a:p xmlns:a="http://schemas.openxmlformats.org/drawingml/2006/main">
            <a:r>
              <a:t/>
            </a:r>
          </a:p>
          <a:p xmlns:a="http://schemas.openxmlformats.org/drawingml/2006/main">
            <a:r>
              <a:t>Feedback and interaction: 4. Keep 1–9 choice hints and j/k navigation. Enter submits, Shift+Enter adds a line in free text. Successful answers advance through the existing room.</a:t>
            </a:r>
          </a:p>
          <a:p xmlns:a="http://schemas.openxmlformats.org/drawingml/2006/main">
            <a:r>
              <a:t/>
            </a:r>
          </a:p>
          <a:p xmlns:a="http://schemas.openxmlformats.org/drawingml/2006/main">
            <a:r>
              <a:t>Boundary: This is the existing page.html room, not a new wizard. Room approval remains separate from library Start and Finish actions.</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treadle/packages/web/src/page.js:268, treadle/packages/web/src/page.js:294, treadle/packages/web/src/page.js:321, treadle/packages/web/src/page.js:379</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history remains read-only</a:t>
            </a:r>
          </a:p>
          <a:p xmlns:a="http://schemas.openxmlformats.org/drawingml/2006/main">
            <a:r>
              <a:t/>
            </a:r>
          </a:p>
          <a:p xmlns:a="http://schemas.openxmlformats.org/drawingml/2006/main">
            <a:r>
              <a:t>Quiet Workspace: system sans serif, white content, soft gray navigation, near-black text, one blue primary action, 44 px primary action controls, 8 px spacing rhythm and 10 px corners. Green and amber always accompany written status. Existing light/dark preference, routes and nine owner steps remain.</a:t>
            </a:r>
          </a:p>
          <a:p xmlns:a="http://schemas.openxmlformats.org/drawingml/2006/main">
            <a:r>
              <a:t/>
            </a:r>
          </a:p>
          <a:p xmlns:a="http://schemas.openxmlformats.org/drawingml/2006/main">
            <a:r>
              <a:t>What the user sees: 1. The existing History group opens the preserved dossier. Historical labels and documents remain available without owner controls.</a:t>
            </a:r>
          </a:p>
          <a:p xmlns:a="http://schemas.openxmlformats.org/drawingml/2006/main">
            <a:r>
              <a:t/>
            </a:r>
          </a:p>
          <a:p xmlns:a="http://schemas.openxmlformats.org/drawingml/2006/main">
            <a:r>
              <a:t>Primary action: 2. Inspect the record or choose another existing item in the library. Do not show gated actions for a historical entry.</a:t>
            </a:r>
          </a:p>
          <a:p xmlns:a="http://schemas.openxmlformats.org/drawingml/2006/main">
            <a:r>
              <a:t/>
            </a:r>
          </a:p>
          <a:p xmlns:a="http://schemas.openxmlformats.org/drawingml/2006/main">
            <a:r>
              <a:t>Why it reduces friction: 3. A persistent read-only heading avoids disabled-button clutter and separates current workflow readiness from historical evidence.</a:t>
            </a:r>
          </a:p>
          <a:p xmlns:a="http://schemas.openxmlformats.org/drawingml/2006/main">
            <a:r>
              <a:t/>
            </a:r>
          </a:p>
          <a:p xmlns:a="http://schemas.openxmlformats.org/drawingml/2006/main">
            <a:r>
              <a:t>Feedback and interaction: 4. Preserve search, focus and disclosure behavior. Show the source’s actual historic state without converting it into a current gate.</a:t>
            </a:r>
          </a:p>
          <a:p xmlns:a="http://schemas.openxmlformats.org/drawingml/2006/main">
            <a:r>
              <a:t/>
            </a:r>
          </a:p>
          <a:p xmlns:a="http://schemas.openxmlformats.org/drawingml/2006/main">
            <a:r>
              <a:t>Boundary: No browser migration, adoption, editing or reopen action. Legacy active records retain their own rules and are distinct from archived history.</a:t>
            </a:r>
          </a:p>
          <a:p xmlns:a="http://schemas.openxmlformats.org/drawingml/2006/main">
            <a:r>
              <a:t/>
            </a:r>
          </a:p>
          <a:p xmlns:a="http://schemas.openxmlformats.org/drawingml/2006/main">
            <a:r>
              <a:t>Detailed behavior: Keep all existing eligibility and authority checks. Presentation is a frontend-only proposal, not shipped behavior. Do not create or mutate endpoints, fields, models, task records or owner receipts. Rearrangement, typography, status copy, native disclosures, focus and existing control placement are the only proposed changes. Existing action handlers keep their payloads and server checks. Resolve, Submit feedback, spec approval, decision acceptance, Start and Finish remain distinct acts. Preserve keyboard navigation and visible focus. Targets should remain at least 44 CSS pixels for primary actions. Use status words alongside color. Prefer short opacity changes of about 120 milliseconds, disable animation under reduced motion and restore focus on success or cancellation. Never silently submit on selection or optimistically advance an owner gate. The existing theme control keeps its preference. In dark appearance use dark neutral surfaces and readable light text, with the same hierarchy and contrast target. The deck renders the light appearance only. Any displayed counts and example wording are illustrative, not a report of the live completed pack.</a:t>
            </a:r>
          </a:p>
          <a:p xmlns:a="http://schemas.openxmlformats.org/drawingml/2006/main">
            <a:r>
              <a:t/>
            </a:r>
          </a:p>
          <a:p xmlns:a="http://schemas.openxmlformats.org/drawingml/2006/main">
            <a:r>
              <a:t>Repository sources at revision 2d22941c84a1362f5572e461753e29813386aadd: treadle/packages/web/src/library.js:98, treadle/packages/web/src/library.js:239, treadle/packages/web/src/library.js:779</a:t>
            </a:r>
          </a:p>
          <a:p xmlns:a="http://schemas.openxmlformats.org/drawingml/2006/main">
            <a:r>
              <a:t/>
            </a:r>
          </a:p>
          <a:p xmlns:a="http://schemas.openxmlformats.org/drawingml/2006/main">
            <a:r>
              <a:t>Design references: https://developer.apple.com/design/human-interface-guidelines</a:t>
            </a:r>
          </a:p>
          <a:p xmlns:a="http://schemas.openxmlformats.org/drawingml/2006/main">
            <a:r>
              <a:t>https://developer.apple.com/design/human-interface-guidelines/buttons?changes=l_8</a:t>
            </a:r>
          </a:p>
          <a:p xmlns:a="http://schemas.openxmlformats.org/drawingml/2006/main">
            <a:r>
              <a:t>https://developer.apple.com/design/human-interface-guidelines/color?changes=_5_2</a:t>
            </a:r>
          </a:p>
          <a:p xmlns:a="http://schemas.openxmlformats.org/drawingml/2006/main">
            <a:r>
              <a:t>https://developer.apple.com/design/human-interface-guidelines/dark-mode</a:t>
            </a:r>
          </a:p>
          <a:p xmlns:a="http://schemas.openxmlformats.org/drawingml/2006/main">
            <a:r>
              <a:t>Apple HIG informs hierarchy, descriptive actions, action feedback and status color with written labels. The exact palette, spacing and presentation layout are this proposal's design choices, not an Apple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f5c4f9889542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0fbcbaa18743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aeba7c72074c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4c4b4ceed042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efc41d87d44a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e78cf51f8149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8C0D21-6334-42E6-8761-8E71FC2A4B4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A4E335-D0C1-4029-B78D-64828A8902C2}"/>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E7EC2E-D4BF-4813-AA77-87256E90223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240577-997C-4081-8D14-2936E16863A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CDD38B-F5D1-4FEE-807B-CB79AA9E1BB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B95F01-B3B2-4F14-B3DB-B271FA0F349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57FC35-B8B6-49A1-9CE5-100F4B943A8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2E38C6-BD9D-499B-AFB1-5191270A5C4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563BB-B3B5-463B-904A-A0CA4740D9A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820F52-3548-47B3-A95A-EE270C0A0BE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66ba627baa486a" /><Relationship Type="http://schemas.openxmlformats.org/officeDocument/2006/relationships/slideLayout" Target="/ppt/slideLayouts/slideLayout1.xml" Id="R650dc9134cbe4c9c" /><Relationship Type="http://schemas.openxmlformats.org/officeDocument/2006/relationships/slideLayout" Target="/ppt/slideLayouts/slideLayout2.xml" Id="R7fd102d9a36346ae" /><Relationship Type="http://schemas.openxmlformats.org/officeDocument/2006/relationships/slideLayout" Target="/ppt/slideLayouts/slideLayout3.xml" Id="R72737cfc33534422" /><Relationship Type="http://schemas.openxmlformats.org/officeDocument/2006/relationships/slideLayout" Target="/ppt/slideLayouts/slideLayout4.xml" Id="R54dcd3cf31dd4bef" /><Relationship Type="http://schemas.openxmlformats.org/officeDocument/2006/relationships/slideLayout" Target="/ppt/slideLayouts/slideLayout5.xml" Id="R996553fa70604c81" /><Relationship Type="http://schemas.openxmlformats.org/officeDocument/2006/relationships/slideLayout" Target="/ppt/slideLayouts/slideLayout6.xml" Id="R277f269371b3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0dc9134cbe4c9c"/>
    <p:sldLayoutId xmlns:r="http://schemas.openxmlformats.org/officeDocument/2006/relationships" id="2147483650" r:id="R7fd102d9a36346ae"/>
    <p:sldLayoutId xmlns:r="http://schemas.openxmlformats.org/officeDocument/2006/relationships" id="2147483651" r:id="R72737cfc33534422"/>
    <p:sldLayoutId xmlns:r="http://schemas.openxmlformats.org/officeDocument/2006/relationships" id="2147483652" r:id="R54dcd3cf31dd4bef"/>
    <p:sldLayoutId xmlns:r="http://schemas.openxmlformats.org/officeDocument/2006/relationships" id="2147483653" r:id="R996553fa70604c81"/>
    <p:sldLayoutId xmlns:r="http://schemas.openxmlformats.org/officeDocument/2006/relationships" id="2147483654" r:id="R277f269371b3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efc14582fe4330" /><Relationship Type="http://schemas.openxmlformats.org/officeDocument/2006/relationships/image" Target="/ppt/media/image.jpeg" Id="R9d56fbb437114636" /><Relationship Type="http://schemas.openxmlformats.org/officeDocument/2006/relationships/notesSlide" Target="/ppt/notesSlides/notesSlide1.xml" Id="Rf512c25462bf47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d6ffcb9875484a" /><Relationship Type="http://schemas.openxmlformats.org/officeDocument/2006/relationships/image" Target="/ppt/media/image2.jpeg" Id="Rab544542f7984332" /><Relationship Type="http://schemas.openxmlformats.org/officeDocument/2006/relationships/notesSlide" Target="/ppt/notesSlides/notesSlide2.xml" Id="Re9b5412c958643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64a8cb8fb74f3a" /><Relationship Type="http://schemas.openxmlformats.org/officeDocument/2006/relationships/image" Target="/ppt/media/image3.jpeg" Id="R3e55b78c8a8a4c07" /><Relationship Type="http://schemas.openxmlformats.org/officeDocument/2006/relationships/notesSlide" Target="/ppt/notesSlides/notesSlide3.xml" Id="R13e5160ff76141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605ff373ed147da" /><Relationship Type="http://schemas.openxmlformats.org/officeDocument/2006/relationships/image" Target="/ppt/media/image4.jpeg" Id="R2c4ae3b795c2464c" /><Relationship Type="http://schemas.openxmlformats.org/officeDocument/2006/relationships/notesSlide" Target="/ppt/notesSlides/notesSlide4.xml" Id="Rf480d79e407644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1d14334d9d4aee" /><Relationship Type="http://schemas.openxmlformats.org/officeDocument/2006/relationships/image" Target="/ppt/media/image5.jpeg" Id="Rbedcb1643ac94fa5" /><Relationship Type="http://schemas.openxmlformats.org/officeDocument/2006/relationships/notesSlide" Target="/ppt/notesSlides/notesSlide5.xml" Id="R9c8d64d8c5924b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ce453a645f4d7a" /><Relationship Type="http://schemas.openxmlformats.org/officeDocument/2006/relationships/image" Target="/ppt/media/image6.jpeg" Id="R74cf65bf40204faf" /><Relationship Type="http://schemas.openxmlformats.org/officeDocument/2006/relationships/notesSlide" Target="/ppt/notesSlides/notesSlide6.xml" Id="Ra708a5d28036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d0c312611c450e" /><Relationship Type="http://schemas.openxmlformats.org/officeDocument/2006/relationships/image" Target="/ppt/media/image7.jpeg" Id="R32618a4710d14f03" /><Relationship Type="http://schemas.openxmlformats.org/officeDocument/2006/relationships/notesSlide" Target="/ppt/notesSlides/notesSlide7.xml" Id="Raf6d0fde6af9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1da10be2c04ab3" /><Relationship Type="http://schemas.openxmlformats.org/officeDocument/2006/relationships/image" Target="/ppt/media/image8.jpeg" Id="Rc4e3cbb1eae74bde" /><Relationship Type="http://schemas.openxmlformats.org/officeDocument/2006/relationships/notesSlide" Target="/ppt/notesSlides/notesSlide8.xml" Id="R2f3fa03b924543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9f348a756d4948" /><Relationship Type="http://schemas.openxmlformats.org/officeDocument/2006/relationships/image" Target="/ppt/media/image9.jpeg" Id="R189de468d1664035" /><Relationship Type="http://schemas.openxmlformats.org/officeDocument/2006/relationships/notesSlide" Target="/ppt/notesSlides/notesSlide9.xml" Id="Rf381f1948e0142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41507e30fe49f5" /><Relationship Type="http://schemas.openxmlformats.org/officeDocument/2006/relationships/image" Target="/ppt/media/image10.jpeg" Id="R3e0ad714ea5441d5" /><Relationship Type="http://schemas.openxmlformats.org/officeDocument/2006/relationships/notesSlide" Target="/ppt/notesSlides/notesSlide10.xml" Id="R5346f4e3e93b46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e0dcc3d77d4347" /><Relationship Type="http://schemas.openxmlformats.org/officeDocument/2006/relationships/image" Target="/ppt/media/image11.jpeg" Id="R32e363e036f2402f" /><Relationship Type="http://schemas.openxmlformats.org/officeDocument/2006/relationships/notesSlide" Target="/ppt/notesSlides/notesSlide11.xml" Id="Rf815f947433e42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deea256ac9f45b9" /><Relationship Type="http://schemas.openxmlformats.org/officeDocument/2006/relationships/image" Target="/ppt/media/image12.jpeg" Id="R9d66a40a4bae4c9d" /><Relationship Type="http://schemas.openxmlformats.org/officeDocument/2006/relationships/notesSlide" Target="/ppt/notesSlides/notesSlide12.xml" Id="R5b401e80d0c243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c03dfb795124e86" /><Relationship Type="http://schemas.openxmlformats.org/officeDocument/2006/relationships/image" Target="/ppt/media/image13.jpeg" Id="Rd1d68f7b04cb4654" /><Relationship Type="http://schemas.openxmlformats.org/officeDocument/2006/relationships/notesSlide" Target="/ppt/notesSlides/notesSlide13.xml" Id="R3b6e039ffdcb4c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def401d99044c8" /><Relationship Type="http://schemas.openxmlformats.org/officeDocument/2006/relationships/image" Target="/ppt/media/image14.jpeg" Id="Rf4d90467917545c8" /><Relationship Type="http://schemas.openxmlformats.org/officeDocument/2006/relationships/notesSlide" Target="/ppt/notesSlides/notesSlide14.xml" Id="R66783acf014641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28bfad5afb74956" /><Relationship Type="http://schemas.openxmlformats.org/officeDocument/2006/relationships/image" Target="/ppt/media/image15.jpeg" Id="R26109565cdac445e" /><Relationship Type="http://schemas.openxmlformats.org/officeDocument/2006/relationships/notesSlide" Target="/ppt/notesSlides/notesSlide15.xml" Id="Rb753f64d250940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8e7ccdb3404e01" /><Relationship Type="http://schemas.openxmlformats.org/officeDocument/2006/relationships/image" Target="/ppt/media/image16.jpeg" Id="R9ce699af0d944b46" /><Relationship Type="http://schemas.openxmlformats.org/officeDocument/2006/relationships/notesSlide" Target="/ppt/notesSlides/notesSlide16.xml" Id="R5061c1c3a6344e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81f3a17dc39441e" /><Relationship Type="http://schemas.openxmlformats.org/officeDocument/2006/relationships/image" Target="/ppt/media/image17.jpeg" Id="R01fac04f70c34e15" /><Relationship Type="http://schemas.openxmlformats.org/officeDocument/2006/relationships/notesSlide" Target="/ppt/notesSlides/notesSlide17.xml" Id="Rbab3b16bfb314d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ff548019aba4cc7" /><Relationship Type="http://schemas.openxmlformats.org/officeDocument/2006/relationships/image" Target="/ppt/media/image18.jpeg" Id="R05138c3c34b14f24" /><Relationship Type="http://schemas.openxmlformats.org/officeDocument/2006/relationships/notesSlide" Target="/ppt/notesSlides/notesSlide18.xml" Id="R9a3b2dad9627478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c1304328bf34032" /><Relationship Type="http://schemas.openxmlformats.org/officeDocument/2006/relationships/image" Target="/ppt/media/image19.jpeg" Id="R9b867a0629614907" /><Relationship Type="http://schemas.openxmlformats.org/officeDocument/2006/relationships/notesSlide" Target="/ppt/notesSlides/notesSlide19.xml" Id="Rb117bec1dae344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ad8aa02a5a14972" /><Relationship Type="http://schemas.openxmlformats.org/officeDocument/2006/relationships/image" Target="/ppt/media/image20.jpeg" Id="Rb95c5fe333f846db" /><Relationship Type="http://schemas.openxmlformats.org/officeDocument/2006/relationships/notesSlide" Target="/ppt/notesSlides/notesSlide20.xml" Id="Rdbe1411e52064f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20d539af5154c4e" /><Relationship Type="http://schemas.openxmlformats.org/officeDocument/2006/relationships/image" Target="/ppt/media/image21.jpeg" Id="R78c2233b66fd4126" /><Relationship Type="http://schemas.openxmlformats.org/officeDocument/2006/relationships/notesSlide" Target="/ppt/notesSlides/notesSlide21.xml" Id="R7be6203ac79b43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cdbc218715a483f" /><Relationship Type="http://schemas.openxmlformats.org/officeDocument/2006/relationships/image" Target="/ppt/media/image22.jpeg" Id="R08d57db718964038" /><Relationship Type="http://schemas.openxmlformats.org/officeDocument/2006/relationships/notesSlide" Target="/ppt/notesSlides/notesSlide22.xml" Id="R0bb8499fcfcd4a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b85d2d48c0944be" /><Relationship Type="http://schemas.openxmlformats.org/officeDocument/2006/relationships/image" Target="/ppt/media/image23.jpeg" Id="R968a76b6183d4026" /><Relationship Type="http://schemas.openxmlformats.org/officeDocument/2006/relationships/notesSlide" Target="/ppt/notesSlides/notesSlide23.xml" Id="R3a06cde952d8441e" /></Relationships>
</file>

<file path=ppt/slides/slide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DD1921A-C9EB-405E-8046-FA56370DA9E0}"/>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01  The approval queue</a:t>
            </a:r>
          </a:p>
        </p:txBody>
      </p:sp>
      <p:sp>
        <p:nvSpPr>
          <p:cNvPr id="2" name="">
            <a:extLst xmlns:a="http://schemas.openxmlformats.org/drawingml/2006/main">
              <a:ext uri="{FF2B5EF4-FFF2-40B4-BE49-F238E27FC236}">
                <a16:creationId xmlns:a16="http://schemas.microsoft.com/office/drawing/2014/main" id="{5D100DCF-ED8C-4774-B48B-4317618CA541}"/>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51269A5D-4690-4C46-817D-53550E1CA4BB}"/>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29C2EA82-E3CF-493D-A077-B075C871899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search and spec groups lead into the selected item. The selected workflow phase supplies the current gate and next action.</a:t>
            </a:r>
          </a:p>
        </p:txBody>
      </p:sp>
      <p:sp>
        <p:nvSpPr>
          <p:cNvPr id="5" name="">
            <a:extLst xmlns:a="http://schemas.openxmlformats.org/drawingml/2006/main">
              <a:ext uri="{FF2B5EF4-FFF2-40B4-BE49-F238E27FC236}">
                <a16:creationId xmlns:a16="http://schemas.microsoft.com/office/drawing/2014/main" id="{FC8B7743-4283-4074-980A-FE0826E900C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CF9A59B-33B5-4ED4-96C0-63841FB45EF7}"/>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an item, inspect its plan, then use its eligible owner action. Keep search and the existing group order.</a:t>
            </a:r>
          </a:p>
        </p:txBody>
      </p:sp>
      <p:sp>
        <p:nvSpPr>
          <p:cNvPr id="7" name="">
            <a:extLst xmlns:a="http://schemas.openxmlformats.org/drawingml/2006/main">
              <a:ext uri="{FF2B5EF4-FFF2-40B4-BE49-F238E27FC236}">
                <a16:creationId xmlns:a16="http://schemas.microsoft.com/office/drawing/2014/main" id="{24D14FD6-D81B-48C7-AD56-CB7EAA41D71C}"/>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4DAF86F1-9900-4051-90C2-E7A5C8B8B04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quiet sidebar and one content heading replace repeated cards and competing stage badges. Revision metadata moves into existing details.</a:t>
            </a:r>
          </a:p>
        </p:txBody>
      </p:sp>
      <p:sp>
        <p:nvSpPr>
          <p:cNvPr id="9" name="">
            <a:extLst xmlns:a="http://schemas.openxmlformats.org/drawingml/2006/main">
              <a:ext uri="{FF2B5EF4-FFF2-40B4-BE49-F238E27FC236}">
                <a16:creationId xmlns:a16="http://schemas.microsoft.com/office/drawing/2014/main" id="{985462F7-D137-42AF-A0F9-D61C81F01D1A}"/>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55C13E7B-5543-4F96-8EAC-F98B530C52CB}"/>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Selection gains a subtle blue fill. Current-gate text outranks a stale deliverable label. Keyboard focus stays visible.</a:t>
            </a:r>
          </a:p>
        </p:txBody>
      </p:sp>
      <p:pic>
        <p:nvPicPr>
          <p:cNvPr id="11" name="">
            <a:extLst xmlns:a="http://schemas.openxmlformats.org/drawingml/2006/main">
              <a:ext uri="{FF2B5EF4-FFF2-40B4-BE49-F238E27FC236}">
                <a16:creationId xmlns:a16="http://schemas.microsoft.com/office/drawing/2014/main" id="{15753C99-B6EC-4C3E-9954-AA09DC6606EB}"/>
              </a:ext>
            </a:extLst>
          </p:cNvPr>
          <p:cNvPicPr>
            <a:picLocks xmlns:a="http://schemas.openxmlformats.org/drawingml/2006/main" noChangeAspect="1"/>
          </p:cNvPicPr>
          <p:nvPr/>
        </p:nvPicPr>
        <p:blipFill>
          <a:blip xmlns:r="http://schemas.openxmlformats.org/officeDocument/2006/relationships" xmlns:a="http://schemas.openxmlformats.org/drawingml/2006/main" r:embed="R9d56fbb437114636"/>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376CFC8-1E43-49F9-9707-50638A01DEC1}"/>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69A58291-2A29-4A37-B0DE-7712AB2E7B9F}"/>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List labels use existing list workflow data. No bulk approval, added inbox or new status field.</a:t>
            </a:r>
          </a:p>
        </p:txBody>
      </p:sp>
      <p:sp>
        <p:nvSpPr>
          <p:cNvPr id="14" name="">
            <a:extLst xmlns:a="http://schemas.openxmlformats.org/drawingml/2006/main">
              <a:ext uri="{FF2B5EF4-FFF2-40B4-BE49-F238E27FC236}">
                <a16:creationId xmlns:a16="http://schemas.microsoft.com/office/drawing/2014/main" id="{1BC55253-9F58-43C7-A81E-A2567A7034AA}"/>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4A8D4D9-874E-4D1F-8B5C-29B8D038E5F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 / 23</a:t>
            </a:r>
          </a:p>
        </p:txBody>
      </p:sp>
    </p:spTree>
    <p:extLst>
      <p:ext uri="{BB962C8B-B14F-4D97-AF65-F5344CB8AC3E}">
        <p14:creationId xmlns:p14="http://schemas.microsoft.com/office/powerpoint/2010/main" val="1601760011"/>
      </p:ext>
    </p:extLst>
  </p:cSld>
</p:sld>
</file>

<file path=ppt/slides/slide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6114AF-174C-48E6-B443-5DF930FC1C91}"/>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02  The brief and incomplete plan</a:t>
            </a:r>
          </a:p>
        </p:txBody>
      </p:sp>
      <p:sp>
        <p:nvSpPr>
          <p:cNvPr id="2" name="">
            <a:extLst xmlns:a="http://schemas.openxmlformats.org/drawingml/2006/main">
              <a:ext uri="{FF2B5EF4-FFF2-40B4-BE49-F238E27FC236}">
                <a16:creationId xmlns:a16="http://schemas.microsoft.com/office/drawing/2014/main" id="{8B60FFD4-32E8-42FE-AF37-29FD327671FE}"/>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7CDCD0D1-FD3D-4DF6-89F1-DC557A06C049}"/>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3A95C8D2-B746-429A-976B-6C7CAFE0EB64}"/>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owner panel explains the current wait. The brief is expanded and other document disclosures remain available.</a:t>
            </a:r>
          </a:p>
        </p:txBody>
      </p:sp>
      <p:sp>
        <p:nvSpPr>
          <p:cNvPr id="5" name="">
            <a:extLst xmlns:a="http://schemas.openxmlformats.org/drawingml/2006/main">
              <a:ext uri="{FF2B5EF4-FFF2-40B4-BE49-F238E27FC236}">
                <a16:creationId xmlns:a16="http://schemas.microsoft.com/office/drawing/2014/main" id="{C74C9713-9465-4D37-9FE2-C50E05ABCD69}"/>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41A5266D-8051-46CC-AFBE-E6279273E3D7}"/>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brief or open the existing plan document. Show no approval action while the workflow is in the plan phase.</a:t>
            </a:r>
          </a:p>
        </p:txBody>
      </p:sp>
      <p:sp>
        <p:nvSpPr>
          <p:cNvPr id="7" name="">
            <a:extLst xmlns:a="http://schemas.openxmlformats.org/drawingml/2006/main">
              <a:ext uri="{FF2B5EF4-FFF2-40B4-BE49-F238E27FC236}">
                <a16:creationId xmlns:a16="http://schemas.microsoft.com/office/drawing/2014/main" id="{70DEC070-58A8-4D12-99FE-2E5A471AD15D}"/>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24B02CBB-E258-4D02-A39E-866EAE86C66F}"/>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Scope appears before technical detail. Quiet document disclosures avoid multiple tall cards and nested visual frames.</a:t>
            </a:r>
          </a:p>
        </p:txBody>
      </p:sp>
      <p:sp>
        <p:nvSpPr>
          <p:cNvPr id="9" name="">
            <a:extLst xmlns:a="http://schemas.openxmlformats.org/drawingml/2006/main">
              <a:ext uri="{FF2B5EF4-FFF2-40B4-BE49-F238E27FC236}">
                <a16:creationId xmlns:a16="http://schemas.microsoft.com/office/drawing/2014/main" id="{713F6570-B967-4068-A97E-45B461286EEE}"/>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6ECD7C01-6370-446D-9CD4-2B938C247DB2}"/>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Expanding a document retains its place and focus. Missing artifacts have explicit text rather than an empty rectangle.</a:t>
            </a:r>
          </a:p>
        </p:txBody>
      </p:sp>
      <p:pic>
        <p:nvPicPr>
          <p:cNvPr id="11" name="">
            <a:extLst xmlns:a="http://schemas.openxmlformats.org/drawingml/2006/main">
              <a:ext uri="{FF2B5EF4-FFF2-40B4-BE49-F238E27FC236}">
                <a16:creationId xmlns:a16="http://schemas.microsoft.com/office/drawing/2014/main" id="{74656880-2E3F-4A73-9FE5-B6ECCCABA473}"/>
              </a:ext>
            </a:extLst>
          </p:cNvPr>
          <p:cNvPicPr>
            <a:picLocks xmlns:a="http://schemas.openxmlformats.org/drawingml/2006/main" noChangeAspect="1"/>
          </p:cNvPicPr>
          <p:nvPr/>
        </p:nvPicPr>
        <p:blipFill>
          <a:blip xmlns:r="http://schemas.openxmlformats.org/officeDocument/2006/relationships" xmlns:a="http://schemas.openxmlformats.org/drawingml/2006/main" r:embed="Rab544542f7984332"/>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18A7A72-24FB-4364-AC8E-77DE824631C6}"/>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532A1811-F3EF-4C5B-8448-4449FACF99A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Display the existing workflow reasons. Do not create a request-plan action or let the owner edit task definitions here.</a:t>
            </a:r>
          </a:p>
        </p:txBody>
      </p:sp>
      <p:sp>
        <p:nvSpPr>
          <p:cNvPr id="14" name="">
            <a:extLst xmlns:a="http://schemas.openxmlformats.org/drawingml/2006/main">
              <a:ext uri="{FF2B5EF4-FFF2-40B4-BE49-F238E27FC236}">
                <a16:creationId xmlns:a16="http://schemas.microsoft.com/office/drawing/2014/main" id="{845EC57C-5C2F-4AD6-AE13-8AE489003E6A}"/>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E9CCF59-A2A5-405F-AF33-39AA518DA30F}"/>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 / 23</a:t>
            </a:r>
          </a:p>
        </p:txBody>
      </p:sp>
    </p:spTree>
    <p:extLst>
      <p:ext uri="{BB962C8B-B14F-4D97-AF65-F5344CB8AC3E}">
        <p14:creationId xmlns:p14="http://schemas.microsoft.com/office/powerpoint/2010/main" val="252814157"/>
      </p:ext>
    </p:extLst>
  </p:cSld>
</p:sld>
</file>

<file path=ppt/slides/slide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4B8FDF-4F08-4E25-8F20-686E649FA0B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03  Spec questions and an unknown answer</a:t>
            </a:r>
          </a:p>
        </p:txBody>
      </p:sp>
      <p:sp>
        <p:nvSpPr>
          <p:cNvPr id="2" name="">
            <a:extLst xmlns:a="http://schemas.openxmlformats.org/drawingml/2006/main">
              <a:ext uri="{FF2B5EF4-FFF2-40B4-BE49-F238E27FC236}">
                <a16:creationId xmlns:a16="http://schemas.microsoft.com/office/drawing/2014/main" id="{2A85D80B-1D4C-4E82-9816-6A65BC608321}"/>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5663CAF9-CBDD-4595-B73A-B08D4CBC7020}"/>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BAA11292-A15E-4CB3-AF6C-B06377562F6B}"/>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first unresolved question sits above supporting requirements. The saved unknown state remains explicit beside the question.</a:t>
            </a:r>
          </a:p>
        </p:txBody>
      </p:sp>
      <p:sp>
        <p:nvSpPr>
          <p:cNvPr id="5" name="">
            <a:extLst xmlns:a="http://schemas.openxmlformats.org/drawingml/2006/main">
              <a:ext uri="{FF2B5EF4-FFF2-40B4-BE49-F238E27FC236}">
                <a16:creationId xmlns:a16="http://schemas.microsoft.com/office/drawing/2014/main" id="{0C4ADB75-7C05-4CFD-A1EB-83F813F9E8FF}"/>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39829DA8-8B56-43D2-B047-B728D1FA435A}"/>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Type an answer and choose Answer. Keep I don’t know as a quieter existing secondary action.</a:t>
            </a:r>
          </a:p>
        </p:txBody>
      </p:sp>
      <p:sp>
        <p:nvSpPr>
          <p:cNvPr id="7" name="">
            <a:extLst xmlns:a="http://schemas.openxmlformats.org/drawingml/2006/main">
              <a:ext uri="{FF2B5EF4-FFF2-40B4-BE49-F238E27FC236}">
                <a16:creationId xmlns:a16="http://schemas.microsoft.com/office/drawing/2014/main" id="{912F075F-AC05-4C8E-BCEF-D052686C8F5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BB995C19-FE80-43FB-8368-745757B7EFC0}"/>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user handles one visible question before reading supporting material. Completed answers remain in existing disclosures below.</a:t>
            </a:r>
          </a:p>
        </p:txBody>
      </p:sp>
      <p:sp>
        <p:nvSpPr>
          <p:cNvPr id="9" name="">
            <a:extLst xmlns:a="http://schemas.openxmlformats.org/drawingml/2006/main">
              <a:ext uri="{FF2B5EF4-FFF2-40B4-BE49-F238E27FC236}">
                <a16:creationId xmlns:a16="http://schemas.microsoft.com/office/drawing/2014/main" id="{F9394616-5443-44E9-8478-C36DA03CE2B3}"/>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1990A864-0A64-485F-96DC-590918009A6C}"/>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 a successful response, announce Answer recorded and focus the next unresolved question. On failure, retain the typed answer.</a:t>
            </a:r>
          </a:p>
        </p:txBody>
      </p:sp>
      <p:pic>
        <p:nvPicPr>
          <p:cNvPr id="11" name="">
            <a:extLst xmlns:a="http://schemas.openxmlformats.org/drawingml/2006/main">
              <a:ext uri="{FF2B5EF4-FFF2-40B4-BE49-F238E27FC236}">
                <a16:creationId xmlns:a16="http://schemas.microsoft.com/office/drawing/2014/main" id="{BA30FDF8-3092-4417-ACBA-A53E336239ED}"/>
              </a:ext>
            </a:extLst>
          </p:cNvPr>
          <p:cNvPicPr>
            <a:picLocks xmlns:a="http://schemas.openxmlformats.org/drawingml/2006/main" noChangeAspect="1"/>
          </p:cNvPicPr>
          <p:nvPr/>
        </p:nvPicPr>
        <p:blipFill>
          <a:blip xmlns:r="http://schemas.openxmlformats.org/officeDocument/2006/relationships" xmlns:a="http://schemas.openxmlformats.org/drawingml/2006/main" r:embed="R3e55b78c8a8a4c07"/>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BD7A720-FF5D-40C9-8E3F-4D1FAACCBCC6}"/>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864D1ECD-8C61-49CA-B3CF-7DA0D45F684D}"/>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The count comes from loaded clarifications. Unknown does not count as resolved. No automatic approval or hidden answer submission.</a:t>
            </a:r>
          </a:p>
        </p:txBody>
      </p:sp>
      <p:sp>
        <p:nvSpPr>
          <p:cNvPr id="14" name="">
            <a:extLst xmlns:a="http://schemas.openxmlformats.org/drawingml/2006/main">
              <a:ext uri="{FF2B5EF4-FFF2-40B4-BE49-F238E27FC236}">
                <a16:creationId xmlns:a16="http://schemas.microsoft.com/office/drawing/2014/main" id="{9E986A28-16FA-4848-9835-9DB115030E87}"/>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4BA8F8A9-37A6-4A09-BE84-BD3DD0F9CBD9}"/>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3 / 23</a:t>
            </a:r>
          </a:p>
        </p:txBody>
      </p:sp>
    </p:spTree>
    <p:extLst>
      <p:ext uri="{BB962C8B-B14F-4D97-AF65-F5344CB8AC3E}">
        <p14:creationId xmlns:p14="http://schemas.microsoft.com/office/powerpoint/2010/main" val="1304475450"/>
      </p:ext>
    </p:extLst>
  </p:cSld>
</p:sld>
</file>

<file path=ppt/slides/slide4.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6E9F82-4479-40F3-8FA8-9E0CD3554AF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04  Spec approval after answers</a:t>
            </a:r>
          </a:p>
        </p:txBody>
      </p:sp>
      <p:sp>
        <p:nvSpPr>
          <p:cNvPr id="2" name="">
            <a:extLst xmlns:a="http://schemas.openxmlformats.org/drawingml/2006/main">
              <a:ext uri="{FF2B5EF4-FFF2-40B4-BE49-F238E27FC236}">
                <a16:creationId xmlns:a16="http://schemas.microsoft.com/office/drawing/2014/main" id="{43F21E02-B15D-4CA4-8A26-CB535CBC802B}"/>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DF627D53-60D3-4117-89C7-2760CF71CDA2}"/>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FE3A86B5-2D8B-447A-8D5E-A467B0FE460B}"/>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gate, answer summary and existing spec disclosure share one reading column.</a:t>
            </a:r>
          </a:p>
        </p:txBody>
      </p:sp>
      <p:sp>
        <p:nvSpPr>
          <p:cNvPr id="5" name="">
            <a:extLst xmlns:a="http://schemas.openxmlformats.org/drawingml/2006/main">
              <a:ext uri="{FF2B5EF4-FFF2-40B4-BE49-F238E27FC236}">
                <a16:creationId xmlns:a16="http://schemas.microsoft.com/office/drawing/2014/main" id="{ECD5CBBF-2418-4719-9A76-E7F538792A93}"/>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DBE57178-5116-4236-B477-9FF542E71AFD}"/>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Approve this spec arms the existing confirmation. A second deliberate click records the approval with the current owner claim.</a:t>
            </a:r>
          </a:p>
        </p:txBody>
      </p:sp>
      <p:sp>
        <p:nvSpPr>
          <p:cNvPr id="7" name="">
            <a:extLst xmlns:a="http://schemas.openxmlformats.org/drawingml/2006/main">
              <a:ext uri="{FF2B5EF4-FFF2-40B4-BE49-F238E27FC236}">
                <a16:creationId xmlns:a16="http://schemas.microsoft.com/office/drawing/2014/main" id="{2038ED0B-4375-483B-B0E2-3A1147B4E814}"/>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CBF3089-D107-4441-AACC-F393D05161FD}"/>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Answers stay visible near the approval action. The design removes unrelated instructions instead of asking users to infer readiness.</a:t>
            </a:r>
          </a:p>
        </p:txBody>
      </p:sp>
      <p:sp>
        <p:nvSpPr>
          <p:cNvPr id="9" name="">
            <a:extLst xmlns:a="http://schemas.openxmlformats.org/drawingml/2006/main">
              <a:ext uri="{FF2B5EF4-FFF2-40B4-BE49-F238E27FC236}">
                <a16:creationId xmlns:a16="http://schemas.microsoft.com/office/drawing/2014/main" id="{854E3033-9A53-40F2-B1FA-478372C053E3}"/>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FAD09DE2-A1A0-4E12-9A39-36A8CB7FF856}"/>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First click changes the same button to Confirm spec approval and explains the recorded act inline. Busy state prevents duplicate submissions.</a:t>
            </a:r>
          </a:p>
        </p:txBody>
      </p:sp>
      <p:pic>
        <p:nvPicPr>
          <p:cNvPr id="11" name="">
            <a:extLst xmlns:a="http://schemas.openxmlformats.org/drawingml/2006/main">
              <a:ext uri="{FF2B5EF4-FFF2-40B4-BE49-F238E27FC236}">
                <a16:creationId xmlns:a16="http://schemas.microsoft.com/office/drawing/2014/main" id="{DE27BF00-C5A0-432B-AA86-0584E277B81F}"/>
              </a:ext>
            </a:extLst>
          </p:cNvPr>
          <p:cNvPicPr>
            <a:picLocks xmlns:a="http://schemas.openxmlformats.org/drawingml/2006/main" noChangeAspect="1"/>
          </p:cNvPicPr>
          <p:nvPr/>
        </p:nvPicPr>
        <p:blipFill>
          <a:blip xmlns:r="http://schemas.openxmlformats.org/officeDocument/2006/relationships" xmlns:a="http://schemas.openxmlformats.org/drawingml/2006/main" r:embed="R2c4ae3b795c2464c"/>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D863499-7197-436C-9C90-ED5F5956B308}"/>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D2808E09-940F-438A-8BE0-E028311BDEA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the current two-click library approval. Empty phase-question lists skip this ceremony. Approval still grants no Start permission.</a:t>
            </a:r>
          </a:p>
        </p:txBody>
      </p:sp>
      <p:sp>
        <p:nvSpPr>
          <p:cNvPr id="14" name="">
            <a:extLst xmlns:a="http://schemas.openxmlformats.org/drawingml/2006/main">
              <a:ext uri="{FF2B5EF4-FFF2-40B4-BE49-F238E27FC236}">
                <a16:creationId xmlns:a16="http://schemas.microsoft.com/office/drawing/2014/main" id="{D298F084-DEF9-4282-BCAC-A2F38EFB5E0F}"/>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1834AE1-1291-4275-BCBD-63AD7F39161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4 / 23</a:t>
            </a:r>
          </a:p>
        </p:txBody>
      </p:sp>
    </p:spTree>
    <p:extLst>
      <p:ext uri="{BB962C8B-B14F-4D97-AF65-F5344CB8AC3E}">
        <p14:creationId xmlns:p14="http://schemas.microsoft.com/office/powerpoint/2010/main" val="549455043"/>
      </p:ext>
    </p:extLst>
  </p:cSld>
</p:sld>
</file>

<file path=ppt/slides/slide5.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E3BEFD-602A-4396-BC46-4EBF10D08E6D}"/>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05  Design decision acceptance</a:t>
            </a:r>
          </a:p>
        </p:txBody>
      </p:sp>
      <p:sp>
        <p:nvSpPr>
          <p:cNvPr id="2" name="">
            <a:extLst xmlns:a="http://schemas.openxmlformats.org/drawingml/2006/main">
              <a:ext uri="{FF2B5EF4-FFF2-40B4-BE49-F238E27FC236}">
                <a16:creationId xmlns:a16="http://schemas.microsoft.com/office/drawing/2014/main" id="{25924051-7B6F-436C-8E97-F6D8BD0C1C7F}"/>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29EFE460-A99B-4C78-B286-6646FC0E731F}"/>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E35D4FF-545E-46B7-AA88-20F0C9BEBAA2}"/>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proposed decision and its because text appear before supporting design parts. Accepted decisions stay available below.</a:t>
            </a:r>
          </a:p>
        </p:txBody>
      </p:sp>
      <p:sp>
        <p:nvSpPr>
          <p:cNvPr id="5" name="">
            <a:extLst xmlns:a="http://schemas.openxmlformats.org/drawingml/2006/main">
              <a:ext uri="{FF2B5EF4-FFF2-40B4-BE49-F238E27FC236}">
                <a16:creationId xmlns:a16="http://schemas.microsoft.com/office/drawing/2014/main" id="{3A41384C-DEB0-4819-A0A1-11AEDBEF5BE2}"/>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D35C01A-EBE7-4809-BB59-69F0ADF03F5D}"/>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Accept D-2 records only this decision. Each remaining proposal still needs its own existing acceptance action.</a:t>
            </a:r>
          </a:p>
        </p:txBody>
      </p:sp>
      <p:sp>
        <p:nvSpPr>
          <p:cNvPr id="7" name="">
            <a:extLst xmlns:a="http://schemas.openxmlformats.org/drawingml/2006/main">
              <a:ext uri="{FF2B5EF4-FFF2-40B4-BE49-F238E27FC236}">
                <a16:creationId xmlns:a16="http://schemas.microsoft.com/office/drawing/2014/main" id="{1F9AED44-E218-4AB8-A80B-014C0E2ED541}"/>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A4C52E20-D8BF-4170-95FE-81B40FE684E7}"/>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expanded proposal has the strongest action. Secondary proposals and design diagrams use existing content disclosures.</a:t>
            </a:r>
          </a:p>
        </p:txBody>
      </p:sp>
      <p:sp>
        <p:nvSpPr>
          <p:cNvPr id="9" name="">
            <a:extLst xmlns:a="http://schemas.openxmlformats.org/drawingml/2006/main">
              <a:ext uri="{FF2B5EF4-FFF2-40B4-BE49-F238E27FC236}">
                <a16:creationId xmlns:a16="http://schemas.microsoft.com/office/drawing/2014/main" id="{7E2667D8-A0DF-42C7-AA0E-830307C0F726}"/>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52A9C18C-8FB7-4A14-941F-22E9FA619937}"/>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saved acceptance changes the written status and moves focus to the next proposal. Success depends on the returned workflow state.</a:t>
            </a:r>
          </a:p>
        </p:txBody>
      </p:sp>
      <p:pic>
        <p:nvPicPr>
          <p:cNvPr id="11" name="">
            <a:extLst xmlns:a="http://schemas.openxmlformats.org/drawingml/2006/main">
              <a:ext uri="{FF2B5EF4-FFF2-40B4-BE49-F238E27FC236}">
                <a16:creationId xmlns:a16="http://schemas.microsoft.com/office/drawing/2014/main" id="{FBAE9766-C94F-48FA-86FF-604563B50787}"/>
              </a:ext>
            </a:extLst>
          </p:cNvPr>
          <p:cNvPicPr>
            <a:picLocks xmlns:a="http://schemas.openxmlformats.org/drawingml/2006/main" noChangeAspect="1"/>
          </p:cNvPicPr>
          <p:nvPr/>
        </p:nvPicPr>
        <p:blipFill>
          <a:blip xmlns:r="http://schemas.openxmlformats.org/officeDocument/2006/relationships" xmlns:a="http://schemas.openxmlformats.org/drawingml/2006/main" r:embed="Rbedcb1643ac94fa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E8C4931-8EF2-4661-98F2-9A5F8FDD0402}"/>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FF665BAC-36A5-4C95-9C45-59040D235F6A}"/>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Accept all, decision editing or automatic Start. Preserve individual decision IDs, rejection reasons and authority.</a:t>
            </a:r>
          </a:p>
        </p:txBody>
      </p:sp>
      <p:sp>
        <p:nvSpPr>
          <p:cNvPr id="14" name="">
            <a:extLst xmlns:a="http://schemas.openxmlformats.org/drawingml/2006/main">
              <a:ext uri="{FF2B5EF4-FFF2-40B4-BE49-F238E27FC236}">
                <a16:creationId xmlns:a16="http://schemas.microsoft.com/office/drawing/2014/main" id="{9CF4C6D8-81A9-4169-834A-3A9C99F6809E}"/>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A32D0DEF-4BEC-4AF3-8860-F92169072F5F}"/>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5 / 23</a:t>
            </a:r>
          </a:p>
        </p:txBody>
      </p:sp>
    </p:spTree>
    <p:extLst>
      <p:ext uri="{BB962C8B-B14F-4D97-AF65-F5344CB8AC3E}">
        <p14:creationId xmlns:p14="http://schemas.microsoft.com/office/powerpoint/2010/main" val="950943402"/>
      </p:ext>
    </p:extLst>
  </p:cSld>
</p:sld>
</file>

<file path=ppt/slides/slide6.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9D6D99-533D-4D62-8F46-C9D927FD9800}"/>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06  A decision rejection</a:t>
            </a:r>
          </a:p>
        </p:txBody>
      </p:sp>
      <p:sp>
        <p:nvSpPr>
          <p:cNvPr id="2" name="">
            <a:extLst xmlns:a="http://schemas.openxmlformats.org/drawingml/2006/main">
              <a:ext uri="{FF2B5EF4-FFF2-40B4-BE49-F238E27FC236}">
                <a16:creationId xmlns:a16="http://schemas.microsoft.com/office/drawing/2014/main" id="{099DDA2E-74A9-486A-9227-01587BF16283}"/>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8E4FD1F0-A916-409C-9245-0FEAE1C7F605}"/>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F748F798-248E-49EA-8367-74C873863A79}"/>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Reject disclosure is open beneath the same decision. The rationale remains visible above the reason field.</a:t>
            </a:r>
          </a:p>
        </p:txBody>
      </p:sp>
      <p:sp>
        <p:nvSpPr>
          <p:cNvPr id="5" name="">
            <a:extLst xmlns:a="http://schemas.openxmlformats.org/drawingml/2006/main">
              <a:ext uri="{FF2B5EF4-FFF2-40B4-BE49-F238E27FC236}">
                <a16:creationId xmlns:a16="http://schemas.microsoft.com/office/drawing/2014/main" id="{5A5C5C32-37FE-4455-ACAC-DC190A189FB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719CBDD3-3CCC-4CD6-AF3E-A2340C11B476}"/>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Enter the reason and choose Reject D-2. Acceptance stays secondary while this disclosure has focus.</a:t>
            </a:r>
          </a:p>
        </p:txBody>
      </p:sp>
      <p:sp>
        <p:nvSpPr>
          <p:cNvPr id="7" name="">
            <a:extLst xmlns:a="http://schemas.openxmlformats.org/drawingml/2006/main">
              <a:ext uri="{FF2B5EF4-FFF2-40B4-BE49-F238E27FC236}">
                <a16:creationId xmlns:a16="http://schemas.microsoft.com/office/drawing/2014/main" id="{3EC3C480-71BE-40C4-ACBB-A652CE0AB517}"/>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5408CA1C-9058-4540-90B1-4A4FB3E75215}"/>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less common action reveals its required field only when needed. The user keeps the original decision in view.</a:t>
            </a:r>
          </a:p>
        </p:txBody>
      </p:sp>
      <p:sp>
        <p:nvSpPr>
          <p:cNvPr id="9" name="">
            <a:extLst xmlns:a="http://schemas.openxmlformats.org/drawingml/2006/main">
              <a:ext uri="{FF2B5EF4-FFF2-40B4-BE49-F238E27FC236}">
                <a16:creationId xmlns:a16="http://schemas.microsoft.com/office/drawing/2014/main" id="{66F2CF1D-C2F9-4299-B280-5377856C335D}"/>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377D0DF9-7385-4BFB-BF08-59E444A38FF0}"/>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 empty reason produces an inline field error and focused guidance. A saved rejection displays Declined and the returned blocking reason.</a:t>
            </a:r>
          </a:p>
        </p:txBody>
      </p:sp>
      <p:pic>
        <p:nvPicPr>
          <p:cNvPr id="11" name="">
            <a:extLst xmlns:a="http://schemas.openxmlformats.org/drawingml/2006/main">
              <a:ext uri="{FF2B5EF4-FFF2-40B4-BE49-F238E27FC236}">
                <a16:creationId xmlns:a16="http://schemas.microsoft.com/office/drawing/2014/main" id="{C6550497-C193-4184-822A-D6BEF8C2A737}"/>
              </a:ext>
            </a:extLst>
          </p:cNvPr>
          <p:cNvPicPr>
            <a:picLocks xmlns:a="http://schemas.openxmlformats.org/drawingml/2006/main" noChangeAspect="1"/>
          </p:cNvPicPr>
          <p:nvPr/>
        </p:nvPicPr>
        <p:blipFill>
          <a:blip xmlns:r="http://schemas.openxmlformats.org/officeDocument/2006/relationships" xmlns:a="http://schemas.openxmlformats.org/drawingml/2006/main" r:embed="R74cf65bf40204faf"/>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78CDD48-0B69-45E9-B64B-D9E7B918421A}"/>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9E827C31-D8CD-467E-8C2F-2E7AA4BA50E4}"/>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Rejection uses the existing owner action. Declined required choices still block dependent work. No undo or reopen control is invented.</a:t>
            </a:r>
          </a:p>
        </p:txBody>
      </p:sp>
      <p:sp>
        <p:nvSpPr>
          <p:cNvPr id="14" name="">
            <a:extLst xmlns:a="http://schemas.openxmlformats.org/drawingml/2006/main">
              <a:ext uri="{FF2B5EF4-FFF2-40B4-BE49-F238E27FC236}">
                <a16:creationId xmlns:a16="http://schemas.microsoft.com/office/drawing/2014/main" id="{2C6795F7-3896-41CB-8CA7-2EE227C0DB1D}"/>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7417775E-7482-42A1-A429-3A12125EEBB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6 / 23</a:t>
            </a:r>
          </a:p>
        </p:txBody>
      </p:sp>
    </p:spTree>
    <p:extLst>
      <p:ext uri="{BB962C8B-B14F-4D97-AF65-F5344CB8AC3E}">
        <p14:creationId xmlns:p14="http://schemas.microsoft.com/office/powerpoint/2010/main" val="445140485"/>
      </p:ext>
    </p:extLst>
  </p:cSld>
</p:sld>
</file>

<file path=ppt/slides/slide7.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2A508C-07BF-40CF-B05E-64FD599A6AA3}"/>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07  The task plan and permission to start</a:t>
            </a:r>
          </a:p>
        </p:txBody>
      </p:sp>
      <p:sp>
        <p:nvSpPr>
          <p:cNvPr id="2" name="">
            <a:extLst xmlns:a="http://schemas.openxmlformats.org/drawingml/2006/main">
              <a:ext uri="{FF2B5EF4-FFF2-40B4-BE49-F238E27FC236}">
                <a16:creationId xmlns:a16="http://schemas.microsoft.com/office/drawing/2014/main" id="{DDD1154D-5698-4BE0-90F8-0F006670ADC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002B7D9D-FCF7-41DA-83DE-F661EEC1A51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1833FB55-9D9C-4ED3-93CB-0EC60F052C64}"/>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Task titles, dependencies and declared checks remain accessible. The existing Start button stays beside a short permission explanation.</a:t>
            </a:r>
          </a:p>
        </p:txBody>
      </p:sp>
      <p:sp>
        <p:nvSpPr>
          <p:cNvPr id="5" name="">
            <a:extLst xmlns:a="http://schemas.openxmlformats.org/drawingml/2006/main">
              <a:ext uri="{FF2B5EF4-FFF2-40B4-BE49-F238E27FC236}">
                <a16:creationId xmlns:a16="http://schemas.microsoft.com/office/drawing/2014/main" id="{EA9D1D55-F34E-4095-A3D8-F47DB2906B2D}"/>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1AC5E8B6-70D4-4C0D-9160-4D8FB364877D}"/>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Start implementation grants permission for this exact plan. Keep the action in the existing owner panel, sticky within its content column.</a:t>
            </a:r>
          </a:p>
        </p:txBody>
      </p:sp>
      <p:sp>
        <p:nvSpPr>
          <p:cNvPr id="7" name="">
            <a:extLst xmlns:a="http://schemas.openxmlformats.org/drawingml/2006/main">
              <a:ext uri="{FF2B5EF4-FFF2-40B4-BE49-F238E27FC236}">
                <a16:creationId xmlns:a16="http://schemas.microsoft.com/office/drawing/2014/main" id="{2E24F941-0CDB-43B0-B012-B1D769BC5DC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18675CD7-ED92-4F77-91E6-2D6083B235B5}"/>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stable action position avoids a long trip back to the top after reading tasks. Technical trace links expand only on demand.</a:t>
            </a:r>
          </a:p>
        </p:txBody>
      </p:sp>
      <p:sp>
        <p:nvSpPr>
          <p:cNvPr id="9" name="">
            <a:extLst xmlns:a="http://schemas.openxmlformats.org/drawingml/2006/main">
              <a:ext uri="{FF2B5EF4-FFF2-40B4-BE49-F238E27FC236}">
                <a16:creationId xmlns:a16="http://schemas.microsoft.com/office/drawing/2014/main" id="{6D89B994-D174-4784-A3F2-C0154AD691E1}"/>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B8FAFEF-16C6-403E-81CF-4DB053552C8B}"/>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Show Saving permission while the existing request is pending. After success, display Permission recorded and the returned phase.</a:t>
            </a:r>
          </a:p>
        </p:txBody>
      </p:sp>
      <p:pic>
        <p:nvPicPr>
          <p:cNvPr id="11" name="">
            <a:extLst xmlns:a="http://schemas.openxmlformats.org/drawingml/2006/main">
              <a:ext uri="{FF2B5EF4-FFF2-40B4-BE49-F238E27FC236}">
                <a16:creationId xmlns:a16="http://schemas.microsoft.com/office/drawing/2014/main" id="{C72D5606-1123-44ED-961A-21980DD26267}"/>
              </a:ext>
            </a:extLst>
          </p:cNvPr>
          <p:cNvPicPr>
            <a:picLocks xmlns:a="http://schemas.openxmlformats.org/drawingml/2006/main" noChangeAspect="1"/>
          </p:cNvPicPr>
          <p:nvPr/>
        </p:nvPicPr>
        <p:blipFill>
          <a:blip xmlns:r="http://schemas.openxmlformats.org/officeDocument/2006/relationships" xmlns:a="http://schemas.openxmlformats.org/drawingml/2006/main" r:embed="R32618a4710d14f03"/>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9E82212-1AEC-42C5-A6FD-1502A6D1DC9B}"/>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45B54E5F-1FAE-4B7B-B1C2-64CF1A33040D}"/>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Use can_start and the existing revision guard. The browser records permission and does not wake an idle agent. No instant-running claim.</a:t>
            </a:r>
          </a:p>
        </p:txBody>
      </p:sp>
      <p:sp>
        <p:nvSpPr>
          <p:cNvPr id="14" name="">
            <a:extLst xmlns:a="http://schemas.openxmlformats.org/drawingml/2006/main">
              <a:ext uri="{FF2B5EF4-FFF2-40B4-BE49-F238E27FC236}">
                <a16:creationId xmlns:a16="http://schemas.microsoft.com/office/drawing/2014/main" id="{4D54D7CB-6E8C-453F-B21D-3CDEE4F5BAE5}"/>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C5DA4AA9-9BC9-428B-A2DE-8B49D621CEDC}"/>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7 / 23</a:t>
            </a:r>
          </a:p>
        </p:txBody>
      </p:sp>
    </p:spTree>
    <p:extLst>
      <p:ext uri="{BB962C8B-B14F-4D97-AF65-F5344CB8AC3E}">
        <p14:creationId xmlns:p14="http://schemas.microsoft.com/office/powerpoint/2010/main" val="947684660"/>
      </p:ext>
    </p:extLst>
  </p:cSld>
</p:sld>
</file>

<file path=ppt/slides/slide8.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7F0CAE9-BC47-4604-AE8F-1D8EC8108625}"/>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08  Implementation in progress</a:t>
            </a:r>
          </a:p>
        </p:txBody>
      </p:sp>
      <p:sp>
        <p:nvSpPr>
          <p:cNvPr id="2" name="">
            <a:extLst xmlns:a="http://schemas.openxmlformats.org/drawingml/2006/main">
              <a:ext uri="{FF2B5EF4-FFF2-40B4-BE49-F238E27FC236}">
                <a16:creationId xmlns:a16="http://schemas.microsoft.com/office/drawing/2014/main" id="{AA67B477-3DAE-4EA2-BEE5-00110E22EB45}"/>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EE2E865E-661B-4C48-9EBE-3E235402B643}"/>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7DC4E57C-E131-4A5E-9C12-15DE4704CD61}"/>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task statuses lead each row. The current task stays expanded with its declared check. Completed evidence sits in a disclosure.</a:t>
            </a:r>
          </a:p>
        </p:txBody>
      </p:sp>
      <p:sp>
        <p:nvSpPr>
          <p:cNvPr id="5" name="">
            <a:extLst xmlns:a="http://schemas.openxmlformats.org/drawingml/2006/main">
              <a:ext uri="{FF2B5EF4-FFF2-40B4-BE49-F238E27FC236}">
                <a16:creationId xmlns:a16="http://schemas.microsoft.com/office/drawing/2014/main" id="{591C5AE2-3A1F-46DB-8E2D-D87F6A00C123}"/>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B2CD32A0-0DD6-4843-8346-704CAA4AC7F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current task or use the existing refresh trigger when state may have changed. There is no owner approval to repeat here.</a:t>
            </a:r>
          </a:p>
        </p:txBody>
      </p:sp>
      <p:sp>
        <p:nvSpPr>
          <p:cNvPr id="7" name="">
            <a:extLst xmlns:a="http://schemas.openxmlformats.org/drawingml/2006/main">
              <a:ext uri="{FF2B5EF4-FFF2-40B4-BE49-F238E27FC236}">
                <a16:creationId xmlns:a16="http://schemas.microsoft.com/office/drawing/2014/main" id="{DA14ED54-8374-493A-935F-AE9709684FD7}"/>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B095D760-263D-4F16-B7D6-17E59854AA43}"/>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Removing prior approval instructions makes progress immediately legible. Task counts come directly from the loaded tasks.</a:t>
            </a:r>
          </a:p>
        </p:txBody>
      </p:sp>
      <p:sp>
        <p:nvSpPr>
          <p:cNvPr id="9" name="">
            <a:extLst xmlns:a="http://schemas.openxmlformats.org/drawingml/2006/main">
              <a:ext uri="{FF2B5EF4-FFF2-40B4-BE49-F238E27FC236}">
                <a16:creationId xmlns:a16="http://schemas.microsoft.com/office/drawing/2014/main" id="{53FE82C1-0E1A-4BC9-BF83-14B178AF2B2D}"/>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93CD60FD-A1F9-45F5-9BF2-BD2E1CD44CF4}"/>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Completed tasks show a checkmark and the word Done. State refreshes through existing interaction and focus behavior, without invented live telemetry.</a:t>
            </a:r>
          </a:p>
        </p:txBody>
      </p:sp>
      <p:pic>
        <p:nvPicPr>
          <p:cNvPr id="11" name="">
            <a:extLst xmlns:a="http://schemas.openxmlformats.org/drawingml/2006/main">
              <a:ext uri="{FF2B5EF4-FFF2-40B4-BE49-F238E27FC236}">
                <a16:creationId xmlns:a16="http://schemas.microsoft.com/office/drawing/2014/main" id="{16C223B8-29AC-4ED5-96F8-4C778962948E}"/>
              </a:ext>
            </a:extLst>
          </p:cNvPr>
          <p:cNvPicPr>
            <a:picLocks xmlns:a="http://schemas.openxmlformats.org/drawingml/2006/main" noChangeAspect="1"/>
          </p:cNvPicPr>
          <p:nvPr/>
        </p:nvPicPr>
        <p:blipFill>
          <a:blip xmlns:r="http://schemas.openxmlformats.org/officeDocument/2006/relationships" xmlns:a="http://schemas.openxmlformats.org/drawingml/2006/main" r:embed="Rc4e3cbb1eae74bde"/>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32E52E5-7126-428C-A458-972ABFCCBECC}"/>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9A9DB919-C079-44A8-854A-2C88025FEDF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Display approved execution state, not agent presence. No Run, pause, retry or new polling service. Keep independent review as the next gate.</a:t>
            </a:r>
          </a:p>
        </p:txBody>
      </p:sp>
      <p:sp>
        <p:nvSpPr>
          <p:cNvPr id="14" name="">
            <a:extLst xmlns:a="http://schemas.openxmlformats.org/drawingml/2006/main">
              <a:ext uri="{FF2B5EF4-FFF2-40B4-BE49-F238E27FC236}">
                <a16:creationId xmlns:a16="http://schemas.microsoft.com/office/drawing/2014/main" id="{97EAD6BC-8AC0-47EC-893C-2943903393EC}"/>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9161E7A4-5F9D-4AF6-B419-992F6E5BD976}"/>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8 / 23</a:t>
            </a:r>
          </a:p>
        </p:txBody>
      </p:sp>
    </p:spTree>
    <p:extLst>
      <p:ext uri="{BB962C8B-B14F-4D97-AF65-F5344CB8AC3E}">
        <p14:creationId xmlns:p14="http://schemas.microsoft.com/office/powerpoint/2010/main" val="474457981"/>
      </p:ext>
    </p:extLst>
  </p:cSld>
</p:sld>
</file>

<file path=ppt/slides/slide9.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A4F95D-8C0D-4A16-B629-6C6DD1005720}"/>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09  A blocked task</a:t>
            </a:r>
          </a:p>
        </p:txBody>
      </p:sp>
      <p:sp>
        <p:nvSpPr>
          <p:cNvPr id="2" name="">
            <a:extLst xmlns:a="http://schemas.openxmlformats.org/drawingml/2006/main">
              <a:ext uri="{FF2B5EF4-FFF2-40B4-BE49-F238E27FC236}">
                <a16:creationId xmlns:a16="http://schemas.microsoft.com/office/drawing/2014/main" id="{7FD03490-5365-41E3-9476-27203EFCB9F2}"/>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578A8DC-DDEA-47E2-B1F3-6092DB7A8B6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B4A63184-760A-4986-ABAB-C39C8AC201A1}"/>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blocked task moves above completed evidence. Existing reasons and any failed command result appear next to its status.</a:t>
            </a:r>
          </a:p>
        </p:txBody>
      </p:sp>
      <p:sp>
        <p:nvSpPr>
          <p:cNvPr id="5" name="">
            <a:extLst xmlns:a="http://schemas.openxmlformats.org/drawingml/2006/main">
              <a:ext uri="{FF2B5EF4-FFF2-40B4-BE49-F238E27FC236}">
                <a16:creationId xmlns:a16="http://schemas.microsoft.com/office/drawing/2014/main" id="{9C125259-70E7-445D-8E2D-8DFA54284CC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E49859A-EF9C-4BD2-BB44-14EFA9981EE7}"/>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blocker, inspect its evidence and refresh when the agent has repaired the issue. Do not offer a browser bypass.</a:t>
            </a:r>
          </a:p>
        </p:txBody>
      </p:sp>
      <p:sp>
        <p:nvSpPr>
          <p:cNvPr id="7" name="">
            <a:extLst xmlns:a="http://schemas.openxmlformats.org/drawingml/2006/main">
              <a:ext uri="{FF2B5EF4-FFF2-40B4-BE49-F238E27FC236}">
                <a16:creationId xmlns:a16="http://schemas.microsoft.com/office/drawing/2014/main" id="{8A8D4F6A-8ADE-4F36-97F8-73202315D4F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8512A7D-7B65-497D-906E-17AF4C8231E6}"/>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specific blocking reason replaces a generic warning panel. Only the affected task expands by default.</a:t>
            </a:r>
          </a:p>
        </p:txBody>
      </p:sp>
      <p:sp>
        <p:nvSpPr>
          <p:cNvPr id="9" name="">
            <a:extLst xmlns:a="http://schemas.openxmlformats.org/drawingml/2006/main">
              <a:ext uri="{FF2B5EF4-FFF2-40B4-BE49-F238E27FC236}">
                <a16:creationId xmlns:a16="http://schemas.microsoft.com/office/drawing/2014/main" id="{4F334C6E-0A3C-4327-986A-468786C3AF0E}"/>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A4DCAEBA-4524-4BC0-8DF4-3FFDC39AADC7}"/>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Amber pairs with the word Blocked. A failed command retains its actual exit code. Refresh changes the display only after a new response.</a:t>
            </a:r>
          </a:p>
        </p:txBody>
      </p:sp>
      <p:pic>
        <p:nvPicPr>
          <p:cNvPr id="11" name="">
            <a:extLst xmlns:a="http://schemas.openxmlformats.org/drawingml/2006/main">
              <a:ext uri="{FF2B5EF4-FFF2-40B4-BE49-F238E27FC236}">
                <a16:creationId xmlns:a16="http://schemas.microsoft.com/office/drawing/2014/main" id="{4D2CCA0E-F73C-4F7D-8BE4-6EE9D60B55C8}"/>
              </a:ext>
            </a:extLst>
          </p:cNvPr>
          <p:cNvPicPr>
            <a:picLocks xmlns:a="http://schemas.openxmlformats.org/drawingml/2006/main" noChangeAspect="1"/>
          </p:cNvPicPr>
          <p:nvPr/>
        </p:nvPicPr>
        <p:blipFill>
          <a:blip xmlns:r="http://schemas.openxmlformats.org/officeDocument/2006/relationships" xmlns:a="http://schemas.openxmlformats.org/drawingml/2006/main" r:embed="R189de468d166403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17D9404-7A74-433A-8AF8-7BEF35B4F6E7}"/>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24DF1BA1-AC1D-4A60-934F-173D7F940DF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Source drift and a changed plan remain distinct. A changed plan uses the existing Start gate again. No repin, retry-task or force-approve UI.</a:t>
            </a:r>
          </a:p>
        </p:txBody>
      </p:sp>
      <p:sp>
        <p:nvSpPr>
          <p:cNvPr id="14" name="">
            <a:extLst xmlns:a="http://schemas.openxmlformats.org/drawingml/2006/main">
              <a:ext uri="{FF2B5EF4-FFF2-40B4-BE49-F238E27FC236}">
                <a16:creationId xmlns:a16="http://schemas.microsoft.com/office/drawing/2014/main" id="{134CC193-61FA-4D41-8D67-5DA4C8D7183D}"/>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8FFEB179-2D0C-412B-86B2-2754FBED4FF5}"/>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9 / 23</a:t>
            </a:r>
          </a:p>
        </p:txBody>
      </p:sp>
    </p:spTree>
    <p:extLst>
      <p:ext uri="{BB962C8B-B14F-4D97-AF65-F5344CB8AC3E}">
        <p14:creationId xmlns:p14="http://schemas.microsoft.com/office/powerpoint/2010/main" val="1257499100"/>
      </p:ext>
    </p:extLst>
  </p:cSld>
</p:sld>
</file>

<file path=ppt/slides/slide10.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F5FAE64-433E-4CEB-9F8C-64E582FF4BF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10  Independent review pending</a:t>
            </a:r>
          </a:p>
        </p:txBody>
      </p:sp>
      <p:sp>
        <p:nvSpPr>
          <p:cNvPr id="2" name="">
            <a:extLst xmlns:a="http://schemas.openxmlformats.org/drawingml/2006/main">
              <a:ext uri="{FF2B5EF4-FFF2-40B4-BE49-F238E27FC236}">
                <a16:creationId xmlns:a16="http://schemas.microsoft.com/office/drawing/2014/main" id="{C83D48EE-3CE5-46B6-AC51-CCDBF086F732}"/>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2C924023-0764-4F6B-8183-F78C273438E5}"/>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ED97A879-996B-47D5-B296-CE6BD4EFDAF9}"/>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review empty state sits below the current gate. The phase inspector shows Finish as a later step.</a:t>
            </a:r>
          </a:p>
        </p:txBody>
      </p:sp>
      <p:sp>
        <p:nvSpPr>
          <p:cNvPr id="5" name="">
            <a:extLst xmlns:a="http://schemas.openxmlformats.org/drawingml/2006/main">
              <a:ext uri="{FF2B5EF4-FFF2-40B4-BE49-F238E27FC236}">
                <a16:creationId xmlns:a16="http://schemas.microsoft.com/office/drawing/2014/main" id="{E8C772BB-DB0B-4581-8273-DE1B429D89FD}"/>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E5895D4B-0DB8-402C-9599-2D1FA386CDF5}"/>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available evidence. No Finish control appears until the existing workflow declares the pack eligible.</a:t>
            </a:r>
          </a:p>
        </p:txBody>
      </p:sp>
      <p:sp>
        <p:nvSpPr>
          <p:cNvPr id="7" name="">
            <a:extLst xmlns:a="http://schemas.openxmlformats.org/drawingml/2006/main">
              <a:ext uri="{FF2B5EF4-FFF2-40B4-BE49-F238E27FC236}">
                <a16:creationId xmlns:a16="http://schemas.microsoft.com/office/drawing/2014/main" id="{48F02FC6-C5FB-4E0F-AEC7-3238C4C0F1D1}"/>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F1A156F-B9C9-4B24-B0C2-3551BA37CF9D}"/>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screen explains exactly who must act next. Completion and owner attention no longer compete with review waiting.</a:t>
            </a:r>
          </a:p>
        </p:txBody>
      </p:sp>
      <p:sp>
        <p:nvSpPr>
          <p:cNvPr id="9" name="">
            <a:extLst xmlns:a="http://schemas.openxmlformats.org/drawingml/2006/main">
              <a:ext uri="{FF2B5EF4-FFF2-40B4-BE49-F238E27FC236}">
                <a16:creationId xmlns:a16="http://schemas.microsoft.com/office/drawing/2014/main" id="{EF8A13C9-6EE5-4707-B12F-1078CB20DA00}"/>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5D9EC9F7-9E45-41D4-8E2E-BDC690CE428F}"/>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refresh behavior reveals the returned review result. A passing task check never animates into a passing PACK review.</a:t>
            </a:r>
          </a:p>
        </p:txBody>
      </p:sp>
      <p:pic>
        <p:nvPicPr>
          <p:cNvPr id="11" name="">
            <a:extLst xmlns:a="http://schemas.openxmlformats.org/drawingml/2006/main">
              <a:ext uri="{FF2B5EF4-FFF2-40B4-BE49-F238E27FC236}">
                <a16:creationId xmlns:a16="http://schemas.microsoft.com/office/drawing/2014/main" id="{B607A996-09A6-45A6-9161-FD291DC3EECD}"/>
              </a:ext>
            </a:extLst>
          </p:cNvPr>
          <p:cNvPicPr>
            <a:picLocks xmlns:a="http://schemas.openxmlformats.org/drawingml/2006/main" noChangeAspect="1"/>
          </p:cNvPicPr>
          <p:nvPr/>
        </p:nvPicPr>
        <p:blipFill>
          <a:blip xmlns:r="http://schemas.openxmlformats.org/officeDocument/2006/relationships" xmlns:a="http://schemas.openxmlformats.org/drawingml/2006/main" r:embed="R3e0ad714ea5441d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C68AE7A-A55E-4791-B98A-36B56856F1AA}"/>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73A2CEC5-4356-4440-938A-92C21BD32810}"/>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Request review button, reviewer assignment or live activity indicator. Keep can_close authoritative.</a:t>
            </a:r>
          </a:p>
        </p:txBody>
      </p:sp>
      <p:sp>
        <p:nvSpPr>
          <p:cNvPr id="14" name="">
            <a:extLst xmlns:a="http://schemas.openxmlformats.org/drawingml/2006/main">
              <a:ext uri="{FF2B5EF4-FFF2-40B4-BE49-F238E27FC236}">
                <a16:creationId xmlns:a16="http://schemas.microsoft.com/office/drawing/2014/main" id="{F5BBA401-45CB-4A21-8A49-57990B337BFF}"/>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27761A49-98E0-4ED5-9C06-2C58EB5F0612}"/>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10 / 23</a:t>
            </a:r>
          </a:p>
        </p:txBody>
      </p:sp>
    </p:spTree>
    <p:extLst>
      <p:ext uri="{BB962C8B-B14F-4D97-AF65-F5344CB8AC3E}">
        <p14:creationId xmlns:p14="http://schemas.microsoft.com/office/powerpoint/2010/main" val="1797940858"/>
      </p:ext>
    </p:extLst>
  </p:cSld>
</p:sld>
</file>

<file path=ppt/slides/slide1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FD7CE68-1D2A-4B2B-AFB4-1F171984DEDD}"/>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11  The reviewed pack is ready to finish</a:t>
            </a:r>
          </a:p>
        </p:txBody>
      </p:sp>
      <p:sp>
        <p:nvSpPr>
          <p:cNvPr id="2" name="">
            <a:extLst xmlns:a="http://schemas.openxmlformats.org/drawingml/2006/main">
              <a:ext uri="{FF2B5EF4-FFF2-40B4-BE49-F238E27FC236}">
                <a16:creationId xmlns:a16="http://schemas.microsoft.com/office/drawing/2014/main" id="{1D852812-7210-4F04-BA33-037235ED2714}"/>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824FAE8B-890B-4732-A293-CD2C3547D671}"/>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DBC18ECD-F646-457A-93FC-3E7CB2557FA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current PACK verdict leads the review list. Reviewer identity and recorded evidence remain available beneath it.</a:t>
            </a:r>
          </a:p>
        </p:txBody>
      </p:sp>
      <p:sp>
        <p:nvSpPr>
          <p:cNvPr id="5" name="">
            <a:extLst xmlns:a="http://schemas.openxmlformats.org/drawingml/2006/main">
              <a:ext uri="{FF2B5EF4-FFF2-40B4-BE49-F238E27FC236}">
                <a16:creationId xmlns:a16="http://schemas.microsoft.com/office/drawing/2014/main" id="{31DB43CA-870C-48F8-B3B5-955E76AB9FC2}"/>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968DB8A4-F3E4-4526-BCC9-CEEE4591DDF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verdict, then choose Finish spec. This reveals the existing confirmation in place.</a:t>
            </a:r>
          </a:p>
        </p:txBody>
      </p:sp>
      <p:sp>
        <p:nvSpPr>
          <p:cNvPr id="7" name="">
            <a:extLst xmlns:a="http://schemas.openxmlformats.org/drawingml/2006/main">
              <a:ext uri="{FF2B5EF4-FFF2-40B4-BE49-F238E27FC236}">
                <a16:creationId xmlns:a16="http://schemas.microsoft.com/office/drawing/2014/main" id="{AE3DF225-4644-4E89-9B7C-750C176B4208}"/>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A4C177BD-64A1-40EF-8E68-2381C5A9DDA1}"/>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short readiness statement and one primary action replace scattered success badges. The review remains adjacent to the final decision.</a:t>
            </a:r>
          </a:p>
        </p:txBody>
      </p:sp>
      <p:sp>
        <p:nvSpPr>
          <p:cNvPr id="9" name="">
            <a:extLst xmlns:a="http://schemas.openxmlformats.org/drawingml/2006/main">
              <a:ext uri="{FF2B5EF4-FFF2-40B4-BE49-F238E27FC236}">
                <a16:creationId xmlns:a16="http://schemas.microsoft.com/office/drawing/2014/main" id="{06414CCE-5D28-4F1B-BCBB-F76B2A6ED301}"/>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1E33D8A1-BA99-4A85-9A23-8F53D3BADCFF}"/>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Show the Finish action only when can_close is true. Review filters retain access to earlier findings without obscuring the current verdict.</a:t>
            </a:r>
          </a:p>
        </p:txBody>
      </p:sp>
      <p:pic>
        <p:nvPicPr>
          <p:cNvPr id="11" name="">
            <a:extLst xmlns:a="http://schemas.openxmlformats.org/drawingml/2006/main">
              <a:ext uri="{FF2B5EF4-FFF2-40B4-BE49-F238E27FC236}">
                <a16:creationId xmlns:a16="http://schemas.microsoft.com/office/drawing/2014/main" id="{EEC66304-A6D1-4D41-B3B9-42E9227D85FE}"/>
              </a:ext>
            </a:extLst>
          </p:cNvPr>
          <p:cNvPicPr>
            <a:picLocks xmlns:a="http://schemas.openxmlformats.org/drawingml/2006/main" noChangeAspect="1"/>
          </p:cNvPicPr>
          <p:nvPr/>
        </p:nvPicPr>
        <p:blipFill>
          <a:blip xmlns:r="http://schemas.openxmlformats.org/officeDocument/2006/relationships" xmlns:a="http://schemas.openxmlformats.org/drawingml/2006/main" r:embed="R32e363e036f2402f"/>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F794563-7968-4616-BBBB-AD93B2F4971B}"/>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742C25FE-B0AA-40D4-877F-F784A60A55B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Earlier PASS records are not current eligibility. The workflow response remains authoritative. Unresolved feedback does not become a new finish gate.</a:t>
            </a:r>
          </a:p>
        </p:txBody>
      </p:sp>
      <p:sp>
        <p:nvSpPr>
          <p:cNvPr id="14" name="">
            <a:extLst xmlns:a="http://schemas.openxmlformats.org/drawingml/2006/main">
              <a:ext uri="{FF2B5EF4-FFF2-40B4-BE49-F238E27FC236}">
                <a16:creationId xmlns:a16="http://schemas.microsoft.com/office/drawing/2014/main" id="{A883232B-AB54-401A-B722-E8DF28AFB98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3BE2D3CB-7677-41BB-A8CA-1DB359DD8E09}"/>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11 / 23</a:t>
            </a:r>
          </a:p>
        </p:txBody>
      </p:sp>
    </p:spTree>
    <p:extLst>
      <p:ext uri="{BB962C8B-B14F-4D97-AF65-F5344CB8AC3E}">
        <p14:creationId xmlns:p14="http://schemas.microsoft.com/office/powerpoint/2010/main" val="1978252711"/>
      </p:ext>
    </p:extLst>
  </p:cSld>
</p:sld>
</file>

<file path=ppt/slides/slide1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485AAE5-FBF2-44E4-A963-162F66E37AEE}"/>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12  Finish confirmation</a:t>
            </a:r>
          </a:p>
        </p:txBody>
      </p:sp>
      <p:sp>
        <p:nvSpPr>
          <p:cNvPr id="2" name="">
            <a:extLst xmlns:a="http://schemas.openxmlformats.org/drawingml/2006/main">
              <a:ext uri="{FF2B5EF4-FFF2-40B4-BE49-F238E27FC236}">
                <a16:creationId xmlns:a16="http://schemas.microsoft.com/office/drawing/2014/main" id="{AF1C1968-1E7F-4874-8F5D-A2B65E05E34E}"/>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A5F17081-0132-4368-B114-FEB78D22AE60}"/>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026F7103-8B7C-400B-9669-5FE5870C6C37}"/>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confirmation replaces the Finish button inside the owner panel. The pack title and current review remain visible.</a:t>
            </a:r>
          </a:p>
        </p:txBody>
      </p:sp>
      <p:sp>
        <p:nvSpPr>
          <p:cNvPr id="5" name="">
            <a:extLst xmlns:a="http://schemas.openxmlformats.org/drawingml/2006/main">
              <a:ext uri="{FF2B5EF4-FFF2-40B4-BE49-F238E27FC236}">
                <a16:creationId xmlns:a16="http://schemas.microsoft.com/office/drawing/2014/main" id="{738EB105-7DC8-4CA8-95B2-F7A74BD1A2D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B675E9CB-3F7C-494E-B4F9-1EDAD393EDE1}"/>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Yes, finish spec records completion. Keep open cancels the confirmation and restores the original action.</a:t>
            </a:r>
          </a:p>
        </p:txBody>
      </p:sp>
      <p:sp>
        <p:nvSpPr>
          <p:cNvPr id="7" name="">
            <a:extLst xmlns:a="http://schemas.openxmlformats.org/drawingml/2006/main">
              <a:ext uri="{FF2B5EF4-FFF2-40B4-BE49-F238E27FC236}">
                <a16:creationId xmlns:a16="http://schemas.microsoft.com/office/drawing/2014/main" id="{18FD057D-8F3C-450E-A324-0204E165023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C7D71CD9-8F30-4D0C-A910-BF6898A4FCD5}"/>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consequence is plain and close to the control. No extra dialog, screen, typing challenge or approval ceremony is added.</a:t>
            </a:r>
          </a:p>
        </p:txBody>
      </p:sp>
      <p:sp>
        <p:nvSpPr>
          <p:cNvPr id="9" name="">
            <a:extLst xmlns:a="http://schemas.openxmlformats.org/drawingml/2006/main">
              <a:ext uri="{FF2B5EF4-FFF2-40B4-BE49-F238E27FC236}">
                <a16:creationId xmlns:a16="http://schemas.microsoft.com/office/drawing/2014/main" id="{C85B0EEB-FAD9-47A1-BB29-D258EF59D4E9}"/>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248A0103-8BC3-4D0D-A56C-38BA243521A2}"/>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enters the existing confirmation. Cancellation returns focus to Finish spec. While saving, disable duplicate controls and announce progress.</a:t>
            </a:r>
          </a:p>
        </p:txBody>
      </p:sp>
      <p:pic>
        <p:nvPicPr>
          <p:cNvPr id="11" name="">
            <a:extLst xmlns:a="http://schemas.openxmlformats.org/drawingml/2006/main">
              <a:ext uri="{FF2B5EF4-FFF2-40B4-BE49-F238E27FC236}">
                <a16:creationId xmlns:a16="http://schemas.microsoft.com/office/drawing/2014/main" id="{1D66C07B-A7D5-4515-B0D9-8D19A8E9C221}"/>
              </a:ext>
            </a:extLst>
          </p:cNvPr>
          <p:cNvPicPr>
            <a:picLocks xmlns:a="http://schemas.openxmlformats.org/drawingml/2006/main" noChangeAspect="1"/>
          </p:cNvPicPr>
          <p:nvPr/>
        </p:nvPicPr>
        <p:blipFill>
          <a:blip xmlns:r="http://schemas.openxmlformats.org/officeDocument/2006/relationships" xmlns:a="http://schemas.openxmlformats.org/drawingml/2006/main" r:embed="R9d66a40a4bae4c9d"/>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67B36BB-3A2B-445E-B560-DD7025BE9CA9}"/>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C39A053F-5C7F-45F9-935F-EFEAF50A4B72}"/>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both existing confirmation choices and the distinct close action. Never auto-finish after a PASS or a Resolve event.</a:t>
            </a:r>
          </a:p>
        </p:txBody>
      </p:sp>
      <p:sp>
        <p:nvSpPr>
          <p:cNvPr id="14" name="">
            <a:extLst xmlns:a="http://schemas.openxmlformats.org/drawingml/2006/main">
              <a:ext uri="{FF2B5EF4-FFF2-40B4-BE49-F238E27FC236}">
                <a16:creationId xmlns:a16="http://schemas.microsoft.com/office/drawing/2014/main" id="{722B5A87-A33B-4E16-A87C-B22A3A5D074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E65B43C1-4E71-4E29-B174-374DA76B72A9}"/>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12 / 23</a:t>
            </a:r>
          </a:p>
        </p:txBody>
      </p:sp>
    </p:spTree>
    <p:extLst>
      <p:ext uri="{BB962C8B-B14F-4D97-AF65-F5344CB8AC3E}">
        <p14:creationId xmlns:p14="http://schemas.microsoft.com/office/powerpoint/2010/main" val="1609197953"/>
      </p:ext>
    </p:extLst>
  </p:cSld>
</p:sld>
</file>

<file path=ppt/slides/slide1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7791715-004E-45A9-816A-A9CE8AB59141}"/>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13  The completed spec</a:t>
            </a:r>
          </a:p>
        </p:txBody>
      </p:sp>
      <p:sp>
        <p:nvSpPr>
          <p:cNvPr id="2" name="">
            <a:extLst xmlns:a="http://schemas.openxmlformats.org/drawingml/2006/main">
              <a:ext uri="{FF2B5EF4-FFF2-40B4-BE49-F238E27FC236}">
                <a16:creationId xmlns:a16="http://schemas.microsoft.com/office/drawing/2014/main" id="{3F2ABDF6-9708-4FF2-8F4D-8B616B2CE077}"/>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B8BF6EA8-BBEF-428A-A783-3FC7B9BFA3C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E39ABECA-6F2B-4EC5-BBC0-FEB61C0656F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Completion replaces the action area with a concise recorded state. The same tabs and phase inspector remain available for inspection.</a:t>
            </a:r>
          </a:p>
        </p:txBody>
      </p:sp>
      <p:sp>
        <p:nvSpPr>
          <p:cNvPr id="5" name="">
            <a:extLst xmlns:a="http://schemas.openxmlformats.org/drawingml/2006/main">
              <a:ext uri="{FF2B5EF4-FFF2-40B4-BE49-F238E27FC236}">
                <a16:creationId xmlns:a16="http://schemas.microsoft.com/office/drawing/2014/main" id="{D48E5EA4-3E80-4712-B211-F97C133093E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B14A49AE-3415-477F-B361-2117BF262BB3}"/>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review, task evidence or feedback history. Existing navigation provides the route back to other library items.</a:t>
            </a:r>
          </a:p>
        </p:txBody>
      </p:sp>
      <p:sp>
        <p:nvSpPr>
          <p:cNvPr id="7" name="">
            <a:extLst xmlns:a="http://schemas.openxmlformats.org/drawingml/2006/main">
              <a:ext uri="{FF2B5EF4-FFF2-40B4-BE49-F238E27FC236}">
                <a16:creationId xmlns:a16="http://schemas.microsoft.com/office/drawing/2014/main" id="{AA6F75D6-4C34-409F-B112-805C38E4F38C}"/>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F20944FA-3A4D-475C-BFAC-698F03F6E5B0}"/>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completion heading communicates the outcome. Repeated green badges and inactive approval buttons add no useful information.</a:t>
            </a:r>
          </a:p>
        </p:txBody>
      </p:sp>
      <p:sp>
        <p:nvSpPr>
          <p:cNvPr id="9" name="">
            <a:extLst xmlns:a="http://schemas.openxmlformats.org/drawingml/2006/main">
              <a:ext uri="{FF2B5EF4-FFF2-40B4-BE49-F238E27FC236}">
                <a16:creationId xmlns:a16="http://schemas.microsoft.com/office/drawing/2014/main" id="{4A911C55-DB08-4695-BDB8-42236FC0E51C}"/>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77065D31-5C5E-4E67-98EE-A74E79F3FC4E}"/>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lands on the completion heading after a successful response. Read-only history retains text selection and document navigation.</a:t>
            </a:r>
          </a:p>
        </p:txBody>
      </p:sp>
      <p:pic>
        <p:nvPicPr>
          <p:cNvPr id="11" name="">
            <a:extLst xmlns:a="http://schemas.openxmlformats.org/drawingml/2006/main">
              <a:ext uri="{FF2B5EF4-FFF2-40B4-BE49-F238E27FC236}">
                <a16:creationId xmlns:a16="http://schemas.microsoft.com/office/drawing/2014/main" id="{BBFF3E6B-F78D-42DA-ABC8-51DBE1CB2B77}"/>
              </a:ext>
            </a:extLst>
          </p:cNvPr>
          <p:cNvPicPr>
            <a:picLocks xmlns:a="http://schemas.openxmlformats.org/drawingml/2006/main" noChangeAspect="1"/>
          </p:cNvPicPr>
          <p:nvPr/>
        </p:nvPicPr>
        <p:blipFill>
          <a:blip xmlns:r="http://schemas.openxmlformats.org/officeDocument/2006/relationships" xmlns:a="http://schemas.openxmlformats.org/drawingml/2006/main" r:embed="Rd1d68f7b04cb465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E154D82-DCF5-4F6B-8A21-CF4317CAB265}"/>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CC32358E-6C06-40EE-A3F9-3B204F988468}"/>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Reopen, duplicate item or new summary screen. Closed feedback controls stay disabled under existing rules.</a:t>
            </a:r>
          </a:p>
        </p:txBody>
      </p:sp>
      <p:sp>
        <p:nvSpPr>
          <p:cNvPr id="14" name="">
            <a:extLst xmlns:a="http://schemas.openxmlformats.org/drawingml/2006/main">
              <a:ext uri="{FF2B5EF4-FFF2-40B4-BE49-F238E27FC236}">
                <a16:creationId xmlns:a16="http://schemas.microsoft.com/office/drawing/2014/main" id="{529649F3-C77C-4A0D-9978-6640C7C2A062}"/>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91AA33AB-9EB5-4B25-950D-B07320A016C6}"/>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13 / 23</a:t>
            </a:r>
          </a:p>
        </p:txBody>
      </p:sp>
    </p:spTree>
    <p:extLst>
      <p:ext uri="{BB962C8B-B14F-4D97-AF65-F5344CB8AC3E}">
        <p14:creationId xmlns:p14="http://schemas.microsoft.com/office/powerpoint/2010/main" val="1136590034"/>
      </p:ext>
    </p:extLst>
  </p:cSld>
</p:sld>
</file>

<file path=ppt/slides/slide14.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7031C4-FD8E-484A-A0BD-78501EE5B8FF}"/>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14  Document feedback as a draft</a:t>
            </a:r>
          </a:p>
        </p:txBody>
      </p:sp>
      <p:sp>
        <p:nvSpPr>
          <p:cNvPr id="2" name="">
            <a:extLst xmlns:a="http://schemas.openxmlformats.org/drawingml/2006/main">
              <a:ext uri="{FF2B5EF4-FFF2-40B4-BE49-F238E27FC236}">
                <a16:creationId xmlns:a16="http://schemas.microsoft.com/office/drawing/2014/main" id="{756FB4DF-15CC-41C5-99D1-4A83AD97899D}"/>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9EA912F6-7EB2-4FAC-90A3-D6FDEC7BBFF8}"/>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6BBCE72C-416E-4B60-AB72-3977D8FC905D}"/>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Existing session, round and file controls form a compact toolbar. The selected source line appears beside the comment field.</a:t>
            </a:r>
          </a:p>
        </p:txBody>
      </p:sp>
      <p:sp>
        <p:nvSpPr>
          <p:cNvPr id="5" name="">
            <a:extLst xmlns:a="http://schemas.openxmlformats.org/drawingml/2006/main">
              <a:ext uri="{FF2B5EF4-FFF2-40B4-BE49-F238E27FC236}">
                <a16:creationId xmlns:a16="http://schemas.microsoft.com/office/drawing/2014/main" id="{2AF8B76C-0A8A-462D-A446-EB65EB028AF9}"/>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CECF0FB3-8161-4D84-A827-588310EDCDDE}"/>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the existing anchor, write the comment and Save draft comment. Submit feedback stays a separate action after the comment is saved.</a:t>
            </a:r>
          </a:p>
        </p:txBody>
      </p:sp>
      <p:sp>
        <p:nvSpPr>
          <p:cNvPr id="7" name="">
            <a:extLst xmlns:a="http://schemas.openxmlformats.org/drawingml/2006/main">
              <a:ext uri="{FF2B5EF4-FFF2-40B4-BE49-F238E27FC236}">
                <a16:creationId xmlns:a16="http://schemas.microsoft.com/office/drawing/2014/main" id="{2C90D54C-6948-48D0-AC50-7A883226B183}"/>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7D35A06B-4FD9-4FFE-8451-1032B13CEC39}"/>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two-column source and discussion arrangement shortens eye movement. Scope and draft state stay visible near the action.</a:t>
            </a:r>
          </a:p>
        </p:txBody>
      </p:sp>
      <p:sp>
        <p:nvSpPr>
          <p:cNvPr id="9" name="">
            <a:extLst xmlns:a="http://schemas.openxmlformats.org/drawingml/2006/main">
              <a:ext uri="{FF2B5EF4-FFF2-40B4-BE49-F238E27FC236}">
                <a16:creationId xmlns:a16="http://schemas.microsoft.com/office/drawing/2014/main" id="{88221957-1C6D-4E69-A3D7-13A3CDC26960}"/>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5F85B2B7-E9ED-4C09-A959-31004AB33E7A}"/>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Selection gains a blue line highlight. The save response says Draft saved, then the same Submit feedback control gains visual priority.</a:t>
            </a:r>
          </a:p>
        </p:txBody>
      </p:sp>
      <p:pic>
        <p:nvPicPr>
          <p:cNvPr id="11" name="">
            <a:extLst xmlns:a="http://schemas.openxmlformats.org/drawingml/2006/main">
              <a:ext uri="{FF2B5EF4-FFF2-40B4-BE49-F238E27FC236}">
                <a16:creationId xmlns:a16="http://schemas.microsoft.com/office/drawing/2014/main" id="{18D8D110-CCFC-4DB8-A743-83EE6FA8A3AF}"/>
              </a:ext>
            </a:extLst>
          </p:cNvPr>
          <p:cNvPicPr>
            <a:picLocks xmlns:a="http://schemas.openxmlformats.org/drawingml/2006/main" noChangeAspect="1"/>
          </p:cNvPicPr>
          <p:nvPr/>
        </p:nvPicPr>
        <p:blipFill>
          <a:blip xmlns:r="http://schemas.openxmlformats.org/officeDocument/2006/relationships" xmlns:a="http://schemas.openxmlformats.org/drawingml/2006/main" r:embed="Rf4d90467917545c8"/>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A641488-706D-46D3-9511-3A1986FCD76E}"/>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5D109173-B2B7-4592-93B8-2B5E6A957162}"/>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Keep comment and submit as separate existing requests. Local input is not a submitted batch. No combined Save and send action.</a:t>
            </a:r>
          </a:p>
        </p:txBody>
      </p:sp>
      <p:sp>
        <p:nvSpPr>
          <p:cNvPr id="14" name="">
            <a:extLst xmlns:a="http://schemas.openxmlformats.org/drawingml/2006/main">
              <a:ext uri="{FF2B5EF4-FFF2-40B4-BE49-F238E27FC236}">
                <a16:creationId xmlns:a16="http://schemas.microsoft.com/office/drawing/2014/main" id="{A7435224-60B6-461C-A597-327E8FC5D397}"/>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7B2F5F6-A7FC-4153-8566-45E38096E6B0}"/>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14 / 23</a:t>
            </a:r>
          </a:p>
        </p:txBody>
      </p:sp>
    </p:spTree>
    <p:extLst>
      <p:ext uri="{BB962C8B-B14F-4D97-AF65-F5344CB8AC3E}">
        <p14:creationId xmlns:p14="http://schemas.microsoft.com/office/powerpoint/2010/main" val="1956773585"/>
      </p:ext>
    </p:extLst>
  </p:cSld>
</p:sld>
</file>

<file path=ppt/slides/slide15.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0CD98F-9B2F-4F28-8BC9-D3B4C5B5CD68}"/>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15  A revised code diff and thread resolution</a:t>
            </a:r>
          </a:p>
        </p:txBody>
      </p:sp>
      <p:sp>
        <p:nvSpPr>
          <p:cNvPr id="2" name="">
            <a:extLst xmlns:a="http://schemas.openxmlformats.org/drawingml/2006/main">
              <a:ext uri="{FF2B5EF4-FFF2-40B4-BE49-F238E27FC236}">
                <a16:creationId xmlns:a16="http://schemas.microsoft.com/office/drawing/2014/main" id="{0273B63A-F97F-4B09-B5F3-F722C510B659}"/>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06625D30-89EB-4FB6-8610-3D0A0597F890}"/>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88381330-F19B-401F-A3F0-CB0C167B307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round selector points to the newest round. Before and After remain available. The thread and agent response sit beside the source.</a:t>
            </a:r>
          </a:p>
        </p:txBody>
      </p:sp>
      <p:sp>
        <p:nvSpPr>
          <p:cNvPr id="5" name="">
            <a:extLst xmlns:a="http://schemas.openxmlformats.org/drawingml/2006/main">
              <a:ext uri="{FF2B5EF4-FFF2-40B4-BE49-F238E27FC236}">
                <a16:creationId xmlns:a16="http://schemas.microsoft.com/office/drawing/2014/main" id="{E5B97716-D40C-46B3-B8C4-D63C96C81C42}"/>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CF0424FC-B4F3-4D7D-B815-68A25700C69B}"/>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revised lines, then use that thread’s Resolve button. Resolve each remaining thread independently.</a:t>
            </a:r>
          </a:p>
        </p:txBody>
      </p:sp>
      <p:sp>
        <p:nvSpPr>
          <p:cNvPr id="7" name="">
            <a:extLst xmlns:a="http://schemas.openxmlformats.org/drawingml/2006/main">
              <a:ext uri="{FF2B5EF4-FFF2-40B4-BE49-F238E27FC236}">
                <a16:creationId xmlns:a16="http://schemas.microsoft.com/office/drawing/2014/main" id="{ED9CE54B-63C6-49DA-B0B9-38E5E2A07E5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9C9FF447-2EC9-4998-B229-9A328F4EDFEE}"/>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source and discussion share a visual baseline. The user sees what changed and why without moving across several stacked panels.</a:t>
            </a:r>
          </a:p>
        </p:txBody>
      </p:sp>
      <p:sp>
        <p:nvSpPr>
          <p:cNvPr id="9" name="">
            <a:extLst xmlns:a="http://schemas.openxmlformats.org/drawingml/2006/main">
              <a:ext uri="{FF2B5EF4-FFF2-40B4-BE49-F238E27FC236}">
                <a16:creationId xmlns:a16="http://schemas.microsoft.com/office/drawing/2014/main" id="{8FF334BE-09C3-4B62-91C9-19E89C506D66}"/>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C33AFD30-7495-43C6-BFE2-2DA96B1CCE50}"/>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successful response changes Unresolved to Resolved and disables its action. Original anchors and submitted batches remain accessible.</a:t>
            </a:r>
          </a:p>
        </p:txBody>
      </p:sp>
      <p:pic>
        <p:nvPicPr>
          <p:cNvPr id="11" name="">
            <a:extLst xmlns:a="http://schemas.openxmlformats.org/drawingml/2006/main">
              <a:ext uri="{FF2B5EF4-FFF2-40B4-BE49-F238E27FC236}">
                <a16:creationId xmlns:a16="http://schemas.microsoft.com/office/drawing/2014/main" id="{BBAFF940-97F9-404E-B65C-6C1B3AA10C21}"/>
              </a:ext>
            </a:extLst>
          </p:cNvPr>
          <p:cNvPicPr>
            <a:picLocks xmlns:a="http://schemas.openxmlformats.org/drawingml/2006/main" noChangeAspect="1"/>
          </p:cNvPicPr>
          <p:nvPr/>
        </p:nvPicPr>
        <p:blipFill>
          <a:blip xmlns:r="http://schemas.openxmlformats.org/officeDocument/2006/relationships" xmlns:a="http://schemas.openxmlformats.org/drawingml/2006/main" r:embed="R26109565cdac445e"/>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3A367438-AF0D-459D-A264-67D94064B45D}"/>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3ECF764D-AB29-44E2-B6F3-0A01F386205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Do not claim auto-delivery or agent presence. An idle agent needs a prompt. Resolve grants no approval, Start or Finish permission.</a:t>
            </a:r>
          </a:p>
        </p:txBody>
      </p:sp>
      <p:sp>
        <p:nvSpPr>
          <p:cNvPr id="14" name="">
            <a:extLst xmlns:a="http://schemas.openxmlformats.org/drawingml/2006/main">
              <a:ext uri="{FF2B5EF4-FFF2-40B4-BE49-F238E27FC236}">
                <a16:creationId xmlns:a16="http://schemas.microsoft.com/office/drawing/2014/main" id="{4AC21B46-9754-4D0F-93D4-14A45F4A2E1C}"/>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F419EF55-AA95-40FB-B829-24A07592474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15 / 23</a:t>
            </a:r>
          </a:p>
        </p:txBody>
      </p:sp>
    </p:spTree>
    <p:extLst>
      <p:ext uri="{BB962C8B-B14F-4D97-AF65-F5344CB8AC3E}">
        <p14:creationId xmlns:p14="http://schemas.microsoft.com/office/powerpoint/2010/main" val="1040325137"/>
      </p:ext>
    </p:extLst>
  </p:cSld>
</p:sld>
</file>

<file path=ppt/slides/slide16.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AE2D099-E9F2-44B6-974F-F9719287ADCE}"/>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16  A stale feedback anchor</a:t>
            </a:r>
          </a:p>
        </p:txBody>
      </p:sp>
      <p:sp>
        <p:nvSpPr>
          <p:cNvPr id="2" name="">
            <a:extLst xmlns:a="http://schemas.openxmlformats.org/drawingml/2006/main">
              <a:ext uri="{FF2B5EF4-FFF2-40B4-BE49-F238E27FC236}">
                <a16:creationId xmlns:a16="http://schemas.microsoft.com/office/drawing/2014/main" id="{6114457E-3557-4318-AC97-E0DB3A62C28D}"/>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4A9D75FD-04FE-4E04-9AFB-9FA01F4CD89F}"/>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512EB8BF-52F2-414F-83FF-45D4D47B40F7}"/>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stale status labels the thread. The latest open round and new selected source line remain visible beside it.</a:t>
            </a:r>
          </a:p>
        </p:txBody>
      </p:sp>
      <p:sp>
        <p:nvSpPr>
          <p:cNvPr id="5" name="">
            <a:extLst xmlns:a="http://schemas.openxmlformats.org/drawingml/2006/main">
              <a:ext uri="{FF2B5EF4-FFF2-40B4-BE49-F238E27FC236}">
                <a16:creationId xmlns:a16="http://schemas.microsoft.com/office/drawing/2014/main" id="{4E3B89A1-F8A8-4C7E-9341-9E2189103A03}"/>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2AF51D18-768A-43F6-8A09-C2AED01CE0E1}"/>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Select the new anchor, choose Reattach to selected anchor, then Submit feedback. These remain two separate recorded actions.</a:t>
            </a:r>
          </a:p>
        </p:txBody>
      </p:sp>
      <p:sp>
        <p:nvSpPr>
          <p:cNvPr id="7" name="">
            <a:extLst xmlns:a="http://schemas.openxmlformats.org/drawingml/2006/main">
              <a:ext uri="{FF2B5EF4-FFF2-40B4-BE49-F238E27FC236}">
                <a16:creationId xmlns:a16="http://schemas.microsoft.com/office/drawing/2014/main" id="{E48A8FC0-B4BD-4556-ABE2-33C150B3DDB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63E7325F-5B79-4D4A-9285-FCF8312781EF}"/>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Context, selection and the recovery action stay together. A stale comment does not disappear into a generic error message.</a:t>
            </a:r>
          </a:p>
        </p:txBody>
      </p:sp>
      <p:sp>
        <p:nvSpPr>
          <p:cNvPr id="9" name="">
            <a:extLst xmlns:a="http://schemas.openxmlformats.org/drawingml/2006/main">
              <a:ext uri="{FF2B5EF4-FFF2-40B4-BE49-F238E27FC236}">
                <a16:creationId xmlns:a16="http://schemas.microsoft.com/office/drawing/2014/main" id="{FE9841BC-1ED2-447E-BC6A-149305D2A8C8}"/>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7521B3B1-A13B-42B6-AC14-965222145744}"/>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Announce Reattachment saved as a draft. Visual priority then moves to the existing Submit feedback control, after a successful response.</a:t>
            </a:r>
          </a:p>
        </p:txBody>
      </p:sp>
      <p:pic>
        <p:nvPicPr>
          <p:cNvPr id="11" name="">
            <a:extLst xmlns:a="http://schemas.openxmlformats.org/drawingml/2006/main">
              <a:ext uri="{FF2B5EF4-FFF2-40B4-BE49-F238E27FC236}">
                <a16:creationId xmlns:a16="http://schemas.microsoft.com/office/drawing/2014/main" id="{56ABC839-572D-445A-AC87-F59D93A8ED5F}"/>
              </a:ext>
            </a:extLst>
          </p:cNvPr>
          <p:cNvPicPr>
            <a:picLocks xmlns:a="http://schemas.openxmlformats.org/drawingml/2006/main" noChangeAspect="1"/>
          </p:cNvPicPr>
          <p:nvPr/>
        </p:nvPicPr>
        <p:blipFill>
          <a:blip xmlns:r="http://schemas.openxmlformats.org/officeDocument/2006/relationships" xmlns:a="http://schemas.openxmlformats.org/drawingml/2006/main" r:embed="R9ce699af0d944b46"/>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4D183BA-AA54-4014-9DE1-9C0F93435F88}"/>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BB306013-AC97-4C42-8CCC-B1FB784135B0}"/>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Never infer or silently move an anchor. A sealed round requires an agent-published new round. Preserve View original anchor.</a:t>
            </a:r>
          </a:p>
        </p:txBody>
      </p:sp>
      <p:sp>
        <p:nvSpPr>
          <p:cNvPr id="14" name="">
            <a:extLst xmlns:a="http://schemas.openxmlformats.org/drawingml/2006/main">
              <a:ext uri="{FF2B5EF4-FFF2-40B4-BE49-F238E27FC236}">
                <a16:creationId xmlns:a16="http://schemas.microsoft.com/office/drawing/2014/main" id="{88A6439D-760A-415D-9A88-8A3749C7A686}"/>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9B8AAF3C-29FD-450A-879F-2871A680DF6B}"/>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16 / 23</a:t>
            </a:r>
          </a:p>
        </p:txBody>
      </p:sp>
    </p:spTree>
    <p:extLst>
      <p:ext uri="{BB962C8B-B14F-4D97-AF65-F5344CB8AC3E}">
        <p14:creationId xmlns:p14="http://schemas.microsoft.com/office/powerpoint/2010/main" val="1432397571"/>
      </p:ext>
    </p:extLst>
  </p:cSld>
</p:sld>
</file>

<file path=ppt/slides/slide17.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3B61AB9-C724-4BE8-8A3D-A0286A0AFE4C}"/>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17  A feedback revision conflict</a:t>
            </a:r>
          </a:p>
        </p:txBody>
      </p:sp>
      <p:sp>
        <p:nvSpPr>
          <p:cNvPr id="2" name="">
            <a:extLst xmlns:a="http://schemas.openxmlformats.org/drawingml/2006/main">
              <a:ext uri="{FF2B5EF4-FFF2-40B4-BE49-F238E27FC236}">
                <a16:creationId xmlns:a16="http://schemas.microsoft.com/office/drawing/2014/main" id="{699A547F-E2B8-4FF3-A524-AEEBBE823C92}"/>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8D3C3DDB-785D-49E4-8C30-B0071644884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F9E81FE7-368C-48E0-951F-0AAB32B4DFDA}"/>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feedback error sits next to the comment field. The selected source and retained text stay visible.</a:t>
            </a:r>
          </a:p>
        </p:txBody>
      </p:sp>
      <p:sp>
        <p:nvSpPr>
          <p:cNvPr id="5" name="">
            <a:extLst xmlns:a="http://schemas.openxmlformats.org/drawingml/2006/main">
              <a:ext uri="{FF2B5EF4-FFF2-40B4-BE49-F238E27FC236}">
                <a16:creationId xmlns:a16="http://schemas.microsoft.com/office/drawing/2014/main" id="{EF1BE0C1-646C-4685-B0D0-B3E77BABB0D4}"/>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68EB36D6-B934-474D-BBC0-7B34E710EB01}"/>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Refresh feedback, inspect the current round and retry the intended existing action. Keep the draft and the spec owner controls separate.</a:t>
            </a:r>
          </a:p>
        </p:txBody>
      </p:sp>
      <p:sp>
        <p:nvSpPr>
          <p:cNvPr id="7" name="">
            <a:extLst xmlns:a="http://schemas.openxmlformats.org/drawingml/2006/main">
              <a:ext uri="{FF2B5EF4-FFF2-40B4-BE49-F238E27FC236}">
                <a16:creationId xmlns:a16="http://schemas.microsoft.com/office/drawing/2014/main" id="{3D66DF37-6591-49C6-8E45-B7D1805CCC0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DB46D334-3ED4-4D7A-8077-B887871A9FC3}"/>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specific recovery instruction replaces a broad red banner. Draft retention avoids retyping and makes the interrupted work recoverable.</a:t>
            </a:r>
          </a:p>
        </p:txBody>
      </p:sp>
      <p:sp>
        <p:nvSpPr>
          <p:cNvPr id="9" name="">
            <a:extLst xmlns:a="http://schemas.openxmlformats.org/drawingml/2006/main">
              <a:ext uri="{FF2B5EF4-FFF2-40B4-BE49-F238E27FC236}">
                <a16:creationId xmlns:a16="http://schemas.microsoft.com/office/drawing/2014/main" id="{CB72EAD1-4ED2-4C6B-8974-BD0E35D5C2D2}"/>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027656C-35BF-4712-A7FB-4E45971A4B0B}"/>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the error announcement without erasing the draft. Show a busy refresh state and update source selection deliberately.</a:t>
            </a:r>
          </a:p>
        </p:txBody>
      </p:sp>
      <p:pic>
        <p:nvPicPr>
          <p:cNvPr id="11" name="">
            <a:extLst xmlns:a="http://schemas.openxmlformats.org/drawingml/2006/main">
              <a:ext uri="{FF2B5EF4-FFF2-40B4-BE49-F238E27FC236}">
                <a16:creationId xmlns:a16="http://schemas.microsoft.com/office/drawing/2014/main" id="{A31DA5C9-9A01-4388-A9E3-86613908124F}"/>
              </a:ext>
            </a:extLst>
          </p:cNvPr>
          <p:cNvPicPr>
            <a:picLocks xmlns:a="http://schemas.openxmlformats.org/drawingml/2006/main" noChangeAspect="1"/>
          </p:cNvPicPr>
          <p:nvPr/>
        </p:nvPicPr>
        <p:blipFill>
          <a:blip xmlns:r="http://schemas.openxmlformats.org/officeDocument/2006/relationships" xmlns:a="http://schemas.openxmlformats.org/drawingml/2006/main" r:embed="R01fac04f70c34e15"/>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209051B-D499-4F40-8B0E-94EB4BBBAD08}"/>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0D061146-EB2E-4861-93C6-6B286E8DACAF}"/>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Retain the existing operation identity and revision checks. Do not automatically resend, submit a new batch or reattach after conflict.</a:t>
            </a:r>
          </a:p>
        </p:txBody>
      </p:sp>
      <p:sp>
        <p:nvSpPr>
          <p:cNvPr id="14" name="">
            <a:extLst xmlns:a="http://schemas.openxmlformats.org/drawingml/2006/main">
              <a:ext uri="{FF2B5EF4-FFF2-40B4-BE49-F238E27FC236}">
                <a16:creationId xmlns:a16="http://schemas.microsoft.com/office/drawing/2014/main" id="{CF190588-441B-49FB-8FA6-75C69DF14A59}"/>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28CFFED3-EE76-4FF2-BA0F-CEE868D5A144}"/>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17 / 23</a:t>
            </a:r>
          </a:p>
        </p:txBody>
      </p:sp>
    </p:spTree>
    <p:extLst>
      <p:ext uri="{BB962C8B-B14F-4D97-AF65-F5344CB8AC3E}">
        <p14:creationId xmlns:p14="http://schemas.microsoft.com/office/powerpoint/2010/main" val="63352750"/>
      </p:ext>
    </p:extLst>
  </p:cSld>
</p:sld>
</file>

<file path=ppt/slides/slide18.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68B46E-2FE1-4A0B-803C-B7A5FFAECE0A}"/>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18  An owner action revision conflict</a:t>
            </a:r>
          </a:p>
        </p:txBody>
      </p:sp>
      <p:sp>
        <p:nvSpPr>
          <p:cNvPr id="2" name="">
            <a:extLst xmlns:a="http://schemas.openxmlformats.org/drawingml/2006/main">
              <a:ext uri="{FF2B5EF4-FFF2-40B4-BE49-F238E27FC236}">
                <a16:creationId xmlns:a16="http://schemas.microsoft.com/office/drawing/2014/main" id="{832F6A22-A4DE-4D06-824F-55BB0C7AAD7C}"/>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025E4907-471C-4ABB-8F98-0E58E6D29DB2}"/>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164AC3A2-9314-4625-8BAA-5D7EFD8BB03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owner error and Refresh control sit directly beside the owner action area. The attempted action remains understandable.</a:t>
            </a:r>
          </a:p>
        </p:txBody>
      </p:sp>
      <p:sp>
        <p:nvSpPr>
          <p:cNvPr id="5" name="">
            <a:extLst xmlns:a="http://schemas.openxmlformats.org/drawingml/2006/main">
              <a:ext uri="{FF2B5EF4-FFF2-40B4-BE49-F238E27FC236}">
                <a16:creationId xmlns:a16="http://schemas.microsoft.com/office/drawing/2014/main" id="{425BC69E-DD81-4A35-8FF5-B1D4CE8BA658}"/>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99D465CD-8ADD-4F85-8FF4-132461D8EA8F}"/>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Refresh the spec, reread changed content, then deliberately repeat the eligible action if it is still appropriate.</a:t>
            </a:r>
          </a:p>
        </p:txBody>
      </p:sp>
      <p:sp>
        <p:nvSpPr>
          <p:cNvPr id="7" name="">
            <a:extLst xmlns:a="http://schemas.openxmlformats.org/drawingml/2006/main">
              <a:ext uri="{FF2B5EF4-FFF2-40B4-BE49-F238E27FC236}">
                <a16:creationId xmlns:a16="http://schemas.microsoft.com/office/drawing/2014/main" id="{0BFBBBBD-A031-4A29-9C22-AB6AE32D0ADE}"/>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2ACF5E7A-AE72-48D0-A5D4-CA93D59ABFBB}"/>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Recovery lives at the point of interruption. The UI makes no claim that permission exists when the server refused the write.</a:t>
            </a:r>
          </a:p>
        </p:txBody>
      </p:sp>
      <p:sp>
        <p:nvSpPr>
          <p:cNvPr id="9" name="">
            <a:extLst xmlns:a="http://schemas.openxmlformats.org/drawingml/2006/main">
              <a:ext uri="{FF2B5EF4-FFF2-40B4-BE49-F238E27FC236}">
                <a16:creationId xmlns:a16="http://schemas.microsoft.com/office/drawing/2014/main" id="{A752FF03-DC74-47E1-AFD4-22B76F3A2D39}"/>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5D2FC2D2-91FC-43BF-AEC7-4695F3BE9E7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Focus the error. Disable duplicate requests while refreshing. Restore an action only from the new workflow response.</a:t>
            </a:r>
          </a:p>
        </p:txBody>
      </p:sp>
      <p:pic>
        <p:nvPicPr>
          <p:cNvPr id="11" name="">
            <a:extLst xmlns:a="http://schemas.openxmlformats.org/drawingml/2006/main">
              <a:ext uri="{FF2B5EF4-FFF2-40B4-BE49-F238E27FC236}">
                <a16:creationId xmlns:a16="http://schemas.microsoft.com/office/drawing/2014/main" id="{34C43F74-EB41-48A3-8565-FB32189A4E64}"/>
              </a:ext>
            </a:extLst>
          </p:cNvPr>
          <p:cNvPicPr>
            <a:picLocks xmlns:a="http://schemas.openxmlformats.org/drawingml/2006/main" noChangeAspect="1"/>
          </p:cNvPicPr>
          <p:nvPr/>
        </p:nvPicPr>
        <p:blipFill>
          <a:blip xmlns:r="http://schemas.openxmlformats.org/officeDocument/2006/relationships" xmlns:a="http://schemas.openxmlformats.org/drawingml/2006/main" r:embed="R05138c3c34b14f24"/>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099B32B-CE8D-4A0F-91B0-02D5438833F7}"/>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97EF081F-7A2F-4698-87D2-5642B2D3FAEE}"/>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Never advance optimistically or auto-retry approval. Keep expected_revision, plan identity and all server eligibility rules unchanged.</a:t>
            </a:r>
          </a:p>
        </p:txBody>
      </p:sp>
      <p:sp>
        <p:nvSpPr>
          <p:cNvPr id="14" name="">
            <a:extLst xmlns:a="http://schemas.openxmlformats.org/drawingml/2006/main">
              <a:ext uri="{FF2B5EF4-FFF2-40B4-BE49-F238E27FC236}">
                <a16:creationId xmlns:a16="http://schemas.microsoft.com/office/drawing/2014/main" id="{449C64E2-9B27-4842-8C10-FFF865248D0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8DFEF4F0-08A7-4B7A-B5E9-27C93A1A397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18 / 23</a:t>
            </a:r>
          </a:p>
        </p:txBody>
      </p:sp>
    </p:spTree>
    <p:extLst>
      <p:ext uri="{BB962C8B-B14F-4D97-AF65-F5344CB8AC3E}">
        <p14:creationId xmlns:p14="http://schemas.microsoft.com/office/powerpoint/2010/main" val="1503720221"/>
      </p:ext>
    </p:extLst>
  </p:cSld>
</p:sld>
</file>

<file path=ppt/slides/slide19.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B5AC072-7205-4F4B-BFAA-D87A1C4503E5}"/>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19  A recorded action with pending audit recovery</a:t>
            </a:r>
          </a:p>
        </p:txBody>
      </p:sp>
      <p:sp>
        <p:nvSpPr>
          <p:cNvPr id="2" name="">
            <a:extLst xmlns:a="http://schemas.openxmlformats.org/drawingml/2006/main">
              <a:ext uri="{FF2B5EF4-FFF2-40B4-BE49-F238E27FC236}">
                <a16:creationId xmlns:a16="http://schemas.microsoft.com/office/drawing/2014/main" id="{16F39919-37E0-477B-B6B1-4ECA01F3F02B}"/>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B069C08C-F545-4914-8ACE-7CE374687FBF}"/>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5A12AF8A-C6E0-4506-9DD3-62A5FCF9AF6F}"/>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audit_pending message appears beneath the recorded permission state. Task content remains available.</a:t>
            </a:r>
          </a:p>
        </p:txBody>
      </p:sp>
      <p:sp>
        <p:nvSpPr>
          <p:cNvPr id="5" name="">
            <a:extLst xmlns:a="http://schemas.openxmlformats.org/drawingml/2006/main">
              <a:ext uri="{FF2B5EF4-FFF2-40B4-BE49-F238E27FC236}">
                <a16:creationId xmlns:a16="http://schemas.microsoft.com/office/drawing/2014/main" id="{1E7EF1F6-C6C3-4545-942E-062C4BBC679C}"/>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8DC4832F-CF83-4410-837C-D01F6F34534A}"/>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Read the state and refresh after recovery. The owner does not repeat an action that already landed.</a:t>
            </a:r>
          </a:p>
        </p:txBody>
      </p:sp>
      <p:sp>
        <p:nvSpPr>
          <p:cNvPr id="7" name="">
            <a:extLst xmlns:a="http://schemas.openxmlformats.org/drawingml/2006/main">
              <a:ext uri="{FF2B5EF4-FFF2-40B4-BE49-F238E27FC236}">
                <a16:creationId xmlns:a16="http://schemas.microsoft.com/office/drawing/2014/main" id="{1F0F92C9-D239-48F3-AAF6-CB9D49C5763B}"/>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99012BAF-16D4-43FC-800B-72B62BCA1BAC}"/>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UI distinguishes a durable receipt from a journal problem. A quiet amber message prevents a second approval prompted by uncertainty.</a:t>
            </a:r>
          </a:p>
        </p:txBody>
      </p:sp>
      <p:sp>
        <p:nvSpPr>
          <p:cNvPr id="9" name="">
            <a:extLst xmlns:a="http://schemas.openxmlformats.org/drawingml/2006/main">
              <a:ext uri="{FF2B5EF4-FFF2-40B4-BE49-F238E27FC236}">
                <a16:creationId xmlns:a16="http://schemas.microsoft.com/office/drawing/2014/main" id="{7460C0A0-1882-4B4B-A35D-19BD488FDF89}"/>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3B84A22-8DE9-434F-BC24-5E08984BA2A4}"/>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Present the actual pending-entry count only when returned. Announce the recorded action, then the outstanding recovery status.</a:t>
            </a:r>
          </a:p>
        </p:txBody>
      </p:sp>
      <p:pic>
        <p:nvPicPr>
          <p:cNvPr id="11" name="">
            <a:extLst xmlns:a="http://schemas.openxmlformats.org/drawingml/2006/main">
              <a:ext uri="{FF2B5EF4-FFF2-40B4-BE49-F238E27FC236}">
                <a16:creationId xmlns:a16="http://schemas.microsoft.com/office/drawing/2014/main" id="{81E5FE2A-709F-47AD-8B2F-5B5C40FBA503}"/>
              </a:ext>
            </a:extLst>
          </p:cNvPr>
          <p:cNvPicPr>
            <a:picLocks xmlns:a="http://schemas.openxmlformats.org/drawingml/2006/main" noChangeAspect="1"/>
          </p:cNvPicPr>
          <p:nvPr/>
        </p:nvPicPr>
        <p:blipFill>
          <a:blip xmlns:r="http://schemas.openxmlformats.org/officeDocument/2006/relationships" xmlns:a="http://schemas.openxmlformats.org/drawingml/2006/main" r:embed="R9b867a0629614907"/>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AB3D732-6E75-4FF7-A5B2-E1FBA2A4D4BF}"/>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79A81044-03F6-41B4-9795-EC3EC0934AB5}"/>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Recover audit button or backend repair. No invented journal completion. Avoid showing Start again because an append failed.</a:t>
            </a:r>
          </a:p>
        </p:txBody>
      </p:sp>
      <p:sp>
        <p:nvSpPr>
          <p:cNvPr id="14" name="">
            <a:extLst xmlns:a="http://schemas.openxmlformats.org/drawingml/2006/main">
              <a:ext uri="{FF2B5EF4-FFF2-40B4-BE49-F238E27FC236}">
                <a16:creationId xmlns:a16="http://schemas.microsoft.com/office/drawing/2014/main" id="{3440F454-70E0-48CC-A858-8061532FB9DA}"/>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59CD000F-605E-4AA6-912C-D8FF59F105B8}"/>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19 / 23</a:t>
            </a:r>
          </a:p>
        </p:txBody>
      </p:sp>
    </p:spTree>
    <p:extLst>
      <p:ext uri="{BB962C8B-B14F-4D97-AF65-F5344CB8AC3E}">
        <p14:creationId xmlns:p14="http://schemas.microsoft.com/office/powerpoint/2010/main" val="629205503"/>
      </p:ext>
    </p:extLst>
  </p:cSld>
</p:sld>
</file>

<file path=ppt/slides/slide20.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7640C7-6CAD-49B1-A39C-159731167F2D}"/>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20  Approval state unavailable</a:t>
            </a:r>
          </a:p>
        </p:txBody>
      </p:sp>
      <p:sp>
        <p:nvSpPr>
          <p:cNvPr id="2" name="">
            <a:extLst xmlns:a="http://schemas.openxmlformats.org/drawingml/2006/main">
              <a:ext uri="{FF2B5EF4-FFF2-40B4-BE49-F238E27FC236}">
                <a16:creationId xmlns:a16="http://schemas.microsoft.com/office/drawing/2014/main" id="{F6F1A19D-F3ED-4B13-B76D-4A941307EFBB}"/>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DC271D76-5E51-4DAF-BD2F-24FF0FF35566}"/>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FE1E9247-88DA-494E-945B-8119F2B71910}"/>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unavailable state occupies the owner panel. Already available document content stays readable.</a:t>
            </a:r>
          </a:p>
        </p:txBody>
      </p:sp>
      <p:sp>
        <p:nvSpPr>
          <p:cNvPr id="5" name="">
            <a:extLst xmlns:a="http://schemas.openxmlformats.org/drawingml/2006/main">
              <a:ext uri="{FF2B5EF4-FFF2-40B4-BE49-F238E27FC236}">
                <a16:creationId xmlns:a16="http://schemas.microsoft.com/office/drawing/2014/main" id="{E23110F9-3BC1-4A88-9004-D5445AADF1F4}"/>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994BA6C8-6D5B-48EB-92BC-BAF552601900}"/>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Use the existing Refresh control. Approval actions stay hidden until the workflow response has loaded consistently.</a:t>
            </a:r>
          </a:p>
        </p:txBody>
      </p:sp>
      <p:sp>
        <p:nvSpPr>
          <p:cNvPr id="7" name="">
            <a:extLst xmlns:a="http://schemas.openxmlformats.org/drawingml/2006/main">
              <a:ext uri="{FF2B5EF4-FFF2-40B4-BE49-F238E27FC236}">
                <a16:creationId xmlns:a16="http://schemas.microsoft.com/office/drawing/2014/main" id="{72E79D50-DEBB-42D9-A26D-E61C9A72F7A5}"/>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E7D85BDD-93B6-42F1-9BB7-3F855B65445B}"/>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message explains the interruption and offers the supported recovery path. The screen does not collapse into an empty error page.</a:t>
            </a:r>
          </a:p>
        </p:txBody>
      </p:sp>
      <p:sp>
        <p:nvSpPr>
          <p:cNvPr id="9" name="">
            <a:extLst xmlns:a="http://schemas.openxmlformats.org/drawingml/2006/main">
              <a:ext uri="{FF2B5EF4-FFF2-40B4-BE49-F238E27FC236}">
                <a16:creationId xmlns:a16="http://schemas.microsoft.com/office/drawing/2014/main" id="{09AE4114-03A0-4168-90C9-80D8AB1353C3}"/>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D7F8D1ED-C807-4E55-9CC1-D8CC0356E2B8}"/>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Announce unavailable and refreshing states. Restore focus to the current-gate heading after a successful refresh.</a:t>
            </a:r>
          </a:p>
        </p:txBody>
      </p:sp>
      <p:pic>
        <p:nvPicPr>
          <p:cNvPr id="11" name="">
            <a:extLst xmlns:a="http://schemas.openxmlformats.org/drawingml/2006/main">
              <a:ext uri="{FF2B5EF4-FFF2-40B4-BE49-F238E27FC236}">
                <a16:creationId xmlns:a16="http://schemas.microsoft.com/office/drawing/2014/main" id="{69EC505F-598B-42AD-ABEA-DD535D61A03F}"/>
              </a:ext>
            </a:extLst>
          </p:cNvPr>
          <p:cNvPicPr>
            <a:picLocks xmlns:a="http://schemas.openxmlformats.org/drawingml/2006/main" noChangeAspect="1"/>
          </p:cNvPicPr>
          <p:nvPr/>
        </p:nvPicPr>
        <p:blipFill>
          <a:blip xmlns:r="http://schemas.openxmlformats.org/officeDocument/2006/relationships" xmlns:a="http://schemas.openxmlformats.org/drawingml/2006/main" r:embed="Rb95c5fe333f846db"/>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D1C1325-2405-4D30-A81D-C0509483E3FF}"/>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7E842627-BB98-47FB-8AF7-580D8B0385ED}"/>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Do not infer can_start or can_close from cached content, task counts or an old PASS. No new error screen or endpoint.</a:t>
            </a:r>
          </a:p>
        </p:txBody>
      </p:sp>
      <p:sp>
        <p:nvSpPr>
          <p:cNvPr id="14" name="">
            <a:extLst xmlns:a="http://schemas.openxmlformats.org/drawingml/2006/main">
              <a:ext uri="{FF2B5EF4-FFF2-40B4-BE49-F238E27FC236}">
                <a16:creationId xmlns:a16="http://schemas.microsoft.com/office/drawing/2014/main" id="{90DB9D59-20EC-40B1-9BB1-F7C12608DD84}"/>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B0CE4F51-8B81-4334-AE39-931B1068FD23}"/>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20 / 23</a:t>
            </a:r>
          </a:p>
        </p:txBody>
      </p:sp>
    </p:spTree>
    <p:extLst>
      <p:ext uri="{BB962C8B-B14F-4D97-AF65-F5344CB8AC3E}">
        <p14:creationId xmlns:p14="http://schemas.microsoft.com/office/powerpoint/2010/main" val="1328549733"/>
      </p:ext>
    </p:extLst>
  </p:cSld>
</p:sld>
</file>

<file path=ppt/slides/slide21.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B36D9A-4A6F-482F-AE19-23459C1EFD63}"/>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21  Feedback before a session exists</a:t>
            </a:r>
          </a:p>
        </p:txBody>
      </p:sp>
      <p:sp>
        <p:nvSpPr>
          <p:cNvPr id="2" name="">
            <a:extLst xmlns:a="http://schemas.openxmlformats.org/drawingml/2006/main">
              <a:ext uri="{FF2B5EF4-FFF2-40B4-BE49-F238E27FC236}">
                <a16:creationId xmlns:a16="http://schemas.microsoft.com/office/drawing/2014/main" id="{073B7899-7C54-40DB-A414-BE6BCDCD2403}"/>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6841D98F-ADB8-4444-B7BB-F4046D2C0744}"/>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A3EEB097-0DDC-4FFC-A5FF-5AF8C080625D}"/>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feedback empty state explains why no source or thread is available. Spec navigation remains visible.</a:t>
            </a:r>
          </a:p>
        </p:txBody>
      </p:sp>
      <p:sp>
        <p:nvSpPr>
          <p:cNvPr id="5" name="">
            <a:extLst xmlns:a="http://schemas.openxmlformats.org/drawingml/2006/main">
              <a:ext uri="{FF2B5EF4-FFF2-40B4-BE49-F238E27FC236}">
                <a16:creationId xmlns:a16="http://schemas.microsoft.com/office/drawing/2014/main" id="{C0AF89B2-DCF0-48CC-9682-8FEDEA292B11}"/>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D7714FDA-8829-4248-B0C9-FDE043C4F1B4}"/>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next step is the existing agent workflow outside this browser. Refresh feedback after the agent opens the session.</a:t>
            </a:r>
          </a:p>
        </p:txBody>
      </p:sp>
      <p:sp>
        <p:nvSpPr>
          <p:cNvPr id="7" name="">
            <a:extLst xmlns:a="http://schemas.openxmlformats.org/drawingml/2006/main">
              <a:ext uri="{FF2B5EF4-FFF2-40B4-BE49-F238E27FC236}">
                <a16:creationId xmlns:a16="http://schemas.microsoft.com/office/drawing/2014/main" id="{A7AC8E07-3FBC-4C26-8D65-5A969BE479F8}"/>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04F7BC76-BDA7-4F91-8C03-195EBF391FC7}"/>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Clear scope avoids offering a dead comment box. The user knows that a review session must exist before leaving feedback.</a:t>
            </a:r>
          </a:p>
        </p:txBody>
      </p:sp>
      <p:sp>
        <p:nvSpPr>
          <p:cNvPr id="9" name="">
            <a:extLst xmlns:a="http://schemas.openxmlformats.org/drawingml/2006/main">
              <a:ext uri="{FF2B5EF4-FFF2-40B4-BE49-F238E27FC236}">
                <a16:creationId xmlns:a16="http://schemas.microsoft.com/office/drawing/2014/main" id="{44184787-052D-47FB-B332-070F5141B6BD}"/>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F202C8A3-7FB1-4902-B7F1-BC90BFD39A73}"/>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Keep the empty message stable while a refresh is pending. Show a session only when the existing state response supplies one.</a:t>
            </a:r>
          </a:p>
        </p:txBody>
      </p:sp>
      <p:pic>
        <p:nvPicPr>
          <p:cNvPr id="11" name="">
            <a:extLst xmlns:a="http://schemas.openxmlformats.org/drawingml/2006/main">
              <a:ext uri="{FF2B5EF4-FFF2-40B4-BE49-F238E27FC236}">
                <a16:creationId xmlns:a16="http://schemas.microsoft.com/office/drawing/2014/main" id="{E9C42556-3AF9-4BE4-A13D-FD032F55814F}"/>
              </a:ext>
            </a:extLst>
          </p:cNvPr>
          <p:cNvPicPr>
            <a:picLocks xmlns:a="http://schemas.openxmlformats.org/drawingml/2006/main" noChangeAspect="1"/>
          </p:cNvPicPr>
          <p:nvPr/>
        </p:nvPicPr>
        <p:blipFill>
          <a:blip xmlns:r="http://schemas.openxmlformats.org/officeDocument/2006/relationships" xmlns:a="http://schemas.openxmlformats.org/drawingml/2006/main" r:embed="R78c2233b66fd4126"/>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A3A5EDB-9419-431C-B09A-A9A9568CB161}"/>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68C2A83E-34FA-4DD0-A8CA-39D0EF4FC762}"/>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Create session, agent chat composer or wake-agent action. The browser’s current feedback endpoints retain their existing scope.</a:t>
            </a:r>
          </a:p>
        </p:txBody>
      </p:sp>
      <p:sp>
        <p:nvSpPr>
          <p:cNvPr id="14" name="">
            <a:extLst xmlns:a="http://schemas.openxmlformats.org/drawingml/2006/main">
              <a:ext uri="{FF2B5EF4-FFF2-40B4-BE49-F238E27FC236}">
                <a16:creationId xmlns:a16="http://schemas.microsoft.com/office/drawing/2014/main" id="{45AEA056-575A-43F0-9E81-2B1EA9B0197D}"/>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853F8FBD-5D8E-4FEE-B0C5-DE3E53B9539E}"/>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21 / 23</a:t>
            </a:r>
          </a:p>
        </p:txBody>
      </p:sp>
    </p:spTree>
    <p:extLst>
      <p:ext uri="{BB962C8B-B14F-4D97-AF65-F5344CB8AC3E}">
        <p14:creationId xmlns:p14="http://schemas.microsoft.com/office/powerpoint/2010/main" val="1181128025"/>
      </p:ext>
    </p:extLst>
  </p:cSld>
</p:sld>
</file>

<file path=ppt/slides/slide22.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725AE64-3BFE-405B-9EB5-096FD576A8E5}"/>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22  The existing interview room</a:t>
            </a:r>
          </a:p>
        </p:txBody>
      </p:sp>
      <p:sp>
        <p:nvSpPr>
          <p:cNvPr id="2" name="">
            <a:extLst xmlns:a="http://schemas.openxmlformats.org/drawingml/2006/main">
              <a:ext uri="{FF2B5EF4-FFF2-40B4-BE49-F238E27FC236}">
                <a16:creationId xmlns:a16="http://schemas.microsoft.com/office/drawing/2014/main" id="{6AB3B4A0-B7DD-4487-B824-6510925893DE}"/>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9750A3A9-108A-4243-8F0F-F5F8F9F232FD}"/>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6058E6F3-D3AC-4DE6-B836-D9CB4A5B47F3}"/>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dossier, focused interview and question count retain their layout roles. Choice labels use full rows with visible selection.</a:t>
            </a:r>
          </a:p>
        </p:txBody>
      </p:sp>
      <p:sp>
        <p:nvSpPr>
          <p:cNvPr id="5" name="">
            <a:extLst xmlns:a="http://schemas.openxmlformats.org/drawingml/2006/main">
              <a:ext uri="{FF2B5EF4-FFF2-40B4-BE49-F238E27FC236}">
                <a16:creationId xmlns:a16="http://schemas.microsoft.com/office/drawing/2014/main" id="{A32BB254-145B-488B-8BA0-5A14409A7B9C}"/>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A46B6780-00D1-4E70-B700-854A8AB098F9}"/>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Choose an existing option and Submit. Back and I don’t know remain secondary. Preserve the current keyboard behavior.</a:t>
            </a:r>
          </a:p>
        </p:txBody>
      </p:sp>
      <p:sp>
        <p:nvSpPr>
          <p:cNvPr id="7" name="">
            <a:extLst xmlns:a="http://schemas.openxmlformats.org/drawingml/2006/main">
              <a:ext uri="{FF2B5EF4-FFF2-40B4-BE49-F238E27FC236}">
                <a16:creationId xmlns:a16="http://schemas.microsoft.com/office/drawing/2014/main" id="{DC4F8191-545D-4C7E-B566-8D292569AA02}"/>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9F42DF4E-2FE4-47E6-9A01-0A57489451EC}"/>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One question fills the center rather than competing with the entire spec. The selected option and submit action form one clear reading path.</a:t>
            </a:r>
          </a:p>
        </p:txBody>
      </p:sp>
      <p:sp>
        <p:nvSpPr>
          <p:cNvPr id="9" name="">
            <a:extLst xmlns:a="http://schemas.openxmlformats.org/drawingml/2006/main">
              <a:ext uri="{FF2B5EF4-FFF2-40B4-BE49-F238E27FC236}">
                <a16:creationId xmlns:a16="http://schemas.microsoft.com/office/drawing/2014/main" id="{A199F3ED-A050-4F6A-AD67-53386AE87F2E}"/>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E3ED1B14-4DDA-4668-AD68-6F9D85234DEE}"/>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Keep 1–9 choice hints and j/k navigation. Enter submits, Shift+Enter adds a line in free text. Successful answers advance through the existing room.</a:t>
            </a:r>
          </a:p>
        </p:txBody>
      </p:sp>
      <p:pic>
        <p:nvPicPr>
          <p:cNvPr id="11" name="">
            <a:extLst xmlns:a="http://schemas.openxmlformats.org/drawingml/2006/main">
              <a:ext uri="{FF2B5EF4-FFF2-40B4-BE49-F238E27FC236}">
                <a16:creationId xmlns:a16="http://schemas.microsoft.com/office/drawing/2014/main" id="{015B9592-D438-445D-9079-35D9906E0C23}"/>
              </a:ext>
            </a:extLst>
          </p:cNvPr>
          <p:cNvPicPr>
            <a:picLocks xmlns:a="http://schemas.openxmlformats.org/drawingml/2006/main" noChangeAspect="1"/>
          </p:cNvPicPr>
          <p:nvPr/>
        </p:nvPicPr>
        <p:blipFill>
          <a:blip xmlns:r="http://schemas.openxmlformats.org/officeDocument/2006/relationships" xmlns:a="http://schemas.openxmlformats.org/drawingml/2006/main" r:embed="R08d57db718964038"/>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2F815AF-C5D7-4B7C-960C-9ED7C4021ED0}"/>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396815D7-6B59-4987-96E7-F23579C9F087}"/>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This is the existing page.html room, not a new wizard. Room approval remains separate from library Start and Finish actions.</a:t>
            </a:r>
          </a:p>
        </p:txBody>
      </p:sp>
      <p:sp>
        <p:nvSpPr>
          <p:cNvPr id="14" name="">
            <a:extLst xmlns:a="http://schemas.openxmlformats.org/drawingml/2006/main">
              <a:ext uri="{FF2B5EF4-FFF2-40B4-BE49-F238E27FC236}">
                <a16:creationId xmlns:a16="http://schemas.microsoft.com/office/drawing/2014/main" id="{67E66A01-A508-4267-80DC-66F1DFD34EC1}"/>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EBCB1B8E-B8A3-4C73-910F-ED7D96433D5A}"/>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22 / 23</a:t>
            </a:r>
          </a:p>
        </p:txBody>
      </p:sp>
    </p:spTree>
    <p:extLst>
      <p:ext uri="{BB962C8B-B14F-4D97-AF65-F5344CB8AC3E}">
        <p14:creationId xmlns:p14="http://schemas.microsoft.com/office/powerpoint/2010/main" val="1067294829"/>
      </p:ext>
    </p:extLst>
  </p:cSld>
</p:sld>
</file>

<file path=ppt/slides/slide23.xml><?xml version="1.0" encoding="utf-8"?>
<p:sld xmlns:p="http://schemas.openxmlformats.org/presentationml/2006/main">
  <p:cSld>
    <p:bg>
      <p:bgPr>
        <a:solidFill xmlns:a="http://schemas.openxmlformats.org/drawingml/2006/main">
          <a:srgbClr val="F5F5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9F8C482-7AA6-4B8C-B9AA-6AA99C203C7F}"/>
              </a:ext>
            </a:extLst>
          </p:cNvPr>
          <p:cNvSpPr>
            <a:spLocks xmlns:a="http://schemas.openxmlformats.org/drawingml/2006/main" noGrp="1"/>
          </p:cNvSpPr>
          <p:nvPr/>
        </p:nvSpPr>
        <p:spPr>
          <a:xfrm xmlns:a="http://schemas.openxmlformats.org/drawingml/2006/main">
            <a:off x="514350" y="361950"/>
            <a:ext cx="17192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D1D1F"/>
                </a:solidFill>
                <a:latin typeface="Liberation Sans"/>
                <a:ea typeface="Liberation Sans"/>
                <a:cs typeface="Liberation Sans"/>
              </a:defRPr>
            </a:defPPr>
          </a:lstStyle>
          <a:p xmlns:a="http://schemas.openxmlformats.org/drawingml/2006/main">
            <a:pPr>
              <a:defRPr sz="3600" b="1">
                <a:solidFill>
                  <a:srgbClr val="1D1D1F"/>
                </a:solidFill>
                <a:latin typeface="Liberation Sans"/>
                <a:ea typeface="Liberation Sans"/>
                <a:cs typeface="Liberation Sans"/>
              </a:defRPr>
            </a:pPr>
            <a:r>
              <a:rPr sz="3600" b="1">
                <a:solidFill>
                  <a:srgbClr val="1D1D1F"/>
                </a:solidFill>
                <a:latin typeface="Liberation Sans"/>
                <a:ea typeface="Liberation Sans"/>
                <a:cs typeface="Liberation Sans"/>
              </a:rPr>
              <a:t>23  Legacy history remains read-only</a:t>
            </a:r>
          </a:p>
        </p:txBody>
      </p:sp>
      <p:sp>
        <p:nvSpPr>
          <p:cNvPr id="2" name="">
            <a:extLst xmlns:a="http://schemas.openxmlformats.org/drawingml/2006/main">
              <a:ext uri="{FF2B5EF4-FFF2-40B4-BE49-F238E27FC236}">
                <a16:creationId xmlns:a16="http://schemas.microsoft.com/office/drawing/2014/main" id="{230F74ED-A5DA-41B8-B7A0-7270E29CA60C}"/>
              </a:ext>
            </a:extLst>
          </p:cNvPr>
          <p:cNvSpPr>
            <a:spLocks xmlns:a="http://schemas.openxmlformats.org/drawingml/2006/main" noGrp="1"/>
          </p:cNvSpPr>
          <p:nvPr/>
        </p:nvSpPr>
        <p:spPr>
          <a:xfrm xmlns:a="http://schemas.openxmlformats.org/drawingml/2006/main">
            <a:off x="533400" y="119062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READ THE ANNOTATIONS FIRST</a:t>
            </a:r>
          </a:p>
        </p:txBody>
      </p:sp>
      <p:sp>
        <p:nvSpPr>
          <p:cNvPr id="3" name="">
            <a:extLst xmlns:a="http://schemas.openxmlformats.org/drawingml/2006/main">
              <a:ext uri="{FF2B5EF4-FFF2-40B4-BE49-F238E27FC236}">
                <a16:creationId xmlns:a16="http://schemas.microsoft.com/office/drawing/2014/main" id="{3052D813-9449-42A0-87E8-21F33619289B}"/>
              </a:ext>
            </a:extLst>
          </p:cNvPr>
          <p:cNvSpPr>
            <a:spLocks xmlns:a="http://schemas.openxmlformats.org/drawingml/2006/main" noGrp="1"/>
          </p:cNvSpPr>
          <p:nvPr/>
        </p:nvSpPr>
        <p:spPr>
          <a:xfrm xmlns:a="http://schemas.openxmlformats.org/drawingml/2006/main">
            <a:off x="533400" y="17240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What the user sees</a:t>
            </a:r>
          </a:p>
        </p:txBody>
      </p:sp>
      <p:sp>
        <p:nvSpPr>
          <p:cNvPr id="4" name="">
            <a:extLst xmlns:a="http://schemas.openxmlformats.org/drawingml/2006/main">
              <a:ext uri="{FF2B5EF4-FFF2-40B4-BE49-F238E27FC236}">
                <a16:creationId xmlns:a16="http://schemas.microsoft.com/office/drawing/2014/main" id="{A322028B-07F4-4B1C-9D2F-6F57711644B8}"/>
              </a:ext>
            </a:extLst>
          </p:cNvPr>
          <p:cNvSpPr>
            <a:spLocks xmlns:a="http://schemas.openxmlformats.org/drawingml/2006/main" noGrp="1"/>
          </p:cNvSpPr>
          <p:nvPr/>
        </p:nvSpPr>
        <p:spPr>
          <a:xfrm xmlns:a="http://schemas.openxmlformats.org/drawingml/2006/main">
            <a:off x="533400" y="20955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The existing History group opens the preserved dossier. Historical labels and documents remain available without owner controls.</a:t>
            </a:r>
          </a:p>
        </p:txBody>
      </p:sp>
      <p:sp>
        <p:nvSpPr>
          <p:cNvPr id="5" name="">
            <a:extLst xmlns:a="http://schemas.openxmlformats.org/drawingml/2006/main">
              <a:ext uri="{FF2B5EF4-FFF2-40B4-BE49-F238E27FC236}">
                <a16:creationId xmlns:a16="http://schemas.microsoft.com/office/drawing/2014/main" id="{399BE83E-0BB3-4997-8CF4-BD88A3383C37}"/>
              </a:ext>
            </a:extLst>
          </p:cNvPr>
          <p:cNvSpPr>
            <a:spLocks xmlns:a="http://schemas.openxmlformats.org/drawingml/2006/main" noGrp="1"/>
          </p:cNvSpPr>
          <p:nvPr/>
        </p:nvSpPr>
        <p:spPr>
          <a:xfrm xmlns:a="http://schemas.openxmlformats.org/drawingml/2006/main">
            <a:off x="533400" y="35337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Primary action</a:t>
            </a:r>
          </a:p>
        </p:txBody>
      </p:sp>
      <p:sp>
        <p:nvSpPr>
          <p:cNvPr id="6" name="">
            <a:extLst xmlns:a="http://schemas.openxmlformats.org/drawingml/2006/main">
              <a:ext uri="{FF2B5EF4-FFF2-40B4-BE49-F238E27FC236}">
                <a16:creationId xmlns:a16="http://schemas.microsoft.com/office/drawing/2014/main" id="{7B60385F-F8EB-4707-AD33-F074D19284D1}"/>
              </a:ext>
            </a:extLst>
          </p:cNvPr>
          <p:cNvSpPr>
            <a:spLocks xmlns:a="http://schemas.openxmlformats.org/drawingml/2006/main" noGrp="1"/>
          </p:cNvSpPr>
          <p:nvPr/>
        </p:nvSpPr>
        <p:spPr>
          <a:xfrm xmlns:a="http://schemas.openxmlformats.org/drawingml/2006/main">
            <a:off x="533400" y="39052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Inspect the record or choose another existing item in the library. Do not show gated actions for a historical entry.</a:t>
            </a:r>
          </a:p>
        </p:txBody>
      </p:sp>
      <p:sp>
        <p:nvSpPr>
          <p:cNvPr id="7" name="">
            <a:extLst xmlns:a="http://schemas.openxmlformats.org/drawingml/2006/main">
              <a:ext uri="{FF2B5EF4-FFF2-40B4-BE49-F238E27FC236}">
                <a16:creationId xmlns:a16="http://schemas.microsoft.com/office/drawing/2014/main" id="{2BB2F40C-3671-4981-8842-BED4C7EADD87}"/>
              </a:ext>
            </a:extLst>
          </p:cNvPr>
          <p:cNvSpPr>
            <a:spLocks xmlns:a="http://schemas.openxmlformats.org/drawingml/2006/main" noGrp="1"/>
          </p:cNvSpPr>
          <p:nvPr/>
        </p:nvSpPr>
        <p:spPr>
          <a:xfrm xmlns:a="http://schemas.openxmlformats.org/drawingml/2006/main">
            <a:off x="533400" y="53435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Why it reduces friction</a:t>
            </a:r>
          </a:p>
        </p:txBody>
      </p:sp>
      <p:sp>
        <p:nvSpPr>
          <p:cNvPr id="8" name="">
            <a:extLst xmlns:a="http://schemas.openxmlformats.org/drawingml/2006/main">
              <a:ext uri="{FF2B5EF4-FFF2-40B4-BE49-F238E27FC236}">
                <a16:creationId xmlns:a16="http://schemas.microsoft.com/office/drawing/2014/main" id="{9A128433-6A43-4FC0-BFF0-4AC7BA50DA51}"/>
              </a:ext>
            </a:extLst>
          </p:cNvPr>
          <p:cNvSpPr>
            <a:spLocks xmlns:a="http://schemas.openxmlformats.org/drawingml/2006/main" noGrp="1"/>
          </p:cNvSpPr>
          <p:nvPr/>
        </p:nvSpPr>
        <p:spPr>
          <a:xfrm xmlns:a="http://schemas.openxmlformats.org/drawingml/2006/main">
            <a:off x="533400" y="571500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A persistent read-only heading avoids disabled-button clutter and separates current workflow readiness from historical evidence.</a:t>
            </a:r>
          </a:p>
        </p:txBody>
      </p:sp>
      <p:sp>
        <p:nvSpPr>
          <p:cNvPr id="9" name="">
            <a:extLst xmlns:a="http://schemas.openxmlformats.org/drawingml/2006/main">
              <a:ext uri="{FF2B5EF4-FFF2-40B4-BE49-F238E27FC236}">
                <a16:creationId xmlns:a16="http://schemas.microsoft.com/office/drawing/2014/main" id="{3B600115-ACC4-47D3-AEB5-8060D8245129}"/>
              </a:ext>
            </a:extLst>
          </p:cNvPr>
          <p:cNvSpPr>
            <a:spLocks xmlns:a="http://schemas.openxmlformats.org/drawingml/2006/main" noGrp="1"/>
          </p:cNvSpPr>
          <p:nvPr/>
        </p:nvSpPr>
        <p:spPr>
          <a:xfrm xmlns:a="http://schemas.openxmlformats.org/drawingml/2006/main">
            <a:off x="533400" y="71532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004FA9"/>
                </a:solidFill>
                <a:latin typeface="Liberation Sans"/>
                <a:ea typeface="Liberation Sans"/>
                <a:cs typeface="Liberation Sans"/>
              </a:defRPr>
            </a:defPPr>
          </a:lstStyle>
          <a:p xmlns:a="http://schemas.openxmlformats.org/drawingml/2006/main">
            <a:pPr>
              <a:defRPr sz="1725" b="1">
                <a:solidFill>
                  <a:srgbClr val="004FA9"/>
                </a:solidFill>
                <a:latin typeface="Liberation Sans"/>
                <a:ea typeface="Liberation Sans"/>
                <a:cs typeface="Liberation Sans"/>
              </a:defRPr>
            </a:pPr>
            <a:r>
              <a:rPr sz="1725" b="1">
                <a:solidFill>
                  <a:srgbClr val="004FA9"/>
                </a:solidFill>
                <a:latin typeface="Liberation Sans"/>
                <a:ea typeface="Liberation Sans"/>
                <a:cs typeface="Liberation Sans"/>
              </a:rPr>
              <a:t>Feedback and interaction</a:t>
            </a:r>
          </a:p>
        </p:txBody>
      </p:sp>
      <p:sp>
        <p:nvSpPr>
          <p:cNvPr id="10" name="">
            <a:extLst xmlns:a="http://schemas.openxmlformats.org/drawingml/2006/main">
              <a:ext uri="{FF2B5EF4-FFF2-40B4-BE49-F238E27FC236}">
                <a16:creationId xmlns:a16="http://schemas.microsoft.com/office/drawing/2014/main" id="{1DC733CC-2BD2-4FF9-A579-6F298D6C89F0}"/>
              </a:ext>
            </a:extLst>
          </p:cNvPr>
          <p:cNvSpPr>
            <a:spLocks xmlns:a="http://schemas.openxmlformats.org/drawingml/2006/main" noGrp="1"/>
          </p:cNvSpPr>
          <p:nvPr/>
        </p:nvSpPr>
        <p:spPr>
          <a:xfrm xmlns:a="http://schemas.openxmlformats.org/drawingml/2006/main">
            <a:off x="533400" y="7524750"/>
            <a:ext cx="38862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D1D1F"/>
                </a:solidFill>
                <a:latin typeface="Liberation Sans"/>
                <a:ea typeface="Liberation Sans"/>
                <a:cs typeface="Liberation Sans"/>
              </a:defRPr>
            </a:defPPr>
          </a:lstStyle>
          <a:p xmlns:a="http://schemas.openxmlformats.org/drawingml/2006/main">
            <a:pPr>
              <a:defRPr sz="1725" b="0">
                <a:solidFill>
                  <a:srgbClr val="1D1D1F"/>
                </a:solidFill>
                <a:latin typeface="Liberation Sans"/>
                <a:ea typeface="Liberation Sans"/>
                <a:cs typeface="Liberation Sans"/>
              </a:defRPr>
            </a:pPr>
            <a:r>
              <a:rPr sz="1725" b="0">
                <a:solidFill>
                  <a:srgbClr val="1D1D1F"/>
                </a:solidFill>
                <a:latin typeface="Liberation Sans"/>
                <a:ea typeface="Liberation Sans"/>
                <a:cs typeface="Liberation Sans"/>
              </a:rPr>
              <a:t>Preserve search, focus and disclosure behavior. Show the source’s actual historic state without converting it into a current gate.</a:t>
            </a:r>
          </a:p>
        </p:txBody>
      </p:sp>
      <p:pic>
        <p:nvPicPr>
          <p:cNvPr id="11" name="">
            <a:extLst xmlns:a="http://schemas.openxmlformats.org/drawingml/2006/main">
              <a:ext uri="{FF2B5EF4-FFF2-40B4-BE49-F238E27FC236}">
                <a16:creationId xmlns:a16="http://schemas.microsoft.com/office/drawing/2014/main" id="{E5BAFD4F-F10D-4DD5-80B2-5AD5886660BB}"/>
              </a:ext>
            </a:extLst>
          </p:cNvPr>
          <p:cNvPicPr>
            <a:picLocks xmlns:a="http://schemas.openxmlformats.org/drawingml/2006/main" noChangeAspect="1"/>
          </p:cNvPicPr>
          <p:nvPr/>
        </p:nvPicPr>
        <p:blipFill>
          <a:blip xmlns:r="http://schemas.openxmlformats.org/officeDocument/2006/relationships" xmlns:a="http://schemas.openxmlformats.org/drawingml/2006/main" r:embed="R968a76b6183d4026"/>
          <a:stretch xmlns:a="http://schemas.openxmlformats.org/drawingml/2006/main"/>
        </p:blipFill>
        <p:spPr>
          <a:xfrm xmlns:a="http://schemas.openxmlformats.org/drawingml/2006/main">
            <a:off x="4791075" y="1628775"/>
            <a:ext cx="12954000" cy="7286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0000ECD-4D0E-40C8-94AF-F0AEEE5237B5}"/>
              </a:ext>
            </a:extLst>
          </p:cNvPr>
          <p:cNvSpPr>
            <a:spLocks xmlns:a="http://schemas.openxmlformats.org/drawingml/2006/main" noGrp="1"/>
          </p:cNvSpPr>
          <p:nvPr/>
        </p:nvSpPr>
        <p:spPr>
          <a:xfrm xmlns:a="http://schemas.openxmlformats.org/drawingml/2006/main">
            <a:off x="4829175" y="1190625"/>
            <a:ext cx="1295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515158"/>
                </a:solidFill>
                <a:latin typeface="Liberation Sans"/>
                <a:ea typeface="Liberation Sans"/>
                <a:cs typeface="Liberation Sans"/>
              </a:defRPr>
            </a:defPPr>
          </a:lstStyle>
          <a:p xmlns:a="http://schemas.openxmlformats.org/drawingml/2006/main">
            <a:pPr>
              <a:defRPr sz="1350" b="1">
                <a:solidFill>
                  <a:srgbClr val="515158"/>
                </a:solidFill>
                <a:latin typeface="Liberation Sans"/>
                <a:ea typeface="Liberation Sans"/>
                <a:cs typeface="Liberation Sans"/>
              </a:defRPr>
            </a:pPr>
            <a:r>
              <a:rPr sz="1350" b="1">
                <a:solidFill>
                  <a:srgbClr val="515158"/>
                </a:solidFill>
                <a:latin typeface="Liberation Sans"/>
                <a:ea typeface="Liberation Sans"/>
                <a:cs typeface="Liberation Sans"/>
              </a:rPr>
              <a:t>SCREEN CONCEPT    1 Context    2 Content    3 Action    4 Navigation</a:t>
            </a:r>
          </a:p>
        </p:txBody>
      </p:sp>
      <p:sp>
        <p:nvSpPr>
          <p:cNvPr id="13" name="">
            <a:extLst xmlns:a="http://schemas.openxmlformats.org/drawingml/2006/main">
              <a:ext uri="{FF2B5EF4-FFF2-40B4-BE49-F238E27FC236}">
                <a16:creationId xmlns:a16="http://schemas.microsoft.com/office/drawing/2014/main" id="{0FF38F68-4F89-4F60-904B-E1801783AAB1}"/>
              </a:ext>
            </a:extLst>
          </p:cNvPr>
          <p:cNvSpPr>
            <a:spLocks xmlns:a="http://schemas.openxmlformats.org/drawingml/2006/main" noGrp="1"/>
          </p:cNvSpPr>
          <p:nvPr/>
        </p:nvSpPr>
        <p:spPr>
          <a:xfrm xmlns:a="http://schemas.openxmlformats.org/drawingml/2006/main">
            <a:off x="4829175" y="9144000"/>
            <a:ext cx="1276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15158"/>
                </a:solidFill>
                <a:latin typeface="Liberation Sans"/>
                <a:ea typeface="Liberation Sans"/>
                <a:cs typeface="Liberation Sans"/>
              </a:defRPr>
            </a:defPPr>
          </a:lstStyle>
          <a:p xmlns:a="http://schemas.openxmlformats.org/drawingml/2006/main">
            <a:pPr>
              <a:defRPr sz="1725" b="0">
                <a:solidFill>
                  <a:srgbClr val="515158"/>
                </a:solidFill>
                <a:latin typeface="Liberation Sans"/>
                <a:ea typeface="Liberation Sans"/>
                <a:cs typeface="Liberation Sans"/>
              </a:defRPr>
            </a:pPr>
            <a:r>
              <a:rPr sz="1725" b="0">
                <a:solidFill>
                  <a:srgbClr val="515158"/>
                </a:solidFill>
                <a:latin typeface="Liberation Sans"/>
                <a:ea typeface="Liberation Sans"/>
                <a:cs typeface="Liberation Sans"/>
              </a:rPr>
              <a:t>No browser migration, adoption, editing or reopen action. Legacy active records retain their own rules and are distinct from archived history.</a:t>
            </a:r>
          </a:p>
        </p:txBody>
      </p:sp>
      <p:sp>
        <p:nvSpPr>
          <p:cNvPr id="14" name="">
            <a:extLst xmlns:a="http://schemas.openxmlformats.org/drawingml/2006/main">
              <a:ext uri="{FF2B5EF4-FFF2-40B4-BE49-F238E27FC236}">
                <a16:creationId xmlns:a16="http://schemas.microsoft.com/office/drawing/2014/main" id="{08BF767F-E7AF-4036-84C1-FC3DCC1E0B32}"/>
              </a:ext>
            </a:extLst>
          </p:cNvPr>
          <p:cNvSpPr>
            <a:spLocks xmlns:a="http://schemas.openxmlformats.org/drawingml/2006/main" noGrp="1"/>
          </p:cNvSpPr>
          <p:nvPr/>
        </p:nvSpPr>
        <p:spPr>
          <a:xfrm xmlns:a="http://schemas.openxmlformats.org/drawingml/2006/main">
            <a:off x="533400" y="98869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Quiet Workspace · frontend proposal · illustrative states</a:t>
            </a:r>
          </a:p>
        </p:txBody>
      </p:sp>
      <p:sp>
        <p:nvSpPr>
          <p:cNvPr id="15" name="">
            <a:extLst xmlns:a="http://schemas.openxmlformats.org/drawingml/2006/main">
              <a:ext uri="{FF2B5EF4-FFF2-40B4-BE49-F238E27FC236}">
                <a16:creationId xmlns:a16="http://schemas.microsoft.com/office/drawing/2014/main" id="{D76F9C37-A4B5-4F34-ACC2-6DFEABE0916F}"/>
              </a:ext>
            </a:extLst>
          </p:cNvPr>
          <p:cNvSpPr>
            <a:spLocks xmlns:a="http://schemas.openxmlformats.org/drawingml/2006/main" noGrp="1"/>
          </p:cNvSpPr>
          <p:nvPr/>
        </p:nvSpPr>
        <p:spPr>
          <a:xfrm xmlns:a="http://schemas.openxmlformats.org/drawingml/2006/main">
            <a:off x="17145000" y="9886950"/>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15158"/>
                </a:solidFill>
                <a:latin typeface="Liberation Sans"/>
                <a:ea typeface="Liberation Sans"/>
                <a:cs typeface="Liberation Sans"/>
              </a:defRPr>
            </a:defPPr>
          </a:lstStyle>
          <a:p xmlns:a="http://schemas.openxmlformats.org/drawingml/2006/main">
            <a:pPr>
              <a:defRPr sz="1200" b="0">
                <a:solidFill>
                  <a:srgbClr val="515158"/>
                </a:solidFill>
                <a:latin typeface="Liberation Sans"/>
                <a:ea typeface="Liberation Sans"/>
                <a:cs typeface="Liberation Sans"/>
              </a:defRPr>
            </a:pPr>
            <a:r>
              <a:rPr sz="1200" b="0">
                <a:solidFill>
                  <a:srgbClr val="515158"/>
                </a:solidFill>
                <a:latin typeface="Liberation Sans"/>
                <a:ea typeface="Liberation Sans"/>
                <a:cs typeface="Liberation Sans"/>
              </a:rPr>
              <a:t>23 / 23</a:t>
            </a:r>
          </a:p>
        </p:txBody>
      </p:sp>
    </p:spTree>
    <p:extLst>
      <p:ext uri="{BB962C8B-B14F-4D97-AF65-F5344CB8AC3E}">
        <p14:creationId xmlns:p14="http://schemas.microsoft.com/office/powerpoint/2010/main" val="1723175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2026-10-11T17:40:18.0040000Z</dcterms:created>
  <dcterms:modified xsi:type="dcterms:W3CDTF">2026-10-11T17:40:18.0040000Z</dcterms:modified>
</coreProperties>
</file>